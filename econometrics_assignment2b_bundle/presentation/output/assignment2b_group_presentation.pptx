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333399"/>
          </a:solidFill>
          <a:ln w="12700">
            <a:solidFill>
              <a:srgbClr val="333399"/>
            </a:solidFill>
            <a:prstDash val="solid"/>
          </a:ln>
        </p:spPr>
      </p:sp>
      <p:sp>
        <p:nvSpPr>
          <p:cNvPr id="3" name="Shape 1"/>
          <p:cNvSpPr/>
          <p:nvPr/>
        </p:nvSpPr>
        <p:spPr>
          <a:xfrm>
            <a:off x="0" y="658368"/>
            <a:ext cx="9144000" cy="109728"/>
          </a:xfrm>
          <a:prstGeom prst="rect">
            <a:avLst/>
          </a:prstGeom>
          <a:solidFill>
            <a:srgbClr val="BBE0E3"/>
          </a:solidFill>
          <a:ln w="12700">
            <a:solidFill>
              <a:srgbClr val="BBE0E3"/>
            </a:solidFill>
            <a:prstDash val="solid"/>
          </a:ln>
        </p:spPr>
      </p:sp>
      <p:sp>
        <p:nvSpPr>
          <p:cNvPr id="4" name="Shape 2"/>
          <p:cNvSpPr/>
          <p:nvPr/>
        </p:nvSpPr>
        <p:spPr>
          <a:xfrm>
            <a:off x="5989320" y="1143000"/>
            <a:ext cx="2331720" cy="3931920"/>
          </a:xfrm>
          <a:prstGeom prst="roundRect">
            <a:avLst/>
          </a:prstGeom>
          <a:solidFill>
            <a:srgbClr val="DAEDEF"/>
          </a:solidFill>
          <a:ln w="12700">
            <a:solidFill>
              <a:srgbClr val="DAEDEF"/>
            </a:solidFill>
            <a:prstDash val="solid"/>
          </a:ln>
        </p:spPr>
      </p:sp>
      <p:sp>
        <p:nvSpPr>
          <p:cNvPr id="5" name="Text 3"/>
          <p:cNvSpPr/>
          <p:nvPr/>
        </p:nvSpPr>
        <p:spPr>
          <a:xfrm>
            <a:off x="502920" y="1097280"/>
            <a:ext cx="4937760" cy="320040"/>
          </a:xfrm>
          <a:prstGeom prst="rect">
            <a:avLst/>
          </a:prstGeom>
          <a:noFill/>
          <a:ln/>
        </p:spPr>
        <p:txBody>
          <a:bodyPr wrap="square" lIns="0" tIns="0" rIns="0" bIns="0" rtlCol="0" anchor="ctr"/>
          <a:lstStyle/>
          <a:p>
            <a:pPr indent="0" marL="0">
              <a:buNone/>
            </a:pPr>
            <a:r>
              <a:rPr lang="en-US" sz="1800" b="1" dirty="0">
                <a:solidFill>
                  <a:srgbClr val="333399"/>
                </a:solidFill>
                <a:latin typeface="Verdana" pitchFamily="34" charset="0"/>
                <a:ea typeface="Verdana" pitchFamily="34" charset="-122"/>
                <a:cs typeface="Verdana" pitchFamily="34" charset="-120"/>
              </a:rPr>
              <a:t>ECO214 Group Presentation</a:t>
            </a:r>
            <a:endParaRPr lang="en-US" sz="1800" dirty="0"/>
          </a:p>
        </p:txBody>
      </p:sp>
      <p:sp>
        <p:nvSpPr>
          <p:cNvPr id="6" name="Text 4"/>
          <p:cNvSpPr/>
          <p:nvPr/>
        </p:nvSpPr>
        <p:spPr>
          <a:xfrm>
            <a:off x="502920" y="1783080"/>
            <a:ext cx="3840480" cy="411480"/>
          </a:xfrm>
          <a:prstGeom prst="rect">
            <a:avLst/>
          </a:prstGeom>
          <a:noFill/>
          <a:ln/>
        </p:spPr>
        <p:txBody>
          <a:bodyPr wrap="square" lIns="0" tIns="0" rIns="0" bIns="0" rtlCol="0" anchor="ctr"/>
          <a:lstStyle/>
          <a:p>
            <a:pPr indent="0" marL="0">
              <a:buNone/>
            </a:pPr>
            <a:r>
              <a:rPr lang="en-US" sz="2400" b="1" dirty="0">
                <a:solidFill>
                  <a:srgbClr val="20242C"/>
                </a:solidFill>
                <a:latin typeface="Verdana" pitchFamily="34" charset="0"/>
                <a:ea typeface="Verdana" pitchFamily="34" charset="-122"/>
                <a:cs typeface="Verdana" pitchFamily="34" charset="-120"/>
              </a:rPr>
              <a:t>Assignment 2B:</a:t>
            </a:r>
            <a:endParaRPr lang="en-US" sz="2400" dirty="0"/>
          </a:p>
        </p:txBody>
      </p:sp>
      <p:sp>
        <p:nvSpPr>
          <p:cNvPr id="7" name="Text 5"/>
          <p:cNvSpPr/>
          <p:nvPr/>
        </p:nvSpPr>
        <p:spPr>
          <a:xfrm>
            <a:off x="502920" y="2212848"/>
            <a:ext cx="5166360" cy="548640"/>
          </a:xfrm>
          <a:prstGeom prst="rect">
            <a:avLst/>
          </a:prstGeom>
          <a:noFill/>
          <a:ln/>
        </p:spPr>
        <p:txBody>
          <a:bodyPr wrap="square" lIns="0" tIns="0" rIns="0" bIns="0" rtlCol="0" anchor="ctr"/>
          <a:lstStyle/>
          <a:p>
            <a:pPr indent="0" marL="0">
              <a:buNone/>
            </a:pPr>
            <a:r>
              <a:rPr lang="en-US" sz="2700" b="1" dirty="0">
                <a:solidFill>
                  <a:srgbClr val="2D2D8A"/>
                </a:solidFill>
                <a:latin typeface="Verdana" pitchFamily="34" charset="0"/>
                <a:ea typeface="Verdana" pitchFamily="34" charset="-122"/>
                <a:cs typeface="Verdana" pitchFamily="34" charset="-120"/>
              </a:rPr>
              <a:t>ADL Model and Information Criteria</a:t>
            </a:r>
            <a:endParaRPr lang="en-US" sz="2700" dirty="0"/>
          </a:p>
        </p:txBody>
      </p:sp>
      <p:sp>
        <p:nvSpPr>
          <p:cNvPr id="8" name="Text 6"/>
          <p:cNvSpPr/>
          <p:nvPr/>
        </p:nvSpPr>
        <p:spPr>
          <a:xfrm>
            <a:off x="502920" y="2926080"/>
            <a:ext cx="5120640" cy="411480"/>
          </a:xfrm>
          <a:prstGeom prst="rect">
            <a:avLst/>
          </a:prstGeom>
          <a:noFill/>
          <a:ln/>
        </p:spPr>
        <p:txBody>
          <a:bodyPr wrap="square" lIns="0" tIns="0" rIns="0" bIns="0" rtlCol="0" anchor="ctr"/>
          <a:lstStyle/>
          <a:p>
            <a:pPr indent="0" marL="0">
              <a:buNone/>
            </a:pPr>
            <a:r>
              <a:rPr lang="en-US" sz="1320" dirty="0">
                <a:solidFill>
                  <a:srgbClr val="5B6571"/>
                </a:solidFill>
                <a:latin typeface="Verdana" pitchFamily="34" charset="0"/>
                <a:ea typeface="Verdana" pitchFamily="34" charset="-122"/>
                <a:cs typeface="Verdana" pitchFamily="34" charset="-120"/>
              </a:rPr>
              <a:t>Inflation forecasting with U.S. quarterly data, 1970Q1-2019Q4</a:t>
            </a:r>
            <a:endParaRPr lang="en-US" sz="1320" dirty="0"/>
          </a:p>
        </p:txBody>
      </p:sp>
      <p:sp>
        <p:nvSpPr>
          <p:cNvPr id="9" name="Shape 7"/>
          <p:cNvSpPr/>
          <p:nvPr/>
        </p:nvSpPr>
        <p:spPr>
          <a:xfrm>
            <a:off x="6355080" y="1554480"/>
            <a:ext cx="1600200" cy="713232"/>
          </a:xfrm>
          <a:prstGeom prst="roundRect">
            <a:avLst/>
          </a:prstGeom>
          <a:solidFill>
            <a:srgbClr val="FFFFFF"/>
          </a:solidFill>
          <a:ln w="12700">
            <a:solidFill>
              <a:srgbClr val="BFC7D3"/>
            </a:solidFill>
            <a:prstDash val="solid"/>
          </a:ln>
        </p:spPr>
      </p:sp>
      <p:sp>
        <p:nvSpPr>
          <p:cNvPr id="10" name="Text 8"/>
          <p:cNvSpPr/>
          <p:nvPr/>
        </p:nvSpPr>
        <p:spPr>
          <a:xfrm>
            <a:off x="6483096" y="1645920"/>
            <a:ext cx="1344168" cy="219456"/>
          </a:xfrm>
          <a:prstGeom prst="rect">
            <a:avLst/>
          </a:prstGeom>
          <a:noFill/>
          <a:ln/>
        </p:spPr>
        <p:txBody>
          <a:bodyPr wrap="square" lIns="0" tIns="0" rIns="0" bIns="0" rtlCol="0" anchor="ctr"/>
          <a:lstStyle/>
          <a:p>
            <a:pPr indent="0" marL="0">
              <a:buNone/>
            </a:pPr>
            <a:r>
              <a:rPr lang="en-US" sz="1600" b="1" dirty="0">
                <a:solidFill>
                  <a:srgbClr val="333399"/>
                </a:solidFill>
                <a:latin typeface="Verdana" pitchFamily="34" charset="0"/>
                <a:ea typeface="Verdana" pitchFamily="34" charset="-122"/>
                <a:cs typeface="Verdana" pitchFamily="34" charset="-120"/>
              </a:rPr>
              <a:t>Theory</a:t>
            </a:r>
            <a:endParaRPr lang="en-US" sz="1600" dirty="0"/>
          </a:p>
        </p:txBody>
      </p:sp>
      <p:sp>
        <p:nvSpPr>
          <p:cNvPr id="11" name="Text 9"/>
          <p:cNvSpPr/>
          <p:nvPr/>
        </p:nvSpPr>
        <p:spPr>
          <a:xfrm>
            <a:off x="6483096" y="1901952"/>
            <a:ext cx="1344168" cy="274320"/>
          </a:xfrm>
          <a:prstGeom prst="rect">
            <a:avLst/>
          </a:prstGeom>
          <a:noFill/>
          <a:ln/>
        </p:spPr>
        <p:txBody>
          <a:bodyPr wrap="square" lIns="0" tIns="0" rIns="0" bIns="0" rtlCol="0" anchor="t"/>
          <a:lstStyle/>
          <a:p>
            <a:pPr indent="0" marL="0">
              <a:buNone/>
            </a:pPr>
            <a:r>
              <a:rPr lang="en-US" sz="1050" dirty="0">
                <a:solidFill>
                  <a:srgbClr val="20242C"/>
                </a:solidFill>
                <a:latin typeface="Verdana" pitchFamily="34" charset="0"/>
                <a:ea typeface="Verdana" pitchFamily="34" charset="-122"/>
                <a:cs typeface="Verdana" pitchFamily="34" charset="-120"/>
              </a:rPr>
              <a:t>ADL model</a:t>
            </a:r>
            <a:endParaRPr lang="en-US" sz="1050" dirty="0"/>
          </a:p>
          <a:p>
            <a:pPr indent="0" marL="0">
              <a:buNone/>
            </a:pPr>
            <a:r>
              <a:rPr lang="en-US" sz="1050" dirty="0">
                <a:solidFill>
                  <a:srgbClr val="20242C"/>
                </a:solidFill>
                <a:latin typeface="Verdana" pitchFamily="34" charset="0"/>
                <a:ea typeface="Verdana" pitchFamily="34" charset="-122"/>
                <a:cs typeface="Verdana" pitchFamily="34" charset="-120"/>
              </a:rPr>
              <a:t>AIC vs BIC</a:t>
            </a:r>
            <a:endParaRPr lang="en-US" sz="1050" dirty="0"/>
          </a:p>
          <a:p>
            <a:pPr indent="0" marL="0">
              <a:buNone/>
            </a:pPr>
            <a:r>
              <a:rPr lang="en-US" sz="1050" dirty="0">
                <a:solidFill>
                  <a:srgbClr val="20242C"/>
                </a:solidFill>
                <a:latin typeface="Verdana" pitchFamily="34" charset="0"/>
                <a:ea typeface="Verdana" pitchFamily="34" charset="-122"/>
                <a:cs typeface="Verdana" pitchFamily="34" charset="-120"/>
              </a:rPr>
              <a:t>Granger test</a:t>
            </a:r>
            <a:endParaRPr lang="en-US" sz="1050" dirty="0"/>
          </a:p>
        </p:txBody>
      </p:sp>
      <p:sp>
        <p:nvSpPr>
          <p:cNvPr id="12" name="Shape 10"/>
          <p:cNvSpPr/>
          <p:nvPr/>
        </p:nvSpPr>
        <p:spPr>
          <a:xfrm>
            <a:off x="6355080" y="2487168"/>
            <a:ext cx="1600200" cy="713232"/>
          </a:xfrm>
          <a:prstGeom prst="roundRect">
            <a:avLst/>
          </a:prstGeom>
          <a:solidFill>
            <a:srgbClr val="FFFFFF"/>
          </a:solidFill>
          <a:ln w="12700">
            <a:solidFill>
              <a:srgbClr val="BFC7D3"/>
            </a:solidFill>
            <a:prstDash val="solid"/>
          </a:ln>
        </p:spPr>
      </p:sp>
      <p:sp>
        <p:nvSpPr>
          <p:cNvPr id="13" name="Text 11"/>
          <p:cNvSpPr/>
          <p:nvPr/>
        </p:nvSpPr>
        <p:spPr>
          <a:xfrm>
            <a:off x="6483096" y="2578608"/>
            <a:ext cx="1344168" cy="219456"/>
          </a:xfrm>
          <a:prstGeom prst="rect">
            <a:avLst/>
          </a:prstGeom>
          <a:noFill/>
          <a:ln/>
        </p:spPr>
        <p:txBody>
          <a:bodyPr wrap="square" lIns="0" tIns="0" rIns="0" bIns="0" rtlCol="0" anchor="ctr"/>
          <a:lstStyle/>
          <a:p>
            <a:pPr indent="0" marL="0">
              <a:buNone/>
            </a:pPr>
            <a:r>
              <a:rPr lang="en-US" sz="1600" b="1" dirty="0">
                <a:solidFill>
                  <a:srgbClr val="333399"/>
                </a:solidFill>
                <a:latin typeface="Verdana" pitchFamily="34" charset="0"/>
                <a:ea typeface="Verdana" pitchFamily="34" charset="-122"/>
                <a:cs typeface="Verdana" pitchFamily="34" charset="-120"/>
              </a:rPr>
              <a:t>Data</a:t>
            </a:r>
            <a:endParaRPr lang="en-US" sz="1600" dirty="0"/>
          </a:p>
        </p:txBody>
      </p:sp>
      <p:sp>
        <p:nvSpPr>
          <p:cNvPr id="14" name="Text 12"/>
          <p:cNvSpPr/>
          <p:nvPr/>
        </p:nvSpPr>
        <p:spPr>
          <a:xfrm>
            <a:off x="6483096" y="2834640"/>
            <a:ext cx="1344168" cy="274320"/>
          </a:xfrm>
          <a:prstGeom prst="rect">
            <a:avLst/>
          </a:prstGeom>
          <a:noFill/>
          <a:ln/>
        </p:spPr>
        <p:txBody>
          <a:bodyPr wrap="square" lIns="0" tIns="0" rIns="0" bIns="0" rtlCol="0" anchor="t"/>
          <a:lstStyle/>
          <a:p>
            <a:pPr indent="0" marL="0">
              <a:buNone/>
            </a:pPr>
            <a:r>
              <a:rPr lang="en-US" sz="1050" dirty="0">
                <a:solidFill>
                  <a:srgbClr val="20242C"/>
                </a:solidFill>
                <a:latin typeface="Verdana" pitchFamily="34" charset="0"/>
                <a:ea typeface="Verdana" pitchFamily="34" charset="-122"/>
                <a:cs typeface="Verdana" pitchFamily="34" charset="-120"/>
              </a:rPr>
              <a:t>CPIAUCSL</a:t>
            </a:r>
            <a:endParaRPr lang="en-US" sz="1050" dirty="0"/>
          </a:p>
          <a:p>
            <a:pPr indent="0" marL="0">
              <a:buNone/>
            </a:pPr>
            <a:r>
              <a:rPr lang="en-US" sz="1050" dirty="0">
                <a:solidFill>
                  <a:srgbClr val="20242C"/>
                </a:solidFill>
                <a:latin typeface="Verdana" pitchFamily="34" charset="0"/>
                <a:ea typeface="Verdana" pitchFamily="34" charset="-122"/>
                <a:cs typeface="Verdana" pitchFamily="34" charset="-120"/>
              </a:rPr>
              <a:t>UNRATE</a:t>
            </a:r>
            <a:endParaRPr lang="en-US" sz="1050" dirty="0"/>
          </a:p>
          <a:p>
            <a:pPr indent="0" marL="0">
              <a:buNone/>
            </a:pPr>
            <a:r>
              <a:rPr lang="en-US" sz="1050" dirty="0">
                <a:solidFill>
                  <a:srgbClr val="20242C"/>
                </a:solidFill>
                <a:latin typeface="Verdana" pitchFamily="34" charset="0"/>
                <a:ea typeface="Verdana" pitchFamily="34" charset="-122"/>
                <a:cs typeface="Verdana" pitchFamily="34" charset="-120"/>
              </a:rPr>
              <a:t>1970Q1-2019Q4</a:t>
            </a:r>
            <a:endParaRPr lang="en-US" sz="1050" dirty="0"/>
          </a:p>
        </p:txBody>
      </p:sp>
      <p:sp>
        <p:nvSpPr>
          <p:cNvPr id="15" name="Shape 13"/>
          <p:cNvSpPr/>
          <p:nvPr/>
        </p:nvSpPr>
        <p:spPr>
          <a:xfrm>
            <a:off x="6355080" y="3419856"/>
            <a:ext cx="1600200" cy="713232"/>
          </a:xfrm>
          <a:prstGeom prst="roundRect">
            <a:avLst/>
          </a:prstGeom>
          <a:solidFill>
            <a:srgbClr val="FFFFFF"/>
          </a:solidFill>
          <a:ln w="12700">
            <a:solidFill>
              <a:srgbClr val="BFC7D3"/>
            </a:solidFill>
            <a:prstDash val="solid"/>
          </a:ln>
        </p:spPr>
      </p:sp>
      <p:sp>
        <p:nvSpPr>
          <p:cNvPr id="16" name="Text 14"/>
          <p:cNvSpPr/>
          <p:nvPr/>
        </p:nvSpPr>
        <p:spPr>
          <a:xfrm>
            <a:off x="6483096" y="3511296"/>
            <a:ext cx="1344168" cy="219456"/>
          </a:xfrm>
          <a:prstGeom prst="rect">
            <a:avLst/>
          </a:prstGeom>
          <a:noFill/>
          <a:ln/>
        </p:spPr>
        <p:txBody>
          <a:bodyPr wrap="square" lIns="0" tIns="0" rIns="0" bIns="0" rtlCol="0" anchor="ctr"/>
          <a:lstStyle/>
          <a:p>
            <a:pPr indent="0" marL="0">
              <a:buNone/>
            </a:pPr>
            <a:r>
              <a:rPr lang="en-US" sz="1600" b="1" dirty="0">
                <a:solidFill>
                  <a:srgbClr val="333399"/>
                </a:solidFill>
                <a:latin typeface="Verdana" pitchFamily="34" charset="0"/>
                <a:ea typeface="Verdana" pitchFamily="34" charset="-122"/>
                <a:cs typeface="Verdana" pitchFamily="34" charset="-120"/>
              </a:rPr>
              <a:t>Evidence</a:t>
            </a:r>
            <a:endParaRPr lang="en-US" sz="1600" dirty="0"/>
          </a:p>
        </p:txBody>
      </p:sp>
      <p:sp>
        <p:nvSpPr>
          <p:cNvPr id="17" name="Text 15"/>
          <p:cNvSpPr/>
          <p:nvPr/>
        </p:nvSpPr>
        <p:spPr>
          <a:xfrm>
            <a:off x="6483096" y="3767328"/>
            <a:ext cx="1344168" cy="274320"/>
          </a:xfrm>
          <a:prstGeom prst="rect">
            <a:avLst/>
          </a:prstGeom>
          <a:noFill/>
          <a:ln/>
        </p:spPr>
        <p:txBody>
          <a:bodyPr wrap="square" lIns="0" tIns="0" rIns="0" bIns="0" rtlCol="0" anchor="t"/>
          <a:lstStyle/>
          <a:p>
            <a:pPr indent="0" marL="0">
              <a:buNone/>
            </a:pPr>
            <a:r>
              <a:rPr lang="en-US" sz="1050" dirty="0">
                <a:solidFill>
                  <a:srgbClr val="20242C"/>
                </a:solidFill>
                <a:latin typeface="Verdana" pitchFamily="34" charset="0"/>
                <a:ea typeface="Verdana" pitchFamily="34" charset="-122"/>
                <a:cs typeface="Verdana" pitchFamily="34" charset="-120"/>
              </a:rPr>
              <a:t>AR(3)</a:t>
            </a:r>
            <a:endParaRPr lang="en-US" sz="1050" dirty="0"/>
          </a:p>
          <a:p>
            <a:pPr indent="0" marL="0">
              <a:buNone/>
            </a:pPr>
            <a:r>
              <a:rPr lang="en-US" sz="1050" dirty="0">
                <a:solidFill>
                  <a:srgbClr val="20242C"/>
                </a:solidFill>
                <a:latin typeface="Verdana" pitchFamily="34" charset="0"/>
                <a:ea typeface="Verdana" pitchFamily="34" charset="-122"/>
                <a:cs typeface="Verdana" pitchFamily="34" charset="-120"/>
              </a:rPr>
              <a:t>ADL(3,1)</a:t>
            </a:r>
            <a:endParaRPr lang="en-US" sz="1050" dirty="0"/>
          </a:p>
          <a:p>
            <a:pPr indent="0" marL="0">
              <a:buNone/>
            </a:pPr>
            <a:r>
              <a:rPr lang="en-US" sz="1050" dirty="0">
                <a:solidFill>
                  <a:srgbClr val="20242C"/>
                </a:solidFill>
                <a:latin typeface="Verdana" pitchFamily="34" charset="0"/>
                <a:ea typeface="Verdana" pitchFamily="34" charset="-122"/>
                <a:cs typeface="Verdana" pitchFamily="34" charset="-120"/>
              </a:rPr>
              <a:t>ADL(3,3)</a:t>
            </a:r>
            <a:endParaRPr lang="en-US" sz="1050" dirty="0"/>
          </a:p>
        </p:txBody>
      </p:sp>
      <p:sp>
        <p:nvSpPr>
          <p:cNvPr id="18" name="Text 16"/>
          <p:cNvSpPr/>
          <p:nvPr/>
        </p:nvSpPr>
        <p:spPr>
          <a:xfrm>
            <a:off x="502920" y="5440680"/>
            <a:ext cx="5029200" cy="219456"/>
          </a:xfrm>
          <a:prstGeom prst="rect">
            <a:avLst/>
          </a:prstGeom>
          <a:noFill/>
          <a:ln/>
        </p:spPr>
        <p:txBody>
          <a:bodyPr wrap="square" lIns="0" tIns="0" rIns="0" bIns="0" rtlCol="0" anchor="ctr"/>
          <a:lstStyle/>
          <a:p>
            <a:pPr indent="0" marL="0">
              <a:buNone/>
            </a:pPr>
            <a:r>
              <a:rPr lang="en-US" sz="1120" dirty="0">
                <a:solidFill>
                  <a:srgbClr val="20242C"/>
                </a:solidFill>
                <a:latin typeface="Verdana" pitchFamily="34" charset="0"/>
                <a:ea typeface="Verdana" pitchFamily="34" charset="-122"/>
                <a:cs typeface="Verdana" pitchFamily="34" charset="-120"/>
              </a:rPr>
              <a:t>Group members: [Name 1], [Name 2], [Name 3], [Name 4]</a:t>
            </a:r>
            <a:endParaRPr lang="en-US" sz="1120" dirty="0"/>
          </a:p>
        </p:txBody>
      </p:sp>
      <p:sp>
        <p:nvSpPr>
          <p:cNvPr id="19" name="Text 17"/>
          <p:cNvSpPr/>
          <p:nvPr/>
        </p:nvSpPr>
        <p:spPr>
          <a:xfrm>
            <a:off x="502920" y="5715000"/>
            <a:ext cx="2926080" cy="182880"/>
          </a:xfrm>
          <a:prstGeom prst="rect">
            <a:avLst/>
          </a:prstGeom>
          <a:noFill/>
          <a:ln/>
        </p:spPr>
        <p:txBody>
          <a:bodyPr wrap="square" lIns="0" tIns="0" rIns="0" bIns="0" rtlCol="0" anchor="ctr"/>
          <a:lstStyle/>
          <a:p>
            <a:pPr indent="0" marL="0">
              <a:buNone/>
            </a:pPr>
            <a:r>
              <a:rPr lang="en-US" sz="1080" dirty="0">
                <a:solidFill>
                  <a:srgbClr val="5B6571"/>
                </a:solidFill>
                <a:latin typeface="Verdana" pitchFamily="34" charset="0"/>
                <a:ea typeface="Verdana" pitchFamily="34" charset="-122"/>
                <a:cs typeface="Verdana" pitchFamily="34" charset="-120"/>
              </a:rPr>
              <a:t>Date: [Add your presentation date]</a:t>
            </a:r>
            <a:endParaRPr lang="en-US" sz="1080" dirty="0"/>
          </a:p>
        </p:txBody>
      </p:sp>
      <p:sp>
        <p:nvSpPr>
          <p:cNvPr id="20" name="Shape 18"/>
          <p:cNvSpPr/>
          <p:nvPr/>
        </p:nvSpPr>
        <p:spPr>
          <a:xfrm>
            <a:off x="411480" y="6455664"/>
            <a:ext cx="8321040" cy="0"/>
          </a:xfrm>
          <a:prstGeom prst="line">
            <a:avLst/>
          </a:prstGeom>
          <a:noFill/>
          <a:ln w="12700">
            <a:solidFill>
              <a:srgbClr val="BFC7D3"/>
            </a:solidFill>
            <a:prstDash val="solid"/>
          </a:ln>
        </p:spPr>
      </p:sp>
      <p:sp>
        <p:nvSpPr>
          <p:cNvPr id="21" name="Text 19"/>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22" name="Text 20"/>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Presentation Content</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Roadmap</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02</a:t>
            </a:r>
            <a:endParaRPr lang="en-US" sz="900" dirty="0"/>
          </a:p>
        </p:txBody>
      </p:sp>
      <p:sp>
        <p:nvSpPr>
          <p:cNvPr id="9" name="Shape 7"/>
          <p:cNvSpPr/>
          <p:nvPr/>
        </p:nvSpPr>
        <p:spPr>
          <a:xfrm>
            <a:off x="594360" y="914400"/>
            <a:ext cx="3657600" cy="914400"/>
          </a:xfrm>
          <a:prstGeom prst="roundRect">
            <a:avLst/>
          </a:prstGeom>
          <a:solidFill>
            <a:srgbClr val="FFFFFF"/>
          </a:solidFill>
          <a:ln w="12700">
            <a:solidFill>
              <a:srgbClr val="BFC7D3"/>
            </a:solidFill>
            <a:prstDash val="solid"/>
          </a:ln>
        </p:spPr>
      </p:sp>
      <p:sp>
        <p:nvSpPr>
          <p:cNvPr id="10" name="Text 8"/>
          <p:cNvSpPr/>
          <p:nvPr/>
        </p:nvSpPr>
        <p:spPr>
          <a:xfrm>
            <a:off x="722376" y="1005840"/>
            <a:ext cx="34015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1.1 Research question and data</a:t>
            </a:r>
            <a:endParaRPr lang="en-US" sz="1250" dirty="0"/>
          </a:p>
        </p:txBody>
      </p:sp>
      <p:sp>
        <p:nvSpPr>
          <p:cNvPr id="11" name="Text 9"/>
          <p:cNvSpPr/>
          <p:nvPr/>
        </p:nvSpPr>
        <p:spPr>
          <a:xfrm>
            <a:off x="722376" y="1261872"/>
            <a:ext cx="3401568" cy="47548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What are we forecasting, over which sample, and how is inflation constructed?</a:t>
            </a:r>
            <a:endParaRPr lang="en-US" sz="1100" dirty="0"/>
          </a:p>
        </p:txBody>
      </p:sp>
      <p:sp>
        <p:nvSpPr>
          <p:cNvPr id="12" name="Shape 10"/>
          <p:cNvSpPr/>
          <p:nvPr/>
        </p:nvSpPr>
        <p:spPr>
          <a:xfrm>
            <a:off x="4572000" y="914400"/>
            <a:ext cx="3657600" cy="914400"/>
          </a:xfrm>
          <a:prstGeom prst="roundRect">
            <a:avLst/>
          </a:prstGeom>
          <a:solidFill>
            <a:srgbClr val="FFFFFF"/>
          </a:solidFill>
          <a:ln w="12700">
            <a:solidFill>
              <a:srgbClr val="BFC7D3"/>
            </a:solidFill>
            <a:prstDash val="solid"/>
          </a:ln>
        </p:spPr>
      </p:sp>
      <p:sp>
        <p:nvSpPr>
          <p:cNvPr id="13" name="Text 11"/>
          <p:cNvSpPr/>
          <p:nvPr/>
        </p:nvSpPr>
        <p:spPr>
          <a:xfrm>
            <a:off x="4700016" y="1005840"/>
            <a:ext cx="34015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1.2 ADL, AIC/BIC, and Granger causality</a:t>
            </a:r>
            <a:endParaRPr lang="en-US" sz="1250" dirty="0"/>
          </a:p>
        </p:txBody>
      </p:sp>
      <p:sp>
        <p:nvSpPr>
          <p:cNvPr id="14" name="Text 12"/>
          <p:cNvSpPr/>
          <p:nvPr/>
        </p:nvSpPr>
        <p:spPr>
          <a:xfrm>
            <a:off x="4700016" y="1261872"/>
            <a:ext cx="3401568" cy="47548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Why lag selection matters and what the tests mean economically.</a:t>
            </a:r>
            <a:endParaRPr lang="en-US" sz="1100" dirty="0"/>
          </a:p>
        </p:txBody>
      </p:sp>
      <p:sp>
        <p:nvSpPr>
          <p:cNvPr id="15" name="Shape 13"/>
          <p:cNvSpPr/>
          <p:nvPr/>
        </p:nvSpPr>
        <p:spPr>
          <a:xfrm>
            <a:off x="594360" y="2057400"/>
            <a:ext cx="3657600" cy="914400"/>
          </a:xfrm>
          <a:prstGeom prst="roundRect">
            <a:avLst/>
          </a:prstGeom>
          <a:solidFill>
            <a:srgbClr val="FFFFFF"/>
          </a:solidFill>
          <a:ln w="12700">
            <a:solidFill>
              <a:srgbClr val="BFC7D3"/>
            </a:solidFill>
            <a:prstDash val="solid"/>
          </a:ln>
        </p:spPr>
      </p:sp>
      <p:sp>
        <p:nvSpPr>
          <p:cNvPr id="16" name="Text 14"/>
          <p:cNvSpPr/>
          <p:nvPr/>
        </p:nvSpPr>
        <p:spPr>
          <a:xfrm>
            <a:off x="722376" y="2148840"/>
            <a:ext cx="34015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2.1 Stata implementation</a:t>
            </a:r>
            <a:endParaRPr lang="en-US" sz="1250" dirty="0"/>
          </a:p>
        </p:txBody>
      </p:sp>
      <p:sp>
        <p:nvSpPr>
          <p:cNvPr id="17" name="Text 15"/>
          <p:cNvSpPr/>
          <p:nvPr/>
        </p:nvSpPr>
        <p:spPr>
          <a:xfrm>
            <a:off x="722376" y="2404872"/>
            <a:ext cx="3401568" cy="47548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How we generate variables, estimate models, and compare information criteria.</a:t>
            </a:r>
            <a:endParaRPr lang="en-US" sz="1100" dirty="0"/>
          </a:p>
        </p:txBody>
      </p:sp>
      <p:sp>
        <p:nvSpPr>
          <p:cNvPr id="18" name="Shape 16"/>
          <p:cNvSpPr/>
          <p:nvPr/>
        </p:nvSpPr>
        <p:spPr>
          <a:xfrm>
            <a:off x="4572000" y="2057400"/>
            <a:ext cx="3657600" cy="914400"/>
          </a:xfrm>
          <a:prstGeom prst="roundRect">
            <a:avLst/>
          </a:prstGeom>
          <a:solidFill>
            <a:srgbClr val="FFFFFF"/>
          </a:solidFill>
          <a:ln w="12700">
            <a:solidFill>
              <a:srgbClr val="BFC7D3"/>
            </a:solidFill>
            <a:prstDash val="solid"/>
          </a:ln>
        </p:spPr>
      </p:sp>
      <p:sp>
        <p:nvSpPr>
          <p:cNvPr id="19" name="Text 17"/>
          <p:cNvSpPr/>
          <p:nvPr/>
        </p:nvSpPr>
        <p:spPr>
          <a:xfrm>
            <a:off x="4700016" y="2148840"/>
            <a:ext cx="34015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2.2 Empirical results</a:t>
            </a:r>
            <a:endParaRPr lang="en-US" sz="1250" dirty="0"/>
          </a:p>
        </p:txBody>
      </p:sp>
      <p:sp>
        <p:nvSpPr>
          <p:cNvPr id="20" name="Text 18"/>
          <p:cNvSpPr/>
          <p:nvPr/>
        </p:nvSpPr>
        <p:spPr>
          <a:xfrm>
            <a:off x="4700016" y="2404872"/>
            <a:ext cx="3401568" cy="47548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AR selection, ADL selection, coefficient interpretation, and Granger test.</a:t>
            </a:r>
            <a:endParaRPr lang="en-US" sz="1100" dirty="0"/>
          </a:p>
        </p:txBody>
      </p:sp>
      <p:sp>
        <p:nvSpPr>
          <p:cNvPr id="21" name="Shape 19"/>
          <p:cNvSpPr/>
          <p:nvPr/>
        </p:nvSpPr>
        <p:spPr>
          <a:xfrm>
            <a:off x="2560320" y="3291840"/>
            <a:ext cx="3657600" cy="914400"/>
          </a:xfrm>
          <a:prstGeom prst="roundRect">
            <a:avLst/>
          </a:prstGeom>
          <a:solidFill>
            <a:srgbClr val="DAEDEF"/>
          </a:solidFill>
          <a:ln w="12700">
            <a:solidFill>
              <a:srgbClr val="BFC7D3"/>
            </a:solidFill>
            <a:prstDash val="solid"/>
          </a:ln>
        </p:spPr>
      </p:sp>
      <p:sp>
        <p:nvSpPr>
          <p:cNvPr id="22" name="Text 20"/>
          <p:cNvSpPr/>
          <p:nvPr/>
        </p:nvSpPr>
        <p:spPr>
          <a:xfrm>
            <a:off x="2688336" y="3383280"/>
            <a:ext cx="34015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3.1 Final answers</a:t>
            </a:r>
            <a:endParaRPr lang="en-US" sz="1250" dirty="0"/>
          </a:p>
        </p:txBody>
      </p:sp>
      <p:sp>
        <p:nvSpPr>
          <p:cNvPr id="23" name="Text 21"/>
          <p:cNvSpPr/>
          <p:nvPr/>
        </p:nvSpPr>
        <p:spPr>
          <a:xfrm>
            <a:off x="2688336" y="3639312"/>
            <a:ext cx="3401568" cy="47548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A clear slide that answers parts (a) to (d) directly for the marker.</a:t>
            </a:r>
            <a:endParaRPr lang="en-US" sz="1100" dirty="0"/>
          </a:p>
        </p:txBody>
      </p:sp>
      <p:sp>
        <p:nvSpPr>
          <p:cNvPr id="24" name="Shape 22"/>
          <p:cNvSpPr/>
          <p:nvPr/>
        </p:nvSpPr>
        <p:spPr>
          <a:xfrm>
            <a:off x="868680" y="4572000"/>
            <a:ext cx="7360920" cy="1051560"/>
          </a:xfrm>
          <a:prstGeom prst="roundRect">
            <a:avLst/>
          </a:prstGeom>
          <a:solidFill>
            <a:srgbClr val="FFFFFF"/>
          </a:solidFill>
          <a:ln w="12700">
            <a:solidFill>
              <a:srgbClr val="BFC7D3"/>
            </a:solidFill>
            <a:prstDash val="solid"/>
          </a:ln>
        </p:spPr>
      </p:sp>
      <p:sp>
        <p:nvSpPr>
          <p:cNvPr id="25" name="Text 23"/>
          <p:cNvSpPr/>
          <p:nvPr/>
        </p:nvSpPr>
        <p:spPr>
          <a:xfrm>
            <a:off x="996696" y="4663440"/>
            <a:ext cx="71048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Presentation design logic</a:t>
            </a:r>
            <a:endParaRPr lang="en-US" sz="1250" dirty="0"/>
          </a:p>
        </p:txBody>
      </p:sp>
      <p:sp>
        <p:nvSpPr>
          <p:cNvPr id="26" name="Text 24"/>
          <p:cNvSpPr/>
          <p:nvPr/>
        </p:nvSpPr>
        <p:spPr>
          <a:xfrm>
            <a:off x="996696" y="4919472"/>
            <a:ext cx="7104888" cy="612648"/>
          </a:xfrm>
          <a:prstGeom prst="rect">
            <a:avLst/>
          </a:prstGeom>
          <a:noFill/>
          <a:ln/>
        </p:spPr>
        <p:txBody>
          <a:bodyPr wrap="square" lIns="0" tIns="0" rIns="0" bIns="0" rtlCol="0" anchor="t"/>
          <a:lstStyle/>
          <a:p>
            <a:pPr indent="0" marL="0">
              <a:buNone/>
            </a:pPr>
            <a:r>
              <a:rPr lang="en-US" sz="1120" dirty="0">
                <a:solidFill>
                  <a:srgbClr val="20242C"/>
                </a:solidFill>
                <a:latin typeface="Verdana" pitchFamily="34" charset="0"/>
                <a:ea typeface="Verdana" pitchFamily="34" charset="-122"/>
                <a:cs typeface="Verdana" pitchFamily="34" charset="-120"/>
              </a:rPr>
              <a:t>We follow the same strong structure as the previous high-scoring deck: theory first, implementation second, evidence third, and direct assignment answers at the end.</a:t>
            </a:r>
            <a:endParaRPr lang="en-US" sz="11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The Definition of ADL</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Theory</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03</a:t>
            </a:r>
            <a:endParaRPr lang="en-US" sz="900" dirty="0"/>
          </a:p>
        </p:txBody>
      </p:sp>
      <p:sp>
        <p:nvSpPr>
          <p:cNvPr id="9" name="Shape 7"/>
          <p:cNvSpPr/>
          <p:nvPr/>
        </p:nvSpPr>
        <p:spPr>
          <a:xfrm>
            <a:off x="640080" y="914400"/>
            <a:ext cx="7818120" cy="1051560"/>
          </a:xfrm>
          <a:prstGeom prst="roundRect">
            <a:avLst/>
          </a:prstGeom>
          <a:solidFill>
            <a:srgbClr val="FFFFFF"/>
          </a:solidFill>
          <a:ln w="12700">
            <a:solidFill>
              <a:srgbClr val="BFC7D3"/>
            </a:solidFill>
            <a:prstDash val="solid"/>
          </a:ln>
        </p:spPr>
      </p:sp>
      <p:sp>
        <p:nvSpPr>
          <p:cNvPr id="10" name="Text 8"/>
          <p:cNvSpPr/>
          <p:nvPr/>
        </p:nvSpPr>
        <p:spPr>
          <a:xfrm>
            <a:off x="768096" y="1005840"/>
            <a:ext cx="75620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ADL specification</a:t>
            </a:r>
            <a:endParaRPr lang="en-US" sz="1250" dirty="0"/>
          </a:p>
        </p:txBody>
      </p:sp>
      <p:sp>
        <p:nvSpPr>
          <p:cNvPr id="11" name="Text 9"/>
          <p:cNvSpPr/>
          <p:nvPr/>
        </p:nvSpPr>
        <p:spPr>
          <a:xfrm>
            <a:off x="768096" y="1261872"/>
            <a:ext cx="7562088" cy="612648"/>
          </a:xfrm>
          <a:prstGeom prst="rect">
            <a:avLst/>
          </a:prstGeom>
          <a:noFill/>
          <a:ln/>
        </p:spPr>
        <p:txBody>
          <a:bodyPr wrap="square" lIns="0" tIns="0" rIns="0" bIns="0" rtlCol="0" anchor="t"/>
          <a:lstStyle/>
          <a:p>
            <a:pPr indent="0" marL="0">
              <a:buNone/>
            </a:pPr>
            <a:r>
              <a:rPr lang="en-US" sz="1320" dirty="0">
                <a:solidFill>
                  <a:srgbClr val="20242C"/>
                </a:solidFill>
                <a:latin typeface="Verdana" pitchFamily="34" charset="0"/>
                <a:ea typeface="Verdana" pitchFamily="34" charset="-122"/>
                <a:cs typeface="Verdana" pitchFamily="34" charset="-120"/>
              </a:rPr>
              <a:t>infl_t = a + sum_{i=1}^p b_i infl_{t-i} + sum_{j=0}^q g_j unrate_{t-j} + u_t</a:t>
            </a:r>
            <a:endParaRPr lang="en-US" sz="1320" dirty="0"/>
          </a:p>
          <a:p>
            <a:pPr indent="0" marL="0">
              <a:buNone/>
            </a:pPr>
            <a:endParaRPr lang="en-US" sz="1320" dirty="0"/>
          </a:p>
          <a:p>
            <a:pPr indent="0" marL="0">
              <a:buNone/>
            </a:pPr>
            <a:r>
              <a:rPr lang="en-US" sz="1320" dirty="0">
                <a:solidFill>
                  <a:srgbClr val="20242C"/>
                </a:solidFill>
                <a:latin typeface="Verdana" pitchFamily="34" charset="0"/>
                <a:ea typeface="Verdana" pitchFamily="34" charset="-122"/>
                <a:cs typeface="Verdana" pitchFamily="34" charset="-120"/>
              </a:rPr>
              <a:t>The model combines inflation persistence with current and lagged unemployment information.</a:t>
            </a:r>
            <a:endParaRPr lang="en-US" sz="1320" dirty="0"/>
          </a:p>
        </p:txBody>
      </p:sp>
      <p:sp>
        <p:nvSpPr>
          <p:cNvPr id="12" name="Shape 10"/>
          <p:cNvSpPr/>
          <p:nvPr/>
        </p:nvSpPr>
        <p:spPr>
          <a:xfrm>
            <a:off x="731520" y="2286000"/>
            <a:ext cx="2331720" cy="1417320"/>
          </a:xfrm>
          <a:prstGeom prst="roundRect">
            <a:avLst/>
          </a:prstGeom>
          <a:solidFill>
            <a:srgbClr val="DAEDEF"/>
          </a:solidFill>
          <a:ln w="12700">
            <a:solidFill>
              <a:srgbClr val="BFC7D3"/>
            </a:solidFill>
            <a:prstDash val="solid"/>
          </a:ln>
        </p:spPr>
      </p:sp>
      <p:sp>
        <p:nvSpPr>
          <p:cNvPr id="13" name="Text 11"/>
          <p:cNvSpPr/>
          <p:nvPr/>
        </p:nvSpPr>
        <p:spPr>
          <a:xfrm>
            <a:off x="859536" y="2377440"/>
            <a:ext cx="20756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AR block</a:t>
            </a:r>
            <a:endParaRPr lang="en-US" sz="1250" dirty="0"/>
          </a:p>
        </p:txBody>
      </p:sp>
      <p:sp>
        <p:nvSpPr>
          <p:cNvPr id="14" name="Text 12"/>
          <p:cNvSpPr/>
          <p:nvPr/>
        </p:nvSpPr>
        <p:spPr>
          <a:xfrm>
            <a:off x="859536" y="2633472"/>
            <a:ext cx="2075688" cy="97840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The lagged inflation terms capture inertia and persistence in price dynamics.</a:t>
            </a:r>
            <a:endParaRPr lang="en-US" sz="1100" dirty="0"/>
          </a:p>
        </p:txBody>
      </p:sp>
      <p:sp>
        <p:nvSpPr>
          <p:cNvPr id="15" name="Shape 13"/>
          <p:cNvSpPr/>
          <p:nvPr/>
        </p:nvSpPr>
        <p:spPr>
          <a:xfrm>
            <a:off x="3429000" y="2286000"/>
            <a:ext cx="2331720" cy="1417320"/>
          </a:xfrm>
          <a:prstGeom prst="roundRect">
            <a:avLst/>
          </a:prstGeom>
          <a:solidFill>
            <a:srgbClr val="FFFFFF"/>
          </a:solidFill>
          <a:ln w="12700">
            <a:solidFill>
              <a:srgbClr val="BFC7D3"/>
            </a:solidFill>
            <a:prstDash val="solid"/>
          </a:ln>
        </p:spPr>
      </p:sp>
      <p:sp>
        <p:nvSpPr>
          <p:cNvPr id="16" name="Text 14"/>
          <p:cNvSpPr/>
          <p:nvPr/>
        </p:nvSpPr>
        <p:spPr>
          <a:xfrm>
            <a:off x="3557016" y="2377440"/>
            <a:ext cx="20756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Distributed lags</a:t>
            </a:r>
            <a:endParaRPr lang="en-US" sz="1250" dirty="0"/>
          </a:p>
        </p:txBody>
      </p:sp>
      <p:sp>
        <p:nvSpPr>
          <p:cNvPr id="17" name="Text 15"/>
          <p:cNvSpPr/>
          <p:nvPr/>
        </p:nvSpPr>
        <p:spPr>
          <a:xfrm>
            <a:off x="3557016" y="2633472"/>
            <a:ext cx="2075688" cy="97840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The unemployment terms let the model test whether labor-market conditions help forecast inflation.</a:t>
            </a:r>
            <a:endParaRPr lang="en-US" sz="1100" dirty="0"/>
          </a:p>
        </p:txBody>
      </p:sp>
      <p:sp>
        <p:nvSpPr>
          <p:cNvPr id="18" name="Shape 16"/>
          <p:cNvSpPr/>
          <p:nvPr/>
        </p:nvSpPr>
        <p:spPr>
          <a:xfrm>
            <a:off x="6126480" y="2286000"/>
            <a:ext cx="2331720" cy="1417320"/>
          </a:xfrm>
          <a:prstGeom prst="roundRect">
            <a:avLst/>
          </a:prstGeom>
          <a:solidFill>
            <a:srgbClr val="FFFFFF"/>
          </a:solidFill>
          <a:ln w="12700">
            <a:solidFill>
              <a:srgbClr val="BFC7D3"/>
            </a:solidFill>
            <a:prstDash val="solid"/>
          </a:ln>
        </p:spPr>
      </p:sp>
      <p:sp>
        <p:nvSpPr>
          <p:cNvPr id="19" name="Text 17"/>
          <p:cNvSpPr/>
          <p:nvPr/>
        </p:nvSpPr>
        <p:spPr>
          <a:xfrm>
            <a:off x="6254496" y="2377440"/>
            <a:ext cx="20756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Assignment link</a:t>
            </a:r>
            <a:endParaRPr lang="en-US" sz="1250" dirty="0"/>
          </a:p>
        </p:txBody>
      </p:sp>
      <p:sp>
        <p:nvSpPr>
          <p:cNvPr id="20" name="Text 18"/>
          <p:cNvSpPr/>
          <p:nvPr/>
        </p:nvSpPr>
        <p:spPr>
          <a:xfrm>
            <a:off x="6254496" y="2633472"/>
            <a:ext cx="2075688" cy="97840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Part (b) selects AR(p).</a:t>
            </a:r>
            <a:endParaRPr lang="en-US" sz="1100" dirty="0"/>
          </a:p>
          <a:p>
            <a:pPr indent="0" marL="0">
              <a:buNone/>
            </a:pPr>
            <a:r>
              <a:rPr lang="en-US" sz="1100" dirty="0">
                <a:solidFill>
                  <a:srgbClr val="20242C"/>
                </a:solidFill>
                <a:latin typeface="Verdana" pitchFamily="34" charset="0"/>
                <a:ea typeface="Verdana" pitchFamily="34" charset="-122"/>
                <a:cs typeface="Verdana" pitchFamily="34" charset="-120"/>
              </a:rPr>
              <a:t>Part (c) adds unemployment and selects ADL(p,q).</a:t>
            </a:r>
            <a:endParaRPr lang="en-US" sz="1100" dirty="0"/>
          </a:p>
        </p:txBody>
      </p:sp>
      <p:sp>
        <p:nvSpPr>
          <p:cNvPr id="21" name="Shape 19"/>
          <p:cNvSpPr/>
          <p:nvPr/>
        </p:nvSpPr>
        <p:spPr>
          <a:xfrm>
            <a:off x="1143000" y="4160520"/>
            <a:ext cx="6949440" cy="1097280"/>
          </a:xfrm>
          <a:prstGeom prst="roundRect">
            <a:avLst/>
          </a:prstGeom>
          <a:solidFill>
            <a:srgbClr val="FFFFFF"/>
          </a:solidFill>
          <a:ln w="12700">
            <a:solidFill>
              <a:srgbClr val="BFC7D3"/>
            </a:solidFill>
            <a:prstDash val="solid"/>
          </a:ln>
        </p:spPr>
      </p:sp>
      <p:sp>
        <p:nvSpPr>
          <p:cNvPr id="22" name="Text 20"/>
          <p:cNvSpPr/>
          <p:nvPr/>
        </p:nvSpPr>
        <p:spPr>
          <a:xfrm>
            <a:off x="1271016" y="4251960"/>
            <a:ext cx="669340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Why use ADL here?</a:t>
            </a:r>
            <a:endParaRPr lang="en-US" sz="1250" dirty="0"/>
          </a:p>
        </p:txBody>
      </p:sp>
      <p:sp>
        <p:nvSpPr>
          <p:cNvPr id="23" name="Text 21"/>
          <p:cNvSpPr/>
          <p:nvPr/>
        </p:nvSpPr>
        <p:spPr>
          <a:xfrm>
            <a:off x="1271016" y="4507992"/>
            <a:ext cx="6693408" cy="658368"/>
          </a:xfrm>
          <a:prstGeom prst="rect">
            <a:avLst/>
          </a:prstGeom>
          <a:noFill/>
          <a:ln/>
        </p:spPr>
        <p:txBody>
          <a:bodyPr wrap="square" lIns="0" tIns="0" rIns="0" bIns="0" rtlCol="0" anchor="t"/>
          <a:lstStyle/>
          <a:p>
            <a:pPr indent="0" marL="0">
              <a:buNone/>
            </a:pPr>
            <a:r>
              <a:rPr lang="en-US" sz="1130" dirty="0">
                <a:solidFill>
                  <a:srgbClr val="20242C"/>
                </a:solidFill>
                <a:latin typeface="Verdana" pitchFamily="34" charset="0"/>
                <a:ea typeface="Verdana" pitchFamily="34" charset="-122"/>
                <a:cs typeface="Verdana" pitchFamily="34" charset="-120"/>
              </a:rPr>
              <a:t>Inflation is persistent, but the Phillips-curve intuition suggests unemployment may add predictive information with lags. ADL is a natural forecasting framework for that question.</a:t>
            </a:r>
            <a:endParaRPr lang="en-US" sz="11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Interpretation of AIC and BIC</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Theory</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04</a:t>
            </a:r>
            <a:endParaRPr lang="en-US" sz="900" dirty="0"/>
          </a:p>
        </p:txBody>
      </p:sp>
      <p:sp>
        <p:nvSpPr>
          <p:cNvPr id="9" name="Shape 7"/>
          <p:cNvSpPr/>
          <p:nvPr/>
        </p:nvSpPr>
        <p:spPr>
          <a:xfrm>
            <a:off x="640080" y="914400"/>
            <a:ext cx="3703320" cy="1005840"/>
          </a:xfrm>
          <a:prstGeom prst="roundRect">
            <a:avLst/>
          </a:prstGeom>
          <a:solidFill>
            <a:srgbClr val="FFFFFF"/>
          </a:solidFill>
          <a:ln w="12700">
            <a:solidFill>
              <a:srgbClr val="BFC7D3"/>
            </a:solidFill>
            <a:prstDash val="solid"/>
          </a:ln>
        </p:spPr>
      </p:sp>
      <p:sp>
        <p:nvSpPr>
          <p:cNvPr id="10" name="Text 8"/>
          <p:cNvSpPr/>
          <p:nvPr/>
        </p:nvSpPr>
        <p:spPr>
          <a:xfrm>
            <a:off x="768096" y="1005840"/>
            <a:ext cx="34472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AIC</a:t>
            </a:r>
            <a:endParaRPr lang="en-US" sz="1250" dirty="0"/>
          </a:p>
        </p:txBody>
      </p:sp>
      <p:sp>
        <p:nvSpPr>
          <p:cNvPr id="11" name="Text 9"/>
          <p:cNvSpPr/>
          <p:nvPr/>
        </p:nvSpPr>
        <p:spPr>
          <a:xfrm>
            <a:off x="768096" y="1261872"/>
            <a:ext cx="3447288" cy="566928"/>
          </a:xfrm>
          <a:prstGeom prst="rect">
            <a:avLst/>
          </a:prstGeom>
          <a:noFill/>
          <a:ln/>
        </p:spPr>
        <p:txBody>
          <a:bodyPr wrap="square" lIns="0" tIns="0" rIns="0" bIns="0" rtlCol="0" anchor="t"/>
          <a:lstStyle/>
          <a:p>
            <a:pPr indent="0" marL="0">
              <a:buNone/>
            </a:pPr>
            <a:r>
              <a:rPr lang="en-US" sz="1300" dirty="0">
                <a:solidFill>
                  <a:srgbClr val="20242C"/>
                </a:solidFill>
                <a:latin typeface="Verdana" pitchFamily="34" charset="0"/>
                <a:ea typeface="Verdana" pitchFamily="34" charset="-122"/>
                <a:cs typeface="Verdana" pitchFamily="34" charset="-120"/>
              </a:rPr>
              <a:t>AIC = -2 ln(L) + 2k</a:t>
            </a:r>
            <a:endParaRPr lang="en-US" sz="1300" dirty="0"/>
          </a:p>
          <a:p>
            <a:pPr indent="0" marL="0">
              <a:buNone/>
            </a:pPr>
            <a:endParaRPr lang="en-US" sz="1300" dirty="0"/>
          </a:p>
          <a:p>
            <a:pPr indent="0" marL="0">
              <a:buNone/>
            </a:pPr>
            <a:r>
              <a:rPr lang="en-US" sz="1300" dirty="0">
                <a:solidFill>
                  <a:srgbClr val="20242C"/>
                </a:solidFill>
                <a:latin typeface="Verdana" pitchFamily="34" charset="0"/>
                <a:ea typeface="Verdana" pitchFamily="34" charset="-122"/>
                <a:cs typeface="Verdana" pitchFamily="34" charset="-120"/>
              </a:rPr>
              <a:t>AIC rewards fit and uses a lighter penalty for extra parameters.</a:t>
            </a:r>
            <a:endParaRPr lang="en-US" sz="1300" dirty="0"/>
          </a:p>
        </p:txBody>
      </p:sp>
      <p:sp>
        <p:nvSpPr>
          <p:cNvPr id="12" name="Shape 10"/>
          <p:cNvSpPr/>
          <p:nvPr/>
        </p:nvSpPr>
        <p:spPr>
          <a:xfrm>
            <a:off x="4663440" y="914400"/>
            <a:ext cx="3703320" cy="1005840"/>
          </a:xfrm>
          <a:prstGeom prst="roundRect">
            <a:avLst/>
          </a:prstGeom>
          <a:solidFill>
            <a:srgbClr val="FFFFFF"/>
          </a:solidFill>
          <a:ln w="12700">
            <a:solidFill>
              <a:srgbClr val="BFC7D3"/>
            </a:solidFill>
            <a:prstDash val="solid"/>
          </a:ln>
        </p:spPr>
      </p:sp>
      <p:sp>
        <p:nvSpPr>
          <p:cNvPr id="13" name="Text 11"/>
          <p:cNvSpPr/>
          <p:nvPr/>
        </p:nvSpPr>
        <p:spPr>
          <a:xfrm>
            <a:off x="4791456" y="1005840"/>
            <a:ext cx="34472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BIC</a:t>
            </a:r>
            <a:endParaRPr lang="en-US" sz="1250" dirty="0"/>
          </a:p>
        </p:txBody>
      </p:sp>
      <p:sp>
        <p:nvSpPr>
          <p:cNvPr id="14" name="Text 12"/>
          <p:cNvSpPr/>
          <p:nvPr/>
        </p:nvSpPr>
        <p:spPr>
          <a:xfrm>
            <a:off x="4791456" y="1261872"/>
            <a:ext cx="3447288" cy="566928"/>
          </a:xfrm>
          <a:prstGeom prst="rect">
            <a:avLst/>
          </a:prstGeom>
          <a:noFill/>
          <a:ln/>
        </p:spPr>
        <p:txBody>
          <a:bodyPr wrap="square" lIns="0" tIns="0" rIns="0" bIns="0" rtlCol="0" anchor="t"/>
          <a:lstStyle/>
          <a:p>
            <a:pPr indent="0" marL="0">
              <a:buNone/>
            </a:pPr>
            <a:r>
              <a:rPr lang="en-US" sz="1300" dirty="0">
                <a:solidFill>
                  <a:srgbClr val="20242C"/>
                </a:solidFill>
                <a:latin typeface="Verdana" pitchFamily="34" charset="0"/>
                <a:ea typeface="Verdana" pitchFamily="34" charset="-122"/>
                <a:cs typeface="Verdana" pitchFamily="34" charset="-120"/>
              </a:rPr>
              <a:t>BIC = -2 ln(L) + k ln(n)</a:t>
            </a:r>
            <a:endParaRPr lang="en-US" sz="1300" dirty="0"/>
          </a:p>
          <a:p>
            <a:pPr indent="0" marL="0">
              <a:buNone/>
            </a:pPr>
            <a:endParaRPr lang="en-US" sz="1300" dirty="0"/>
          </a:p>
          <a:p>
            <a:pPr indent="0" marL="0">
              <a:buNone/>
            </a:pPr>
            <a:r>
              <a:rPr lang="en-US" sz="1300" dirty="0">
                <a:solidFill>
                  <a:srgbClr val="20242C"/>
                </a:solidFill>
                <a:latin typeface="Verdana" pitchFamily="34" charset="0"/>
                <a:ea typeface="Verdana" pitchFamily="34" charset="-122"/>
                <a:cs typeface="Verdana" pitchFamily="34" charset="-120"/>
              </a:rPr>
              <a:t>BIC penalizes model size more heavily when n is large.</a:t>
            </a:r>
            <a:endParaRPr lang="en-US" sz="1300" dirty="0"/>
          </a:p>
        </p:txBody>
      </p:sp>
      <p:sp>
        <p:nvSpPr>
          <p:cNvPr id="15" name="Shape 13"/>
          <p:cNvSpPr/>
          <p:nvPr/>
        </p:nvSpPr>
        <p:spPr>
          <a:xfrm>
            <a:off x="777240" y="2331720"/>
            <a:ext cx="2331720" cy="1325880"/>
          </a:xfrm>
          <a:prstGeom prst="roundRect">
            <a:avLst/>
          </a:prstGeom>
          <a:solidFill>
            <a:srgbClr val="DAEDEF"/>
          </a:solidFill>
          <a:ln w="12700">
            <a:solidFill>
              <a:srgbClr val="BFC7D3"/>
            </a:solidFill>
            <a:prstDash val="solid"/>
          </a:ln>
        </p:spPr>
      </p:sp>
      <p:sp>
        <p:nvSpPr>
          <p:cNvPr id="16" name="Text 14"/>
          <p:cNvSpPr/>
          <p:nvPr/>
        </p:nvSpPr>
        <p:spPr>
          <a:xfrm>
            <a:off x="905256" y="2423160"/>
            <a:ext cx="20756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Same sample</a:t>
            </a:r>
            <a:endParaRPr lang="en-US" sz="1250" dirty="0"/>
          </a:p>
        </p:txBody>
      </p:sp>
      <p:sp>
        <p:nvSpPr>
          <p:cNvPr id="17" name="Text 15"/>
          <p:cNvSpPr/>
          <p:nvPr/>
        </p:nvSpPr>
        <p:spPr>
          <a:xfrm>
            <a:off x="905256" y="2679192"/>
            <a:ext cx="2075688" cy="886968"/>
          </a:xfrm>
          <a:prstGeom prst="rect">
            <a:avLst/>
          </a:prstGeom>
          <a:noFill/>
          <a:ln/>
        </p:spPr>
        <p:txBody>
          <a:bodyPr wrap="square" lIns="0" tIns="0" rIns="0" bIns="0" rtlCol="0" anchor="t"/>
          <a:lstStyle/>
          <a:p>
            <a:pPr indent="0" marL="0">
              <a:buNone/>
            </a:pPr>
            <a:r>
              <a:rPr lang="en-US" sz="1110" dirty="0">
                <a:solidFill>
                  <a:srgbClr val="20242C"/>
                </a:solidFill>
                <a:latin typeface="Verdana" pitchFamily="34" charset="0"/>
                <a:ea typeface="Verdana" pitchFamily="34" charset="-122"/>
                <a:cs typeface="Verdana" pitchFamily="34" charset="-120"/>
              </a:rPr>
              <a:t>All candidate models are compared on the same 200-quarter sample.</a:t>
            </a:r>
            <a:endParaRPr lang="en-US" sz="1110" dirty="0"/>
          </a:p>
        </p:txBody>
      </p:sp>
      <p:sp>
        <p:nvSpPr>
          <p:cNvPr id="18" name="Shape 16"/>
          <p:cNvSpPr/>
          <p:nvPr/>
        </p:nvSpPr>
        <p:spPr>
          <a:xfrm>
            <a:off x="3401568" y="2331720"/>
            <a:ext cx="2331720" cy="1325880"/>
          </a:xfrm>
          <a:prstGeom prst="roundRect">
            <a:avLst/>
          </a:prstGeom>
          <a:solidFill>
            <a:srgbClr val="FFFFFF"/>
          </a:solidFill>
          <a:ln w="12700">
            <a:solidFill>
              <a:srgbClr val="BFC7D3"/>
            </a:solidFill>
            <a:prstDash val="solid"/>
          </a:ln>
        </p:spPr>
      </p:sp>
      <p:sp>
        <p:nvSpPr>
          <p:cNvPr id="19" name="Text 17"/>
          <p:cNvSpPr/>
          <p:nvPr/>
        </p:nvSpPr>
        <p:spPr>
          <a:xfrm>
            <a:off x="3529584" y="2423160"/>
            <a:ext cx="20756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Penalty gap</a:t>
            </a:r>
            <a:endParaRPr lang="en-US" sz="1250" dirty="0"/>
          </a:p>
        </p:txBody>
      </p:sp>
      <p:sp>
        <p:nvSpPr>
          <p:cNvPr id="20" name="Text 18"/>
          <p:cNvSpPr/>
          <p:nvPr/>
        </p:nvSpPr>
        <p:spPr>
          <a:xfrm>
            <a:off x="3529584" y="2679192"/>
            <a:ext cx="2075688" cy="886968"/>
          </a:xfrm>
          <a:prstGeom prst="rect">
            <a:avLst/>
          </a:prstGeom>
          <a:noFill/>
          <a:ln/>
        </p:spPr>
        <p:txBody>
          <a:bodyPr wrap="square" lIns="0" tIns="0" rIns="0" bIns="0" rtlCol="0" anchor="t"/>
          <a:lstStyle/>
          <a:p>
            <a:pPr indent="0" marL="0">
              <a:buNone/>
            </a:pPr>
            <a:r>
              <a:rPr lang="en-US" sz="1110" dirty="0">
                <a:solidFill>
                  <a:srgbClr val="20242C"/>
                </a:solidFill>
                <a:latin typeface="Verdana" pitchFamily="34" charset="0"/>
                <a:ea typeface="Verdana" pitchFamily="34" charset="-122"/>
                <a:cs typeface="Verdana" pitchFamily="34" charset="-120"/>
              </a:rPr>
              <a:t>Here, ln(200) is about 5.30, much larger than the AIC penalty of 2.</a:t>
            </a:r>
            <a:endParaRPr lang="en-US" sz="1110" dirty="0"/>
          </a:p>
        </p:txBody>
      </p:sp>
      <p:sp>
        <p:nvSpPr>
          <p:cNvPr id="21" name="Shape 19"/>
          <p:cNvSpPr/>
          <p:nvPr/>
        </p:nvSpPr>
        <p:spPr>
          <a:xfrm>
            <a:off x="6025896" y="2331720"/>
            <a:ext cx="2331720" cy="1325880"/>
          </a:xfrm>
          <a:prstGeom prst="roundRect">
            <a:avLst/>
          </a:prstGeom>
          <a:solidFill>
            <a:srgbClr val="FFFFFF"/>
          </a:solidFill>
          <a:ln w="12700">
            <a:solidFill>
              <a:srgbClr val="BFC7D3"/>
            </a:solidFill>
            <a:prstDash val="solid"/>
          </a:ln>
        </p:spPr>
      </p:sp>
      <p:sp>
        <p:nvSpPr>
          <p:cNvPr id="22" name="Text 20"/>
          <p:cNvSpPr/>
          <p:nvPr/>
        </p:nvSpPr>
        <p:spPr>
          <a:xfrm>
            <a:off x="6153912" y="2423160"/>
            <a:ext cx="20756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Expected outcome</a:t>
            </a:r>
            <a:endParaRPr lang="en-US" sz="1250" dirty="0"/>
          </a:p>
        </p:txBody>
      </p:sp>
      <p:sp>
        <p:nvSpPr>
          <p:cNvPr id="23" name="Text 21"/>
          <p:cNvSpPr/>
          <p:nvPr/>
        </p:nvSpPr>
        <p:spPr>
          <a:xfrm>
            <a:off x="6153912" y="2679192"/>
            <a:ext cx="2075688" cy="886968"/>
          </a:xfrm>
          <a:prstGeom prst="rect">
            <a:avLst/>
          </a:prstGeom>
          <a:noFill/>
          <a:ln/>
        </p:spPr>
        <p:txBody>
          <a:bodyPr wrap="square" lIns="0" tIns="0" rIns="0" bIns="0" rtlCol="0" anchor="t"/>
          <a:lstStyle/>
          <a:p>
            <a:pPr indent="0" marL="0">
              <a:buNone/>
            </a:pPr>
            <a:r>
              <a:rPr lang="en-US" sz="1110" dirty="0">
                <a:solidFill>
                  <a:srgbClr val="20242C"/>
                </a:solidFill>
                <a:latin typeface="Verdana" pitchFamily="34" charset="0"/>
                <a:ea typeface="Verdana" pitchFamily="34" charset="-122"/>
                <a:cs typeface="Verdana" pitchFamily="34" charset="-120"/>
              </a:rPr>
              <a:t>AIC usually keeps more lags. BIC usually prefers a smaller model.</a:t>
            </a:r>
            <a:endParaRPr lang="en-US" sz="1110" dirty="0"/>
          </a:p>
        </p:txBody>
      </p:sp>
      <p:sp>
        <p:nvSpPr>
          <p:cNvPr id="24" name="Shape 22"/>
          <p:cNvSpPr/>
          <p:nvPr/>
        </p:nvSpPr>
        <p:spPr>
          <a:xfrm>
            <a:off x="1005840" y="4069080"/>
            <a:ext cx="7132320" cy="1325880"/>
          </a:xfrm>
          <a:prstGeom prst="roundRect">
            <a:avLst/>
          </a:prstGeom>
          <a:solidFill>
            <a:srgbClr val="FFFFFF"/>
          </a:solidFill>
          <a:ln w="12700">
            <a:solidFill>
              <a:srgbClr val="BFC7D3"/>
            </a:solidFill>
            <a:prstDash val="solid"/>
          </a:ln>
        </p:spPr>
      </p:sp>
      <p:sp>
        <p:nvSpPr>
          <p:cNvPr id="25" name="Text 23"/>
          <p:cNvSpPr/>
          <p:nvPr/>
        </p:nvSpPr>
        <p:spPr>
          <a:xfrm>
            <a:off x="1133856" y="4160520"/>
            <a:ext cx="68762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How to interpret disagreement</a:t>
            </a:r>
            <a:endParaRPr lang="en-US" sz="1250" dirty="0"/>
          </a:p>
        </p:txBody>
      </p:sp>
      <p:sp>
        <p:nvSpPr>
          <p:cNvPr id="26" name="Text 24"/>
          <p:cNvSpPr/>
          <p:nvPr/>
        </p:nvSpPr>
        <p:spPr>
          <a:xfrm>
            <a:off x="1133856" y="4416552"/>
            <a:ext cx="6876288" cy="886968"/>
          </a:xfrm>
          <a:prstGeom prst="rect">
            <a:avLst/>
          </a:prstGeom>
          <a:noFill/>
          <a:ln/>
        </p:spPr>
        <p:txBody>
          <a:bodyPr wrap="square" lIns="0" tIns="0" rIns="0" bIns="0" rtlCol="0" anchor="t"/>
          <a:lstStyle/>
          <a:p>
            <a:pPr indent="0" marL="0">
              <a:buNone/>
            </a:pPr>
            <a:r>
              <a:rPr lang="en-US" sz="1120" dirty="0">
                <a:solidFill>
                  <a:srgbClr val="20242C"/>
                </a:solidFill>
                <a:latin typeface="Verdana" pitchFamily="34" charset="0"/>
                <a:ea typeface="Verdana" pitchFamily="34" charset="-122"/>
                <a:cs typeface="Verdana" pitchFamily="34" charset="-120"/>
              </a:rPr>
              <a:t>If AIC and BIC choose different models, that does not mean one is wrong. It means the fit gain from extra lags is real, but BIC judges that gain too small relative to the added complexity.</a:t>
            </a:r>
            <a:endParaRPr lang="en-US" sz="11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Interpretation of Granger Causality</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Theory</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05</a:t>
            </a:r>
            <a:endParaRPr lang="en-US" sz="900" dirty="0"/>
          </a:p>
        </p:txBody>
      </p:sp>
      <p:sp>
        <p:nvSpPr>
          <p:cNvPr id="9" name="Shape 7"/>
          <p:cNvSpPr/>
          <p:nvPr/>
        </p:nvSpPr>
        <p:spPr>
          <a:xfrm>
            <a:off x="731520" y="914400"/>
            <a:ext cx="7635240" cy="1005840"/>
          </a:xfrm>
          <a:prstGeom prst="roundRect">
            <a:avLst/>
          </a:prstGeom>
          <a:solidFill>
            <a:srgbClr val="FFFFFF"/>
          </a:solidFill>
          <a:ln w="12700">
            <a:solidFill>
              <a:srgbClr val="BFC7D3"/>
            </a:solidFill>
            <a:prstDash val="solid"/>
          </a:ln>
        </p:spPr>
      </p:sp>
      <p:sp>
        <p:nvSpPr>
          <p:cNvPr id="10" name="Text 8"/>
          <p:cNvSpPr/>
          <p:nvPr/>
        </p:nvSpPr>
        <p:spPr>
          <a:xfrm>
            <a:off x="859536" y="1005840"/>
            <a:ext cx="737920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Predictive causality, not structural causality</a:t>
            </a:r>
            <a:endParaRPr lang="en-US" sz="1250" dirty="0"/>
          </a:p>
        </p:txBody>
      </p:sp>
      <p:sp>
        <p:nvSpPr>
          <p:cNvPr id="11" name="Text 9"/>
          <p:cNvSpPr/>
          <p:nvPr/>
        </p:nvSpPr>
        <p:spPr>
          <a:xfrm>
            <a:off x="859536" y="1261872"/>
            <a:ext cx="7379208" cy="566928"/>
          </a:xfrm>
          <a:prstGeom prst="rect">
            <a:avLst/>
          </a:prstGeom>
          <a:noFill/>
          <a:ln/>
        </p:spPr>
        <p:txBody>
          <a:bodyPr wrap="square" lIns="0" tIns="0" rIns="0" bIns="0" rtlCol="0" anchor="t"/>
          <a:lstStyle/>
          <a:p>
            <a:pPr indent="0" marL="0">
              <a:buNone/>
            </a:pPr>
            <a:r>
              <a:rPr lang="en-US" sz="1280" dirty="0">
                <a:solidFill>
                  <a:srgbClr val="20242C"/>
                </a:solidFill>
                <a:latin typeface="Verdana" pitchFamily="34" charset="0"/>
                <a:ea typeface="Verdana" pitchFamily="34" charset="-122"/>
                <a:cs typeface="Verdana" pitchFamily="34" charset="-120"/>
              </a:rPr>
              <a:t>In this assignment, unemployment Granger-causes inflation if lagged unemployment improves inflation forecasts after controlling for lagged inflation.</a:t>
            </a:r>
            <a:endParaRPr lang="en-US" sz="1280" dirty="0"/>
          </a:p>
        </p:txBody>
      </p:sp>
      <p:sp>
        <p:nvSpPr>
          <p:cNvPr id="12" name="Shape 10"/>
          <p:cNvSpPr/>
          <p:nvPr/>
        </p:nvSpPr>
        <p:spPr>
          <a:xfrm>
            <a:off x="868680" y="2286000"/>
            <a:ext cx="3566160" cy="1417320"/>
          </a:xfrm>
          <a:prstGeom prst="roundRect">
            <a:avLst/>
          </a:prstGeom>
          <a:solidFill>
            <a:srgbClr val="DAEDEF"/>
          </a:solidFill>
          <a:ln w="12700">
            <a:solidFill>
              <a:srgbClr val="BFC7D3"/>
            </a:solidFill>
            <a:prstDash val="solid"/>
          </a:ln>
        </p:spPr>
      </p:sp>
      <p:sp>
        <p:nvSpPr>
          <p:cNvPr id="13" name="Text 11"/>
          <p:cNvSpPr/>
          <p:nvPr/>
        </p:nvSpPr>
        <p:spPr>
          <a:xfrm>
            <a:off x="996696" y="2377440"/>
            <a:ext cx="331012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Null hypothesis</a:t>
            </a:r>
            <a:endParaRPr lang="en-US" sz="1250" dirty="0"/>
          </a:p>
        </p:txBody>
      </p:sp>
      <p:sp>
        <p:nvSpPr>
          <p:cNvPr id="14" name="Text 12"/>
          <p:cNvSpPr/>
          <p:nvPr/>
        </p:nvSpPr>
        <p:spPr>
          <a:xfrm>
            <a:off x="996696" y="2633472"/>
            <a:ext cx="3310128" cy="978408"/>
          </a:xfrm>
          <a:prstGeom prst="rect">
            <a:avLst/>
          </a:prstGeom>
          <a:noFill/>
          <a:ln/>
        </p:spPr>
        <p:txBody>
          <a:bodyPr wrap="square" lIns="0" tIns="0" rIns="0" bIns="0" rtlCol="0" anchor="t"/>
          <a:lstStyle/>
          <a:p>
            <a:pPr indent="0" marL="0">
              <a:buNone/>
            </a:pPr>
            <a:r>
              <a:rPr lang="en-US" sz="1140" dirty="0">
                <a:solidFill>
                  <a:srgbClr val="20242C"/>
                </a:solidFill>
                <a:latin typeface="Verdana" pitchFamily="34" charset="0"/>
                <a:ea typeface="Verdana" pitchFamily="34" charset="-122"/>
                <a:cs typeface="Verdana" pitchFamily="34" charset="-120"/>
              </a:rPr>
              <a:t>H0: gamma_1 = gamma_2 = gamma_3 = 0</a:t>
            </a:r>
            <a:endParaRPr lang="en-US" sz="1140" dirty="0"/>
          </a:p>
          <a:p>
            <a:pPr indent="0" marL="0">
              <a:buNone/>
            </a:pPr>
            <a:endParaRPr lang="en-US" sz="1140" dirty="0"/>
          </a:p>
          <a:p>
            <a:pPr indent="0" marL="0">
              <a:buNone/>
            </a:pPr>
            <a:r>
              <a:rPr lang="en-US" sz="1140" dirty="0">
                <a:solidFill>
                  <a:srgbClr val="20242C"/>
                </a:solidFill>
                <a:latin typeface="Verdana" pitchFamily="34" charset="0"/>
                <a:ea typeface="Verdana" pitchFamily="34" charset="-122"/>
                <a:cs typeface="Verdana" pitchFamily="34" charset="-120"/>
              </a:rPr>
              <a:t>The lagged unemployment terms do not add predictive power.</a:t>
            </a:r>
            <a:endParaRPr lang="en-US" sz="1140" dirty="0"/>
          </a:p>
        </p:txBody>
      </p:sp>
      <p:sp>
        <p:nvSpPr>
          <p:cNvPr id="15" name="Shape 13"/>
          <p:cNvSpPr/>
          <p:nvPr/>
        </p:nvSpPr>
        <p:spPr>
          <a:xfrm>
            <a:off x="4663440" y="2286000"/>
            <a:ext cx="3566160" cy="1417320"/>
          </a:xfrm>
          <a:prstGeom prst="roundRect">
            <a:avLst/>
          </a:prstGeom>
          <a:solidFill>
            <a:srgbClr val="FFFFFF"/>
          </a:solidFill>
          <a:ln w="12700">
            <a:solidFill>
              <a:srgbClr val="BFC7D3"/>
            </a:solidFill>
            <a:prstDash val="solid"/>
          </a:ln>
        </p:spPr>
      </p:sp>
      <p:sp>
        <p:nvSpPr>
          <p:cNvPr id="16" name="Text 14"/>
          <p:cNvSpPr/>
          <p:nvPr/>
        </p:nvSpPr>
        <p:spPr>
          <a:xfrm>
            <a:off x="4791456" y="2377440"/>
            <a:ext cx="331012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Decision rule</a:t>
            </a:r>
            <a:endParaRPr lang="en-US" sz="1250" dirty="0"/>
          </a:p>
        </p:txBody>
      </p:sp>
      <p:sp>
        <p:nvSpPr>
          <p:cNvPr id="17" name="Text 15"/>
          <p:cNvSpPr/>
          <p:nvPr/>
        </p:nvSpPr>
        <p:spPr>
          <a:xfrm>
            <a:off x="4791456" y="2633472"/>
            <a:ext cx="3310128" cy="978408"/>
          </a:xfrm>
          <a:prstGeom prst="rect">
            <a:avLst/>
          </a:prstGeom>
          <a:noFill/>
          <a:ln/>
        </p:spPr>
        <p:txBody>
          <a:bodyPr wrap="square" lIns="0" tIns="0" rIns="0" bIns="0" rtlCol="0" anchor="t"/>
          <a:lstStyle/>
          <a:p>
            <a:pPr indent="0" marL="0">
              <a:buNone/>
            </a:pPr>
            <a:r>
              <a:rPr lang="en-US" sz="1140" dirty="0">
                <a:solidFill>
                  <a:srgbClr val="20242C"/>
                </a:solidFill>
                <a:latin typeface="Verdana" pitchFamily="34" charset="0"/>
                <a:ea typeface="Verdana" pitchFamily="34" charset="-122"/>
                <a:cs typeface="Verdana" pitchFamily="34" charset="-120"/>
              </a:rPr>
              <a:t>If the joint F-test rejects H0, we conclude that unemployment helps forecast inflation in the ADL(3,3) specification.</a:t>
            </a:r>
            <a:endParaRPr lang="en-US" sz="1140" dirty="0"/>
          </a:p>
        </p:txBody>
      </p:sp>
      <p:sp>
        <p:nvSpPr>
          <p:cNvPr id="18" name="Shape 16"/>
          <p:cNvSpPr/>
          <p:nvPr/>
        </p:nvSpPr>
        <p:spPr>
          <a:xfrm>
            <a:off x="1097280" y="4069080"/>
            <a:ext cx="6903720" cy="1188720"/>
          </a:xfrm>
          <a:prstGeom prst="roundRect">
            <a:avLst/>
          </a:prstGeom>
          <a:solidFill>
            <a:srgbClr val="FFFFFF"/>
          </a:solidFill>
          <a:ln w="12700">
            <a:solidFill>
              <a:srgbClr val="BFC7D3"/>
            </a:solidFill>
            <a:prstDash val="solid"/>
          </a:ln>
        </p:spPr>
      </p:sp>
      <p:sp>
        <p:nvSpPr>
          <p:cNvPr id="19" name="Text 17"/>
          <p:cNvSpPr/>
          <p:nvPr/>
        </p:nvSpPr>
        <p:spPr>
          <a:xfrm>
            <a:off x="1225296" y="4160520"/>
            <a:ext cx="66476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Economic meaning</a:t>
            </a:r>
            <a:endParaRPr lang="en-US" sz="1250" dirty="0"/>
          </a:p>
        </p:txBody>
      </p:sp>
      <p:sp>
        <p:nvSpPr>
          <p:cNvPr id="20" name="Text 18"/>
          <p:cNvSpPr/>
          <p:nvPr/>
        </p:nvSpPr>
        <p:spPr>
          <a:xfrm>
            <a:off x="1225296" y="4416552"/>
            <a:ext cx="6647688" cy="749808"/>
          </a:xfrm>
          <a:prstGeom prst="rect">
            <a:avLst/>
          </a:prstGeom>
          <a:noFill/>
          <a:ln/>
        </p:spPr>
        <p:txBody>
          <a:bodyPr wrap="square" lIns="0" tIns="0" rIns="0" bIns="0" rtlCol="0" anchor="t"/>
          <a:lstStyle/>
          <a:p>
            <a:pPr indent="0" marL="0">
              <a:buNone/>
            </a:pPr>
            <a:r>
              <a:rPr lang="en-US" sz="1120" dirty="0">
                <a:solidFill>
                  <a:srgbClr val="20242C"/>
                </a:solidFill>
                <a:latin typeface="Verdana" pitchFamily="34" charset="0"/>
                <a:ea typeface="Verdana" pitchFamily="34" charset="-122"/>
                <a:cs typeface="Verdana" pitchFamily="34" charset="-120"/>
              </a:rPr>
              <a:t>The test asks whether labor-market slack contains incremental forecasting information. It does not prove a deep structural Phillips curve by itself, but it is useful evidence for short-run prediction.</a:t>
            </a:r>
            <a:endParaRPr lang="en-US" sz="11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Data and Variable Construction</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Empirics</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06</a:t>
            </a:r>
            <a:endParaRPr lang="en-US" sz="900" dirty="0"/>
          </a:p>
        </p:txBody>
      </p:sp>
      <p:sp>
        <p:nvSpPr>
          <p:cNvPr id="9" name="Shape 7"/>
          <p:cNvSpPr/>
          <p:nvPr/>
        </p:nvSpPr>
        <p:spPr>
          <a:xfrm>
            <a:off x="685800" y="1005840"/>
            <a:ext cx="2011680" cy="438912"/>
          </a:xfrm>
          <a:prstGeom prst="rect">
            <a:avLst/>
          </a:prstGeom>
          <a:solidFill>
            <a:srgbClr val="333399"/>
          </a:solidFill>
          <a:ln w="12700">
            <a:solidFill>
              <a:srgbClr val="FFFFFF"/>
            </a:solidFill>
            <a:prstDash val="solid"/>
          </a:ln>
        </p:spPr>
      </p:sp>
      <p:sp>
        <p:nvSpPr>
          <p:cNvPr id="10" name="Text 8"/>
          <p:cNvSpPr/>
          <p:nvPr/>
        </p:nvSpPr>
        <p:spPr>
          <a:xfrm>
            <a:off x="722376" y="1042416"/>
            <a:ext cx="1938528" cy="365760"/>
          </a:xfrm>
          <a:prstGeom prst="rect">
            <a:avLst/>
          </a:prstGeom>
          <a:noFill/>
          <a:ln/>
        </p:spPr>
        <p:txBody>
          <a:bodyPr wrap="square" lIns="0" tIns="0" rIns="0" bIns="0" rtlCol="0" anchor="ctr"/>
          <a:lstStyle/>
          <a:p>
            <a:pPr algn="ctr" indent="0" marL="0">
              <a:buNone/>
            </a:pPr>
            <a:r>
              <a:rPr lang="en-US" sz="1120" b="1" dirty="0">
                <a:solidFill>
                  <a:srgbClr val="FFFFFF"/>
                </a:solidFill>
                <a:latin typeface="Verdana" pitchFamily="34" charset="0"/>
                <a:ea typeface="Verdana" pitchFamily="34" charset="-122"/>
                <a:cs typeface="Verdana" pitchFamily="34" charset="-120"/>
              </a:rPr>
              <a:t>Series</a:t>
            </a:r>
            <a:endParaRPr lang="en-US" sz="1120" dirty="0"/>
          </a:p>
        </p:txBody>
      </p:sp>
      <p:sp>
        <p:nvSpPr>
          <p:cNvPr id="11" name="Shape 9"/>
          <p:cNvSpPr/>
          <p:nvPr/>
        </p:nvSpPr>
        <p:spPr>
          <a:xfrm>
            <a:off x="2697480" y="1005840"/>
            <a:ext cx="5349240" cy="438912"/>
          </a:xfrm>
          <a:prstGeom prst="rect">
            <a:avLst/>
          </a:prstGeom>
          <a:solidFill>
            <a:srgbClr val="333399"/>
          </a:solidFill>
          <a:ln w="12700">
            <a:solidFill>
              <a:srgbClr val="FFFFFF"/>
            </a:solidFill>
            <a:prstDash val="solid"/>
          </a:ln>
        </p:spPr>
      </p:sp>
      <p:sp>
        <p:nvSpPr>
          <p:cNvPr id="12" name="Text 10"/>
          <p:cNvSpPr/>
          <p:nvPr/>
        </p:nvSpPr>
        <p:spPr>
          <a:xfrm>
            <a:off x="2734056" y="1042416"/>
            <a:ext cx="5276088" cy="365760"/>
          </a:xfrm>
          <a:prstGeom prst="rect">
            <a:avLst/>
          </a:prstGeom>
          <a:noFill/>
          <a:ln/>
        </p:spPr>
        <p:txBody>
          <a:bodyPr wrap="square" lIns="0" tIns="0" rIns="0" bIns="0" rtlCol="0" anchor="ctr"/>
          <a:lstStyle/>
          <a:p>
            <a:pPr algn="ctr" indent="0" marL="0">
              <a:buNone/>
            </a:pPr>
            <a:r>
              <a:rPr lang="en-US" sz="1120" b="1" dirty="0">
                <a:solidFill>
                  <a:srgbClr val="FFFFFF"/>
                </a:solidFill>
                <a:latin typeface="Verdana" pitchFamily="34" charset="0"/>
                <a:ea typeface="Verdana" pitchFamily="34" charset="-122"/>
                <a:cs typeface="Verdana" pitchFamily="34" charset="-120"/>
              </a:rPr>
              <a:t>Role in analysis</a:t>
            </a:r>
            <a:endParaRPr lang="en-US" sz="1120" dirty="0"/>
          </a:p>
        </p:txBody>
      </p:sp>
      <p:sp>
        <p:nvSpPr>
          <p:cNvPr id="13" name="Shape 11"/>
          <p:cNvSpPr/>
          <p:nvPr/>
        </p:nvSpPr>
        <p:spPr>
          <a:xfrm>
            <a:off x="685800" y="1444752"/>
            <a:ext cx="2011680" cy="438912"/>
          </a:xfrm>
          <a:prstGeom prst="rect">
            <a:avLst/>
          </a:prstGeom>
          <a:solidFill>
            <a:srgbClr val="FFFFFF"/>
          </a:solidFill>
          <a:ln w="12700">
            <a:solidFill>
              <a:srgbClr val="BFC7D3"/>
            </a:solidFill>
            <a:prstDash val="solid"/>
          </a:ln>
        </p:spPr>
      </p:sp>
      <p:sp>
        <p:nvSpPr>
          <p:cNvPr id="14" name="Text 12"/>
          <p:cNvSpPr/>
          <p:nvPr/>
        </p:nvSpPr>
        <p:spPr>
          <a:xfrm>
            <a:off x="722376" y="1481328"/>
            <a:ext cx="1938528" cy="365760"/>
          </a:xfrm>
          <a:prstGeom prst="rect">
            <a:avLst/>
          </a:prstGeom>
          <a:noFill/>
          <a:ln/>
        </p:spPr>
        <p:txBody>
          <a:bodyPr wrap="square" lIns="0" tIns="0" rIns="0" bIns="0" rtlCol="0" anchor="ctr"/>
          <a:lstStyle/>
          <a:p>
            <a:pPr algn="ctr" indent="0" marL="0">
              <a:buNone/>
            </a:pPr>
            <a:r>
              <a:rPr lang="en-US" sz="1120" dirty="0">
                <a:solidFill>
                  <a:srgbClr val="20242C"/>
                </a:solidFill>
                <a:latin typeface="Verdana" pitchFamily="34" charset="0"/>
                <a:ea typeface="Verdana" pitchFamily="34" charset="-122"/>
                <a:cs typeface="Verdana" pitchFamily="34" charset="-120"/>
              </a:rPr>
              <a:t>CPIAUCSL</a:t>
            </a:r>
            <a:endParaRPr lang="en-US" sz="1120" dirty="0"/>
          </a:p>
        </p:txBody>
      </p:sp>
      <p:sp>
        <p:nvSpPr>
          <p:cNvPr id="15" name="Shape 13"/>
          <p:cNvSpPr/>
          <p:nvPr/>
        </p:nvSpPr>
        <p:spPr>
          <a:xfrm>
            <a:off x="2697480" y="1444752"/>
            <a:ext cx="5349240" cy="438912"/>
          </a:xfrm>
          <a:prstGeom prst="rect">
            <a:avLst/>
          </a:prstGeom>
          <a:solidFill>
            <a:srgbClr val="FFFFFF"/>
          </a:solidFill>
          <a:ln w="12700">
            <a:solidFill>
              <a:srgbClr val="BFC7D3"/>
            </a:solidFill>
            <a:prstDash val="solid"/>
          </a:ln>
        </p:spPr>
      </p:sp>
      <p:sp>
        <p:nvSpPr>
          <p:cNvPr id="16" name="Text 14"/>
          <p:cNvSpPr/>
          <p:nvPr/>
        </p:nvSpPr>
        <p:spPr>
          <a:xfrm>
            <a:off x="2734056" y="1481328"/>
            <a:ext cx="5276088" cy="365760"/>
          </a:xfrm>
          <a:prstGeom prst="rect">
            <a:avLst/>
          </a:prstGeom>
          <a:noFill/>
          <a:ln/>
        </p:spPr>
        <p:txBody>
          <a:bodyPr wrap="square" lIns="0" tIns="0" rIns="0" bIns="0" rtlCol="0" anchor="ctr"/>
          <a:lstStyle/>
          <a:p>
            <a:pPr algn="ctr" indent="0" marL="0">
              <a:buNone/>
            </a:pPr>
            <a:r>
              <a:rPr lang="en-US" sz="1120" dirty="0">
                <a:solidFill>
                  <a:srgbClr val="20242C"/>
                </a:solidFill>
                <a:latin typeface="Verdana" pitchFamily="34" charset="0"/>
                <a:ea typeface="Verdana" pitchFamily="34" charset="-122"/>
                <a:cs typeface="Verdana" pitchFamily="34" charset="-120"/>
              </a:rPr>
              <a:t>Used to construct inflation</a:t>
            </a:r>
            <a:endParaRPr lang="en-US" sz="1120" dirty="0"/>
          </a:p>
        </p:txBody>
      </p:sp>
      <p:sp>
        <p:nvSpPr>
          <p:cNvPr id="17" name="Shape 15"/>
          <p:cNvSpPr/>
          <p:nvPr/>
        </p:nvSpPr>
        <p:spPr>
          <a:xfrm>
            <a:off x="685800" y="1883664"/>
            <a:ext cx="2011680" cy="438912"/>
          </a:xfrm>
          <a:prstGeom prst="rect">
            <a:avLst/>
          </a:prstGeom>
          <a:solidFill>
            <a:srgbClr val="EEF3F8"/>
          </a:solidFill>
          <a:ln w="12700">
            <a:solidFill>
              <a:srgbClr val="BFC7D3"/>
            </a:solidFill>
            <a:prstDash val="solid"/>
          </a:ln>
        </p:spPr>
      </p:sp>
      <p:sp>
        <p:nvSpPr>
          <p:cNvPr id="18" name="Text 16"/>
          <p:cNvSpPr/>
          <p:nvPr/>
        </p:nvSpPr>
        <p:spPr>
          <a:xfrm>
            <a:off x="722376" y="1920240"/>
            <a:ext cx="1938528" cy="365760"/>
          </a:xfrm>
          <a:prstGeom prst="rect">
            <a:avLst/>
          </a:prstGeom>
          <a:noFill/>
          <a:ln/>
        </p:spPr>
        <p:txBody>
          <a:bodyPr wrap="square" lIns="0" tIns="0" rIns="0" bIns="0" rtlCol="0" anchor="ctr"/>
          <a:lstStyle/>
          <a:p>
            <a:pPr algn="ctr" indent="0" marL="0">
              <a:buNone/>
            </a:pPr>
            <a:r>
              <a:rPr lang="en-US" sz="1120" dirty="0">
                <a:solidFill>
                  <a:srgbClr val="20242C"/>
                </a:solidFill>
                <a:latin typeface="Verdana" pitchFamily="34" charset="0"/>
                <a:ea typeface="Verdana" pitchFamily="34" charset="-122"/>
                <a:cs typeface="Verdana" pitchFamily="34" charset="-120"/>
              </a:rPr>
              <a:t>UNRATE</a:t>
            </a:r>
            <a:endParaRPr lang="en-US" sz="1120" dirty="0"/>
          </a:p>
        </p:txBody>
      </p:sp>
      <p:sp>
        <p:nvSpPr>
          <p:cNvPr id="19" name="Shape 17"/>
          <p:cNvSpPr/>
          <p:nvPr/>
        </p:nvSpPr>
        <p:spPr>
          <a:xfrm>
            <a:off x="2697480" y="1883664"/>
            <a:ext cx="5349240" cy="438912"/>
          </a:xfrm>
          <a:prstGeom prst="rect">
            <a:avLst/>
          </a:prstGeom>
          <a:solidFill>
            <a:srgbClr val="EEF3F8"/>
          </a:solidFill>
          <a:ln w="12700">
            <a:solidFill>
              <a:srgbClr val="BFC7D3"/>
            </a:solidFill>
            <a:prstDash val="solid"/>
          </a:ln>
        </p:spPr>
      </p:sp>
      <p:sp>
        <p:nvSpPr>
          <p:cNvPr id="20" name="Text 18"/>
          <p:cNvSpPr/>
          <p:nvPr/>
        </p:nvSpPr>
        <p:spPr>
          <a:xfrm>
            <a:off x="2734056" y="1920240"/>
            <a:ext cx="5276088" cy="365760"/>
          </a:xfrm>
          <a:prstGeom prst="rect">
            <a:avLst/>
          </a:prstGeom>
          <a:noFill/>
          <a:ln/>
        </p:spPr>
        <p:txBody>
          <a:bodyPr wrap="square" lIns="0" tIns="0" rIns="0" bIns="0" rtlCol="0" anchor="ctr"/>
          <a:lstStyle/>
          <a:p>
            <a:pPr algn="ctr" indent="0" marL="0">
              <a:buNone/>
            </a:pPr>
            <a:r>
              <a:rPr lang="en-US" sz="1120" dirty="0">
                <a:solidFill>
                  <a:srgbClr val="20242C"/>
                </a:solidFill>
                <a:latin typeface="Verdana" pitchFamily="34" charset="0"/>
                <a:ea typeface="Verdana" pitchFamily="34" charset="-122"/>
                <a:cs typeface="Verdana" pitchFamily="34" charset="-120"/>
              </a:rPr>
              <a:t>Predictor in the ADL model</a:t>
            </a:r>
            <a:endParaRPr lang="en-US" sz="1120" dirty="0"/>
          </a:p>
        </p:txBody>
      </p:sp>
      <p:sp>
        <p:nvSpPr>
          <p:cNvPr id="21" name="Shape 19"/>
          <p:cNvSpPr/>
          <p:nvPr/>
        </p:nvSpPr>
        <p:spPr>
          <a:xfrm>
            <a:off x="685800" y="2322576"/>
            <a:ext cx="2011680" cy="438912"/>
          </a:xfrm>
          <a:prstGeom prst="rect">
            <a:avLst/>
          </a:prstGeom>
          <a:solidFill>
            <a:srgbClr val="FFFFFF"/>
          </a:solidFill>
          <a:ln w="12700">
            <a:solidFill>
              <a:srgbClr val="BFC7D3"/>
            </a:solidFill>
            <a:prstDash val="solid"/>
          </a:ln>
        </p:spPr>
      </p:sp>
      <p:sp>
        <p:nvSpPr>
          <p:cNvPr id="22" name="Text 20"/>
          <p:cNvSpPr/>
          <p:nvPr/>
        </p:nvSpPr>
        <p:spPr>
          <a:xfrm>
            <a:off x="722376" y="2359152"/>
            <a:ext cx="1938528" cy="365760"/>
          </a:xfrm>
          <a:prstGeom prst="rect">
            <a:avLst/>
          </a:prstGeom>
          <a:noFill/>
          <a:ln/>
        </p:spPr>
        <p:txBody>
          <a:bodyPr wrap="square" lIns="0" tIns="0" rIns="0" bIns="0" rtlCol="0" anchor="ctr"/>
          <a:lstStyle/>
          <a:p>
            <a:pPr algn="ctr" indent="0" marL="0">
              <a:buNone/>
            </a:pPr>
            <a:r>
              <a:rPr lang="en-US" sz="1120" dirty="0">
                <a:solidFill>
                  <a:srgbClr val="20242C"/>
                </a:solidFill>
                <a:latin typeface="Verdana" pitchFamily="34" charset="0"/>
                <a:ea typeface="Verdana" pitchFamily="34" charset="-122"/>
                <a:cs typeface="Verdana" pitchFamily="34" charset="-120"/>
              </a:rPr>
              <a:t>infl_t</a:t>
            </a:r>
            <a:endParaRPr lang="en-US" sz="1120" dirty="0"/>
          </a:p>
        </p:txBody>
      </p:sp>
      <p:sp>
        <p:nvSpPr>
          <p:cNvPr id="23" name="Shape 21"/>
          <p:cNvSpPr/>
          <p:nvPr/>
        </p:nvSpPr>
        <p:spPr>
          <a:xfrm>
            <a:off x="2697480" y="2322576"/>
            <a:ext cx="5349240" cy="438912"/>
          </a:xfrm>
          <a:prstGeom prst="rect">
            <a:avLst/>
          </a:prstGeom>
          <a:solidFill>
            <a:srgbClr val="FFFFFF"/>
          </a:solidFill>
          <a:ln w="12700">
            <a:solidFill>
              <a:srgbClr val="BFC7D3"/>
            </a:solidFill>
            <a:prstDash val="solid"/>
          </a:ln>
        </p:spPr>
      </p:sp>
      <p:sp>
        <p:nvSpPr>
          <p:cNvPr id="24" name="Text 22"/>
          <p:cNvSpPr/>
          <p:nvPr/>
        </p:nvSpPr>
        <p:spPr>
          <a:xfrm>
            <a:off x="2734056" y="2359152"/>
            <a:ext cx="5276088" cy="365760"/>
          </a:xfrm>
          <a:prstGeom prst="rect">
            <a:avLst/>
          </a:prstGeom>
          <a:noFill/>
          <a:ln/>
        </p:spPr>
        <p:txBody>
          <a:bodyPr wrap="square" lIns="0" tIns="0" rIns="0" bIns="0" rtlCol="0" anchor="ctr"/>
          <a:lstStyle/>
          <a:p>
            <a:pPr algn="ctr" indent="0" marL="0">
              <a:buNone/>
            </a:pPr>
            <a:r>
              <a:rPr lang="en-US" sz="1120" dirty="0">
                <a:solidFill>
                  <a:srgbClr val="20242C"/>
                </a:solidFill>
                <a:latin typeface="Verdana" pitchFamily="34" charset="0"/>
                <a:ea typeface="Verdana" pitchFamily="34" charset="-122"/>
                <a:cs typeface="Verdana" pitchFamily="34" charset="-120"/>
              </a:rPr>
              <a:t>Annualized quarterly inflation rate</a:t>
            </a:r>
            <a:endParaRPr lang="en-US" sz="1120" dirty="0"/>
          </a:p>
        </p:txBody>
      </p:sp>
      <p:sp>
        <p:nvSpPr>
          <p:cNvPr id="25" name="Shape 23"/>
          <p:cNvSpPr/>
          <p:nvPr/>
        </p:nvSpPr>
        <p:spPr>
          <a:xfrm>
            <a:off x="713232" y="2880360"/>
            <a:ext cx="3154680" cy="1417320"/>
          </a:xfrm>
          <a:prstGeom prst="roundRect">
            <a:avLst/>
          </a:prstGeom>
          <a:solidFill>
            <a:srgbClr val="FFFFFF"/>
          </a:solidFill>
          <a:ln w="12700">
            <a:solidFill>
              <a:srgbClr val="BFC7D3"/>
            </a:solidFill>
            <a:prstDash val="solid"/>
          </a:ln>
        </p:spPr>
      </p:sp>
      <p:sp>
        <p:nvSpPr>
          <p:cNvPr id="26" name="Text 24"/>
          <p:cNvSpPr/>
          <p:nvPr/>
        </p:nvSpPr>
        <p:spPr>
          <a:xfrm>
            <a:off x="841248" y="2971800"/>
            <a:ext cx="289864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Inflation formula</a:t>
            </a:r>
            <a:endParaRPr lang="en-US" sz="1250" dirty="0"/>
          </a:p>
        </p:txBody>
      </p:sp>
      <p:sp>
        <p:nvSpPr>
          <p:cNvPr id="27" name="Text 25"/>
          <p:cNvSpPr/>
          <p:nvPr/>
        </p:nvSpPr>
        <p:spPr>
          <a:xfrm>
            <a:off x="841248" y="3227832"/>
            <a:ext cx="2898648" cy="978408"/>
          </a:xfrm>
          <a:prstGeom prst="rect">
            <a:avLst/>
          </a:prstGeom>
          <a:noFill/>
          <a:ln/>
        </p:spPr>
        <p:txBody>
          <a:bodyPr wrap="square" lIns="0" tIns="0" rIns="0" bIns="0" rtlCol="0" anchor="t"/>
          <a:lstStyle/>
          <a:p>
            <a:pPr indent="0" marL="0">
              <a:buNone/>
            </a:pPr>
            <a:r>
              <a:rPr lang="en-US" sz="1220" dirty="0">
                <a:solidFill>
                  <a:srgbClr val="20242C"/>
                </a:solidFill>
                <a:latin typeface="Verdana" pitchFamily="34" charset="0"/>
                <a:ea typeface="Verdana" pitchFamily="34" charset="-122"/>
                <a:cs typeface="Verdana" pitchFamily="34" charset="-120"/>
              </a:rPr>
              <a:t>infl_t = (ln(cpiaucsl_t) - ln(cpiaucsl_{t-1})) * 400</a:t>
            </a:r>
            <a:endParaRPr lang="en-US" sz="1220" dirty="0"/>
          </a:p>
        </p:txBody>
      </p:sp>
      <p:sp>
        <p:nvSpPr>
          <p:cNvPr id="28" name="Shape 26"/>
          <p:cNvSpPr/>
          <p:nvPr/>
        </p:nvSpPr>
        <p:spPr>
          <a:xfrm>
            <a:off x="4096512" y="2880360"/>
            <a:ext cx="1874520" cy="1417320"/>
          </a:xfrm>
          <a:prstGeom prst="roundRect">
            <a:avLst/>
          </a:prstGeom>
          <a:solidFill>
            <a:srgbClr val="DAEDEF"/>
          </a:solidFill>
          <a:ln w="12700">
            <a:solidFill>
              <a:srgbClr val="BFC7D3"/>
            </a:solidFill>
            <a:prstDash val="solid"/>
          </a:ln>
        </p:spPr>
      </p:sp>
      <p:sp>
        <p:nvSpPr>
          <p:cNvPr id="29" name="Text 27"/>
          <p:cNvSpPr/>
          <p:nvPr/>
        </p:nvSpPr>
        <p:spPr>
          <a:xfrm>
            <a:off x="4224528" y="2971800"/>
            <a:ext cx="16184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Sample</a:t>
            </a:r>
            <a:endParaRPr lang="en-US" sz="1250" dirty="0"/>
          </a:p>
        </p:txBody>
      </p:sp>
      <p:sp>
        <p:nvSpPr>
          <p:cNvPr id="30" name="Text 28"/>
          <p:cNvSpPr/>
          <p:nvPr/>
        </p:nvSpPr>
        <p:spPr>
          <a:xfrm>
            <a:off x="4224528" y="3227832"/>
            <a:ext cx="1618488" cy="978408"/>
          </a:xfrm>
          <a:prstGeom prst="rect">
            <a:avLst/>
          </a:prstGeom>
          <a:noFill/>
          <a:ln/>
        </p:spPr>
        <p:txBody>
          <a:bodyPr wrap="square" lIns="0" tIns="0" rIns="0" bIns="0" rtlCol="0" anchor="t"/>
          <a:lstStyle/>
          <a:p>
            <a:pPr indent="0" marL="0">
              <a:buNone/>
            </a:pPr>
            <a:r>
              <a:rPr lang="en-US" sz="1120" dirty="0">
                <a:solidFill>
                  <a:srgbClr val="20242C"/>
                </a:solidFill>
                <a:latin typeface="Verdana" pitchFamily="34" charset="0"/>
                <a:ea typeface="Verdana" pitchFamily="34" charset="-122"/>
                <a:cs typeface="Verdana" pitchFamily="34" charset="-120"/>
              </a:rPr>
              <a:t>1970Q1 to 2019Q4</a:t>
            </a:r>
            <a:endParaRPr lang="en-US" sz="1120" dirty="0"/>
          </a:p>
          <a:p>
            <a:pPr indent="0" marL="0">
              <a:buNone/>
            </a:pPr>
            <a:endParaRPr lang="en-US" sz="1120" dirty="0"/>
          </a:p>
          <a:p>
            <a:pPr indent="0" marL="0">
              <a:buNone/>
            </a:pPr>
            <a:r>
              <a:rPr lang="en-US" sz="1120" dirty="0">
                <a:solidFill>
                  <a:srgbClr val="20242C"/>
                </a:solidFill>
                <a:latin typeface="Verdana" pitchFamily="34" charset="0"/>
                <a:ea typeface="Verdana" pitchFamily="34" charset="-122"/>
                <a:cs typeface="Verdana" pitchFamily="34" charset="-120"/>
              </a:rPr>
              <a:t>200 quarterly observations</a:t>
            </a:r>
            <a:endParaRPr lang="en-US" sz="1120" dirty="0"/>
          </a:p>
        </p:txBody>
      </p:sp>
      <p:sp>
        <p:nvSpPr>
          <p:cNvPr id="31" name="Shape 29"/>
          <p:cNvSpPr/>
          <p:nvPr/>
        </p:nvSpPr>
        <p:spPr>
          <a:xfrm>
            <a:off x="6217920" y="2880360"/>
            <a:ext cx="1965960" cy="1417320"/>
          </a:xfrm>
          <a:prstGeom prst="roundRect">
            <a:avLst/>
          </a:prstGeom>
          <a:solidFill>
            <a:srgbClr val="FFFFFF"/>
          </a:solidFill>
          <a:ln w="12700">
            <a:solidFill>
              <a:srgbClr val="BFC7D3"/>
            </a:solidFill>
            <a:prstDash val="solid"/>
          </a:ln>
        </p:spPr>
      </p:sp>
      <p:sp>
        <p:nvSpPr>
          <p:cNvPr id="32" name="Text 30"/>
          <p:cNvSpPr/>
          <p:nvPr/>
        </p:nvSpPr>
        <p:spPr>
          <a:xfrm>
            <a:off x="6345936" y="2971800"/>
            <a:ext cx="170992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Lag handling</a:t>
            </a:r>
            <a:endParaRPr lang="en-US" sz="1250" dirty="0"/>
          </a:p>
        </p:txBody>
      </p:sp>
      <p:sp>
        <p:nvSpPr>
          <p:cNvPr id="33" name="Text 31"/>
          <p:cNvSpPr/>
          <p:nvPr/>
        </p:nvSpPr>
        <p:spPr>
          <a:xfrm>
            <a:off x="6345936" y="3227832"/>
            <a:ext cx="1709928" cy="978408"/>
          </a:xfrm>
          <a:prstGeom prst="rect">
            <a:avLst/>
          </a:prstGeom>
          <a:noFill/>
          <a:ln/>
        </p:spPr>
        <p:txBody>
          <a:bodyPr wrap="square" lIns="0" tIns="0" rIns="0" bIns="0" rtlCol="0" anchor="t"/>
          <a:lstStyle/>
          <a:p>
            <a:pPr indent="0" marL="0">
              <a:buNone/>
            </a:pPr>
            <a:r>
              <a:rPr lang="en-US" sz="1110" dirty="0">
                <a:solidFill>
                  <a:srgbClr val="20242C"/>
                </a:solidFill>
                <a:latin typeface="Verdana" pitchFamily="34" charset="0"/>
                <a:ea typeface="Verdana" pitchFamily="34" charset="-122"/>
                <a:cs typeface="Verdana" pitchFamily="34" charset="-120"/>
              </a:rPr>
              <a:t>Pre-1970 data are used only as initial values for lagged regressors.</a:t>
            </a:r>
            <a:endParaRPr lang="en-US" sz="1110" dirty="0"/>
          </a:p>
        </p:txBody>
      </p:sp>
      <p:sp>
        <p:nvSpPr>
          <p:cNvPr id="34" name="Shape 32"/>
          <p:cNvSpPr/>
          <p:nvPr/>
        </p:nvSpPr>
        <p:spPr>
          <a:xfrm>
            <a:off x="868680" y="4617720"/>
            <a:ext cx="7315200" cy="868680"/>
          </a:xfrm>
          <a:prstGeom prst="roundRect">
            <a:avLst/>
          </a:prstGeom>
          <a:solidFill>
            <a:srgbClr val="FFFFFF"/>
          </a:solidFill>
          <a:ln w="12700">
            <a:solidFill>
              <a:srgbClr val="BFC7D3"/>
            </a:solidFill>
            <a:prstDash val="solid"/>
          </a:ln>
        </p:spPr>
      </p:sp>
      <p:sp>
        <p:nvSpPr>
          <p:cNvPr id="35" name="Text 33"/>
          <p:cNvSpPr/>
          <p:nvPr/>
        </p:nvSpPr>
        <p:spPr>
          <a:xfrm>
            <a:off x="996696" y="4709160"/>
            <a:ext cx="70591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Empirical goal</a:t>
            </a:r>
            <a:endParaRPr lang="en-US" sz="1250" dirty="0"/>
          </a:p>
        </p:txBody>
      </p:sp>
      <p:sp>
        <p:nvSpPr>
          <p:cNvPr id="36" name="Text 34"/>
          <p:cNvSpPr/>
          <p:nvPr/>
        </p:nvSpPr>
        <p:spPr>
          <a:xfrm>
            <a:off x="996696" y="4965192"/>
            <a:ext cx="7059168" cy="429768"/>
          </a:xfrm>
          <a:prstGeom prst="rect">
            <a:avLst/>
          </a:prstGeom>
          <a:noFill/>
          <a:ln/>
        </p:spPr>
        <p:txBody>
          <a:bodyPr wrap="square" lIns="0" tIns="0" rIns="0" bIns="0" rtlCol="0" anchor="t"/>
          <a:lstStyle/>
          <a:p>
            <a:pPr indent="0" marL="0">
              <a:buNone/>
            </a:pPr>
            <a:r>
              <a:rPr lang="en-US" sz="1140" dirty="0">
                <a:solidFill>
                  <a:srgbClr val="20242C"/>
                </a:solidFill>
                <a:latin typeface="Verdana" pitchFamily="34" charset="0"/>
                <a:ea typeface="Verdana" pitchFamily="34" charset="-122"/>
                <a:cs typeface="Verdana" pitchFamily="34" charset="-120"/>
              </a:rPr>
              <a:t>Forecast inflation, choose lag lengths with AIC/BIC, and test whether unemployment Granger-causes inflation.</a:t>
            </a:r>
            <a:endParaRPr lang="en-US" sz="11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Stata Implementation</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Workflow</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07</a:t>
            </a:r>
            <a:endParaRPr lang="en-US" sz="900" dirty="0"/>
          </a:p>
        </p:txBody>
      </p:sp>
      <p:sp>
        <p:nvSpPr>
          <p:cNvPr id="9" name="Shape 7"/>
          <p:cNvSpPr/>
          <p:nvPr/>
        </p:nvSpPr>
        <p:spPr>
          <a:xfrm>
            <a:off x="621792" y="960120"/>
            <a:ext cx="3749040" cy="2331720"/>
          </a:xfrm>
          <a:prstGeom prst="roundRect">
            <a:avLst/>
          </a:prstGeom>
          <a:solidFill>
            <a:srgbClr val="F3F6FB"/>
          </a:solidFill>
          <a:ln w="12700">
            <a:solidFill>
              <a:srgbClr val="BFC7D3"/>
            </a:solidFill>
            <a:prstDash val="solid"/>
          </a:ln>
        </p:spPr>
      </p:sp>
      <p:sp>
        <p:nvSpPr>
          <p:cNvPr id="10" name="Text 8"/>
          <p:cNvSpPr/>
          <p:nvPr/>
        </p:nvSpPr>
        <p:spPr>
          <a:xfrm>
            <a:off x="749808" y="1033272"/>
            <a:ext cx="3493008" cy="182880"/>
          </a:xfrm>
          <a:prstGeom prst="rect">
            <a:avLst/>
          </a:prstGeom>
          <a:noFill/>
          <a:ln/>
        </p:spPr>
        <p:txBody>
          <a:bodyPr wrap="square" lIns="0" tIns="0" rIns="0" bIns="0" rtlCol="0" anchor="ctr"/>
          <a:lstStyle/>
          <a:p>
            <a:pPr indent="0" marL="0">
              <a:buNone/>
            </a:pPr>
            <a:r>
              <a:rPr lang="en-US" sz="1100" b="1" dirty="0">
                <a:solidFill>
                  <a:srgbClr val="333399"/>
                </a:solidFill>
                <a:latin typeface="Verdana" pitchFamily="34" charset="0"/>
                <a:ea typeface="Verdana" pitchFamily="34" charset="-122"/>
                <a:cs typeface="Verdana" pitchFamily="34" charset="-120"/>
              </a:rPr>
              <a:t>Data preparation</a:t>
            </a:r>
            <a:endParaRPr lang="en-US" sz="1100" dirty="0"/>
          </a:p>
        </p:txBody>
      </p:sp>
      <p:sp>
        <p:nvSpPr>
          <p:cNvPr id="11" name="Text 9"/>
          <p:cNvSpPr/>
          <p:nvPr/>
        </p:nvSpPr>
        <p:spPr>
          <a:xfrm>
            <a:off x="749808" y="1271016"/>
            <a:ext cx="3493008" cy="1947672"/>
          </a:xfrm>
          <a:prstGeom prst="rect">
            <a:avLst/>
          </a:prstGeom>
          <a:noFill/>
          <a:ln/>
        </p:spPr>
        <p:txBody>
          <a:bodyPr wrap="square" lIns="0" tIns="0" rIns="0" bIns="0" rtlCol="0" anchor="t"/>
          <a:lstStyle/>
          <a:p>
            <a:pPr indent="0" marL="0">
              <a:buNone/>
            </a:pPr>
            <a:r>
              <a:rPr lang="en-US" sz="1020" dirty="0">
                <a:solidFill>
                  <a:srgbClr val="20242C"/>
                </a:solidFill>
                <a:latin typeface="Menlo" pitchFamily="34" charset="0"/>
                <a:ea typeface="Menlo" pitchFamily="34" charset="-122"/>
                <a:cs typeface="Menlo" pitchFamily="34" charset="-120"/>
              </a:rPr>
              <a:t>tsset quarter_date</a:t>
            </a: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gen infl = (ln(cpiaucsl) - ln(L.cpiaucsl)) * 400</a:t>
            </a: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forvalues i = 1/4 {</a:t>
            </a: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    gen infl_lag`i' = L`i'.infl</a:t>
            </a: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    gen unrate_lag`i' = L`i'.unrate</a:t>
            </a: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a:t>
            </a: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keep if tin(1970q1, 2019q4)</a:t>
            </a:r>
            <a:endParaRPr lang="en-US" sz="1020" dirty="0"/>
          </a:p>
        </p:txBody>
      </p:sp>
      <p:sp>
        <p:nvSpPr>
          <p:cNvPr id="12" name="Shape 10"/>
          <p:cNvSpPr/>
          <p:nvPr/>
        </p:nvSpPr>
        <p:spPr>
          <a:xfrm>
            <a:off x="4663440" y="960120"/>
            <a:ext cx="3840480" cy="2331720"/>
          </a:xfrm>
          <a:prstGeom prst="roundRect">
            <a:avLst/>
          </a:prstGeom>
          <a:solidFill>
            <a:srgbClr val="F3F6FB"/>
          </a:solidFill>
          <a:ln w="12700">
            <a:solidFill>
              <a:srgbClr val="BFC7D3"/>
            </a:solidFill>
            <a:prstDash val="solid"/>
          </a:ln>
        </p:spPr>
      </p:sp>
      <p:sp>
        <p:nvSpPr>
          <p:cNvPr id="13" name="Text 11"/>
          <p:cNvSpPr/>
          <p:nvPr/>
        </p:nvSpPr>
        <p:spPr>
          <a:xfrm>
            <a:off x="4791456" y="1033272"/>
            <a:ext cx="3584448" cy="182880"/>
          </a:xfrm>
          <a:prstGeom prst="rect">
            <a:avLst/>
          </a:prstGeom>
          <a:noFill/>
          <a:ln/>
        </p:spPr>
        <p:txBody>
          <a:bodyPr wrap="square" lIns="0" tIns="0" rIns="0" bIns="0" rtlCol="0" anchor="ctr"/>
          <a:lstStyle/>
          <a:p>
            <a:pPr indent="0" marL="0">
              <a:buNone/>
            </a:pPr>
            <a:r>
              <a:rPr lang="en-US" sz="1100" b="1" dirty="0">
                <a:solidFill>
                  <a:srgbClr val="333399"/>
                </a:solidFill>
                <a:latin typeface="Verdana" pitchFamily="34" charset="0"/>
                <a:ea typeface="Verdana" pitchFamily="34" charset="-122"/>
                <a:cs typeface="Verdana" pitchFamily="34" charset="-120"/>
              </a:rPr>
              <a:t>Model comparison and test</a:t>
            </a:r>
            <a:endParaRPr lang="en-US" sz="1100" dirty="0"/>
          </a:p>
        </p:txBody>
      </p:sp>
      <p:sp>
        <p:nvSpPr>
          <p:cNvPr id="14" name="Text 12"/>
          <p:cNvSpPr/>
          <p:nvPr/>
        </p:nvSpPr>
        <p:spPr>
          <a:xfrm>
            <a:off x="4791456" y="1271016"/>
            <a:ext cx="3584448" cy="1947672"/>
          </a:xfrm>
          <a:prstGeom prst="rect">
            <a:avLst/>
          </a:prstGeom>
          <a:noFill/>
          <a:ln/>
        </p:spPr>
        <p:txBody>
          <a:bodyPr wrap="square" lIns="0" tIns="0" rIns="0" bIns="0" rtlCol="0" anchor="t"/>
          <a:lstStyle/>
          <a:p>
            <a:pPr indent="0" marL="0">
              <a:buNone/>
            </a:pPr>
            <a:r>
              <a:rPr lang="en-US" sz="1020" dirty="0">
                <a:solidFill>
                  <a:srgbClr val="20242C"/>
                </a:solidFill>
                <a:latin typeface="Menlo" pitchFamily="34" charset="0"/>
                <a:ea typeface="Menlo" pitchFamily="34" charset="-122"/>
                <a:cs typeface="Menlo" pitchFamily="34" charset="-120"/>
              </a:rPr>
              <a:t>forvalues p = 0/4 {</a:t>
            </a: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    regress infl infl_lag1 ... infl_lag`p'</a:t>
            </a: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    estat ic</a:t>
            </a: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a:t>
            </a:r>
            <a:endParaRPr lang="en-US" sz="1020" dirty="0"/>
          </a:p>
          <a:p>
            <a:pPr indent="0" marL="0">
              <a:buNone/>
            </a:pP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regress infl infl_lag1 infl_lag2 infl_lag3 \</a:t>
            </a: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       unrate unrate_lag1 unrate_lag2 unrate_lag3</a:t>
            </a:r>
            <a:endParaRPr lang="en-US" sz="1020" dirty="0"/>
          </a:p>
          <a:p>
            <a:pPr indent="0" marL="0">
              <a:buNone/>
            </a:pPr>
            <a:r>
              <a:rPr lang="en-US" sz="1020" dirty="0">
                <a:solidFill>
                  <a:srgbClr val="20242C"/>
                </a:solidFill>
                <a:latin typeface="Menlo" pitchFamily="34" charset="0"/>
                <a:ea typeface="Menlo" pitchFamily="34" charset="-122"/>
                <a:cs typeface="Menlo" pitchFamily="34" charset="-120"/>
              </a:rPr>
              <a:t>test unrate_lag1 unrate_lag2 unrate_lag3</a:t>
            </a:r>
            <a:endParaRPr lang="en-US" sz="1020" dirty="0"/>
          </a:p>
        </p:txBody>
      </p:sp>
      <p:sp>
        <p:nvSpPr>
          <p:cNvPr id="15" name="Shape 13"/>
          <p:cNvSpPr/>
          <p:nvPr/>
        </p:nvSpPr>
        <p:spPr>
          <a:xfrm>
            <a:off x="868680" y="3749040"/>
            <a:ext cx="7315200" cy="1371600"/>
          </a:xfrm>
          <a:prstGeom prst="roundRect">
            <a:avLst/>
          </a:prstGeom>
          <a:solidFill>
            <a:srgbClr val="FFFFFF"/>
          </a:solidFill>
          <a:ln w="12700">
            <a:solidFill>
              <a:srgbClr val="BFC7D3"/>
            </a:solidFill>
            <a:prstDash val="solid"/>
          </a:ln>
        </p:spPr>
      </p:sp>
      <p:sp>
        <p:nvSpPr>
          <p:cNvPr id="16" name="Text 14"/>
          <p:cNvSpPr/>
          <p:nvPr/>
        </p:nvSpPr>
        <p:spPr>
          <a:xfrm>
            <a:off x="996696" y="3840480"/>
            <a:ext cx="70591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Important implementation detail</a:t>
            </a:r>
            <a:endParaRPr lang="en-US" sz="1250" dirty="0"/>
          </a:p>
        </p:txBody>
      </p:sp>
      <p:sp>
        <p:nvSpPr>
          <p:cNvPr id="17" name="Text 15"/>
          <p:cNvSpPr/>
          <p:nvPr/>
        </p:nvSpPr>
        <p:spPr>
          <a:xfrm>
            <a:off x="996696" y="4096512"/>
            <a:ext cx="7059168" cy="932688"/>
          </a:xfrm>
          <a:prstGeom prst="rect">
            <a:avLst/>
          </a:prstGeom>
          <a:noFill/>
          <a:ln/>
        </p:spPr>
        <p:txBody>
          <a:bodyPr wrap="square" lIns="0" tIns="0" rIns="0" bIns="0" rtlCol="0" anchor="t"/>
          <a:lstStyle/>
          <a:p>
            <a:pPr indent="0" marL="0">
              <a:buNone/>
            </a:pPr>
            <a:r>
              <a:rPr lang="en-US" sz="1120" dirty="0">
                <a:solidFill>
                  <a:srgbClr val="20242C"/>
                </a:solidFill>
                <a:latin typeface="Verdana" pitchFamily="34" charset="0"/>
                <a:ea typeface="Verdana" pitchFamily="34" charset="-122"/>
                <a:cs typeface="Verdana" pitchFamily="34" charset="-120"/>
              </a:rPr>
              <a:t>We generate lagged variables before restricting the sample. That keeps the comparison sample fixed at 200 observations, exactly as the assignment instructions require.</a:t>
            </a:r>
            <a:endParaRPr lang="en-US" sz="11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Data Overview</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Plots</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08</a:t>
            </a:r>
            <a:endParaRPr lang="en-US" sz="900" dirty="0"/>
          </a:p>
        </p:txBody>
      </p:sp>
      <p:pic>
        <p:nvPicPr>
          <p:cNvPr id="9" name="Image 0" descr="/Users/ztq0412/Documents/Playground/econometrics_assignment2b_bundle/presentation/assets/assignment2b_plot.png">    </p:cNvPr>
          <p:cNvPicPr>
            <a:picLocks noChangeAspect="1"/>
          </p:cNvPicPr>
          <p:nvPr/>
        </p:nvPicPr>
        <p:blipFill>
          <a:blip r:embed="rId1"/>
          <a:stretch>
            <a:fillRect/>
          </a:stretch>
        </p:blipFill>
        <p:spPr>
          <a:xfrm>
            <a:off x="594360" y="1652451"/>
            <a:ext cx="5669280" cy="3644537"/>
          </a:xfrm>
          <a:prstGeom prst="rect">
            <a:avLst/>
          </a:prstGeom>
        </p:spPr>
      </p:pic>
      <p:sp>
        <p:nvSpPr>
          <p:cNvPr id="10" name="Shape 7"/>
          <p:cNvSpPr/>
          <p:nvPr/>
        </p:nvSpPr>
        <p:spPr>
          <a:xfrm>
            <a:off x="6446520" y="1051560"/>
            <a:ext cx="2011680" cy="1417320"/>
          </a:xfrm>
          <a:prstGeom prst="roundRect">
            <a:avLst/>
          </a:prstGeom>
          <a:solidFill>
            <a:srgbClr val="DAEDEF"/>
          </a:solidFill>
          <a:ln w="12700">
            <a:solidFill>
              <a:srgbClr val="BFC7D3"/>
            </a:solidFill>
            <a:prstDash val="solid"/>
          </a:ln>
        </p:spPr>
      </p:sp>
      <p:sp>
        <p:nvSpPr>
          <p:cNvPr id="11" name="Text 8"/>
          <p:cNvSpPr/>
          <p:nvPr/>
        </p:nvSpPr>
        <p:spPr>
          <a:xfrm>
            <a:off x="6574536" y="1143000"/>
            <a:ext cx="175564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Pattern 1</a:t>
            </a:r>
            <a:endParaRPr lang="en-US" sz="1250" dirty="0"/>
          </a:p>
        </p:txBody>
      </p:sp>
      <p:sp>
        <p:nvSpPr>
          <p:cNvPr id="12" name="Text 9"/>
          <p:cNvSpPr/>
          <p:nvPr/>
        </p:nvSpPr>
        <p:spPr>
          <a:xfrm>
            <a:off x="6574536" y="1399032"/>
            <a:ext cx="1755648" cy="978408"/>
          </a:xfrm>
          <a:prstGeom prst="rect">
            <a:avLst/>
          </a:prstGeom>
          <a:noFill/>
          <a:ln/>
        </p:spPr>
        <p:txBody>
          <a:bodyPr wrap="square" lIns="0" tIns="0" rIns="0" bIns="0" rtlCol="0" anchor="t"/>
          <a:lstStyle/>
          <a:p>
            <a:pPr indent="0" marL="0">
              <a:buNone/>
            </a:pPr>
            <a:r>
              <a:rPr lang="en-US" sz="1070" dirty="0">
                <a:solidFill>
                  <a:srgbClr val="20242C"/>
                </a:solidFill>
                <a:latin typeface="Verdana" pitchFamily="34" charset="0"/>
                <a:ea typeface="Verdana" pitchFamily="34" charset="-122"/>
                <a:cs typeface="Verdana" pitchFamily="34" charset="-120"/>
              </a:rPr>
              <a:t>Inflation is high and volatile in the 1970s and early 1980s, then becomes lower and more stable.</a:t>
            </a:r>
            <a:endParaRPr lang="en-US" sz="1070" dirty="0"/>
          </a:p>
        </p:txBody>
      </p:sp>
      <p:sp>
        <p:nvSpPr>
          <p:cNvPr id="13" name="Shape 10"/>
          <p:cNvSpPr/>
          <p:nvPr/>
        </p:nvSpPr>
        <p:spPr>
          <a:xfrm>
            <a:off x="6446520" y="2697480"/>
            <a:ext cx="2011680" cy="1234440"/>
          </a:xfrm>
          <a:prstGeom prst="roundRect">
            <a:avLst/>
          </a:prstGeom>
          <a:solidFill>
            <a:srgbClr val="FFFFFF"/>
          </a:solidFill>
          <a:ln w="12700">
            <a:solidFill>
              <a:srgbClr val="BFC7D3"/>
            </a:solidFill>
            <a:prstDash val="solid"/>
          </a:ln>
        </p:spPr>
      </p:sp>
      <p:sp>
        <p:nvSpPr>
          <p:cNvPr id="14" name="Text 11"/>
          <p:cNvSpPr/>
          <p:nvPr/>
        </p:nvSpPr>
        <p:spPr>
          <a:xfrm>
            <a:off x="6574536" y="2788920"/>
            <a:ext cx="175564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Pattern 2</a:t>
            </a:r>
            <a:endParaRPr lang="en-US" sz="1250" dirty="0"/>
          </a:p>
        </p:txBody>
      </p:sp>
      <p:sp>
        <p:nvSpPr>
          <p:cNvPr id="15" name="Text 12"/>
          <p:cNvSpPr/>
          <p:nvPr/>
        </p:nvSpPr>
        <p:spPr>
          <a:xfrm>
            <a:off x="6574536" y="3044952"/>
            <a:ext cx="1755648" cy="795528"/>
          </a:xfrm>
          <a:prstGeom prst="rect">
            <a:avLst/>
          </a:prstGeom>
          <a:noFill/>
          <a:ln/>
        </p:spPr>
        <p:txBody>
          <a:bodyPr wrap="square" lIns="0" tIns="0" rIns="0" bIns="0" rtlCol="0" anchor="t"/>
          <a:lstStyle/>
          <a:p>
            <a:pPr indent="0" marL="0">
              <a:buNone/>
            </a:pPr>
            <a:r>
              <a:rPr lang="en-US" sz="1070" dirty="0">
                <a:solidFill>
                  <a:srgbClr val="20242C"/>
                </a:solidFill>
                <a:latin typeface="Verdana" pitchFamily="34" charset="0"/>
                <a:ea typeface="Verdana" pitchFamily="34" charset="-122"/>
                <a:cs typeface="Verdana" pitchFamily="34" charset="-120"/>
              </a:rPr>
              <a:t>Unemployment shows strong business-cycle variation, especially in the early 1980s and after 2008.</a:t>
            </a:r>
            <a:endParaRPr lang="en-US" sz="1070" dirty="0"/>
          </a:p>
        </p:txBody>
      </p:sp>
      <p:sp>
        <p:nvSpPr>
          <p:cNvPr id="16" name="Shape 13"/>
          <p:cNvSpPr/>
          <p:nvPr/>
        </p:nvSpPr>
        <p:spPr>
          <a:xfrm>
            <a:off x="6446520" y="4160520"/>
            <a:ext cx="2011680" cy="1280160"/>
          </a:xfrm>
          <a:prstGeom prst="roundRect">
            <a:avLst/>
          </a:prstGeom>
          <a:solidFill>
            <a:srgbClr val="FFFFFF"/>
          </a:solidFill>
          <a:ln w="12700">
            <a:solidFill>
              <a:srgbClr val="BFC7D3"/>
            </a:solidFill>
            <a:prstDash val="solid"/>
          </a:ln>
        </p:spPr>
      </p:sp>
      <p:sp>
        <p:nvSpPr>
          <p:cNvPr id="17" name="Text 14"/>
          <p:cNvSpPr/>
          <p:nvPr/>
        </p:nvSpPr>
        <p:spPr>
          <a:xfrm>
            <a:off x="6574536" y="4251960"/>
            <a:ext cx="175564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Pattern 3</a:t>
            </a:r>
            <a:endParaRPr lang="en-US" sz="1250" dirty="0"/>
          </a:p>
        </p:txBody>
      </p:sp>
      <p:sp>
        <p:nvSpPr>
          <p:cNvPr id="18" name="Text 15"/>
          <p:cNvSpPr/>
          <p:nvPr/>
        </p:nvSpPr>
        <p:spPr>
          <a:xfrm>
            <a:off x="6574536" y="4507992"/>
            <a:ext cx="1755648" cy="841248"/>
          </a:xfrm>
          <a:prstGeom prst="rect">
            <a:avLst/>
          </a:prstGeom>
          <a:noFill/>
          <a:ln/>
        </p:spPr>
        <p:txBody>
          <a:bodyPr wrap="square" lIns="0" tIns="0" rIns="0" bIns="0" rtlCol="0" anchor="t"/>
          <a:lstStyle/>
          <a:p>
            <a:pPr indent="0" marL="0">
              <a:buNone/>
            </a:pPr>
            <a:r>
              <a:rPr lang="en-US" sz="1070" dirty="0">
                <a:solidFill>
                  <a:srgbClr val="20242C"/>
                </a:solidFill>
                <a:latin typeface="Verdana" pitchFamily="34" charset="0"/>
                <a:ea typeface="Verdana" pitchFamily="34" charset="-122"/>
                <a:cs typeface="Verdana" pitchFamily="34" charset="-120"/>
              </a:rPr>
              <a:t>The contemporaneous Phillips-curve relationship is not stable; lagged dynamics matter more.</a:t>
            </a:r>
            <a:endParaRPr lang="en-US" sz="10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AR(p) Model Results</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Part (b)</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09</a:t>
            </a:r>
            <a:endParaRPr lang="en-US" sz="900" dirty="0"/>
          </a:p>
        </p:txBody>
      </p:sp>
      <p:sp>
        <p:nvSpPr>
          <p:cNvPr id="9" name="Shape 7"/>
          <p:cNvSpPr/>
          <p:nvPr/>
        </p:nvSpPr>
        <p:spPr>
          <a:xfrm>
            <a:off x="658368" y="1051560"/>
            <a:ext cx="731520" cy="457200"/>
          </a:xfrm>
          <a:prstGeom prst="rect">
            <a:avLst/>
          </a:prstGeom>
          <a:solidFill>
            <a:srgbClr val="333399"/>
          </a:solidFill>
          <a:ln w="12700">
            <a:solidFill>
              <a:srgbClr val="FFFFFF"/>
            </a:solidFill>
            <a:prstDash val="solid"/>
          </a:ln>
        </p:spPr>
      </p:sp>
      <p:sp>
        <p:nvSpPr>
          <p:cNvPr id="10" name="Text 8"/>
          <p:cNvSpPr/>
          <p:nvPr/>
        </p:nvSpPr>
        <p:spPr>
          <a:xfrm>
            <a:off x="694944" y="1088136"/>
            <a:ext cx="658368" cy="384048"/>
          </a:xfrm>
          <a:prstGeom prst="rect">
            <a:avLst/>
          </a:prstGeom>
          <a:noFill/>
          <a:ln/>
        </p:spPr>
        <p:txBody>
          <a:bodyPr wrap="square" lIns="0" tIns="0" rIns="0" bIns="0" rtlCol="0" anchor="ctr"/>
          <a:lstStyle/>
          <a:p>
            <a:pPr algn="ctr" indent="0" marL="0">
              <a:buNone/>
            </a:pPr>
            <a:r>
              <a:rPr lang="en-US" sz="1110" b="1" dirty="0">
                <a:solidFill>
                  <a:srgbClr val="FFFFFF"/>
                </a:solidFill>
                <a:latin typeface="Verdana" pitchFamily="34" charset="0"/>
                <a:ea typeface="Verdana" pitchFamily="34" charset="-122"/>
                <a:cs typeface="Verdana" pitchFamily="34" charset="-120"/>
              </a:rPr>
              <a:t>p</a:t>
            </a:r>
            <a:endParaRPr lang="en-US" sz="1110" dirty="0"/>
          </a:p>
        </p:txBody>
      </p:sp>
      <p:sp>
        <p:nvSpPr>
          <p:cNvPr id="11" name="Shape 9"/>
          <p:cNvSpPr/>
          <p:nvPr/>
        </p:nvSpPr>
        <p:spPr>
          <a:xfrm>
            <a:off x="1389888" y="1051560"/>
            <a:ext cx="1325880" cy="457200"/>
          </a:xfrm>
          <a:prstGeom prst="rect">
            <a:avLst/>
          </a:prstGeom>
          <a:solidFill>
            <a:srgbClr val="333399"/>
          </a:solidFill>
          <a:ln w="12700">
            <a:solidFill>
              <a:srgbClr val="FFFFFF"/>
            </a:solidFill>
            <a:prstDash val="solid"/>
          </a:ln>
        </p:spPr>
      </p:sp>
      <p:sp>
        <p:nvSpPr>
          <p:cNvPr id="12" name="Text 10"/>
          <p:cNvSpPr/>
          <p:nvPr/>
        </p:nvSpPr>
        <p:spPr>
          <a:xfrm>
            <a:off x="1426464" y="1088136"/>
            <a:ext cx="1252728" cy="384048"/>
          </a:xfrm>
          <a:prstGeom prst="rect">
            <a:avLst/>
          </a:prstGeom>
          <a:noFill/>
          <a:ln/>
        </p:spPr>
        <p:txBody>
          <a:bodyPr wrap="square" lIns="0" tIns="0" rIns="0" bIns="0" rtlCol="0" anchor="ctr"/>
          <a:lstStyle/>
          <a:p>
            <a:pPr algn="ctr" indent="0" marL="0">
              <a:buNone/>
            </a:pPr>
            <a:r>
              <a:rPr lang="en-US" sz="1110" b="1" dirty="0">
                <a:solidFill>
                  <a:srgbClr val="FFFFFF"/>
                </a:solidFill>
                <a:latin typeface="Verdana" pitchFamily="34" charset="0"/>
                <a:ea typeface="Verdana" pitchFamily="34" charset="-122"/>
                <a:cs typeface="Verdana" pitchFamily="34" charset="-120"/>
              </a:rPr>
              <a:t>AIC</a:t>
            </a:r>
            <a:endParaRPr lang="en-US" sz="1110" dirty="0"/>
          </a:p>
        </p:txBody>
      </p:sp>
      <p:sp>
        <p:nvSpPr>
          <p:cNvPr id="13" name="Shape 11"/>
          <p:cNvSpPr/>
          <p:nvPr/>
        </p:nvSpPr>
        <p:spPr>
          <a:xfrm>
            <a:off x="2715768" y="1051560"/>
            <a:ext cx="1325880" cy="457200"/>
          </a:xfrm>
          <a:prstGeom prst="rect">
            <a:avLst/>
          </a:prstGeom>
          <a:solidFill>
            <a:srgbClr val="333399"/>
          </a:solidFill>
          <a:ln w="12700">
            <a:solidFill>
              <a:srgbClr val="FFFFFF"/>
            </a:solidFill>
            <a:prstDash val="solid"/>
          </a:ln>
        </p:spPr>
      </p:sp>
      <p:sp>
        <p:nvSpPr>
          <p:cNvPr id="14" name="Text 12"/>
          <p:cNvSpPr/>
          <p:nvPr/>
        </p:nvSpPr>
        <p:spPr>
          <a:xfrm>
            <a:off x="2752344" y="1088136"/>
            <a:ext cx="1252728" cy="384048"/>
          </a:xfrm>
          <a:prstGeom prst="rect">
            <a:avLst/>
          </a:prstGeom>
          <a:noFill/>
          <a:ln/>
        </p:spPr>
        <p:txBody>
          <a:bodyPr wrap="square" lIns="0" tIns="0" rIns="0" bIns="0" rtlCol="0" anchor="ctr"/>
          <a:lstStyle/>
          <a:p>
            <a:pPr algn="ctr" indent="0" marL="0">
              <a:buNone/>
            </a:pPr>
            <a:r>
              <a:rPr lang="en-US" sz="1110" b="1" dirty="0">
                <a:solidFill>
                  <a:srgbClr val="FFFFFF"/>
                </a:solidFill>
                <a:latin typeface="Verdana" pitchFamily="34" charset="0"/>
                <a:ea typeface="Verdana" pitchFamily="34" charset="-122"/>
                <a:cs typeface="Verdana" pitchFamily="34" charset="-120"/>
              </a:rPr>
              <a:t>BIC</a:t>
            </a:r>
            <a:endParaRPr lang="en-US" sz="1110" dirty="0"/>
          </a:p>
        </p:txBody>
      </p:sp>
      <p:sp>
        <p:nvSpPr>
          <p:cNvPr id="15" name="Shape 13"/>
          <p:cNvSpPr/>
          <p:nvPr/>
        </p:nvSpPr>
        <p:spPr>
          <a:xfrm>
            <a:off x="4041648" y="1051560"/>
            <a:ext cx="4389120" cy="457200"/>
          </a:xfrm>
          <a:prstGeom prst="rect">
            <a:avLst/>
          </a:prstGeom>
          <a:solidFill>
            <a:srgbClr val="333399"/>
          </a:solidFill>
          <a:ln w="12700">
            <a:solidFill>
              <a:srgbClr val="FFFFFF"/>
            </a:solidFill>
            <a:prstDash val="solid"/>
          </a:ln>
        </p:spPr>
      </p:sp>
      <p:sp>
        <p:nvSpPr>
          <p:cNvPr id="16" name="Text 14"/>
          <p:cNvSpPr/>
          <p:nvPr/>
        </p:nvSpPr>
        <p:spPr>
          <a:xfrm>
            <a:off x="4078224" y="1088136"/>
            <a:ext cx="4315968" cy="384048"/>
          </a:xfrm>
          <a:prstGeom prst="rect">
            <a:avLst/>
          </a:prstGeom>
          <a:noFill/>
          <a:ln/>
        </p:spPr>
        <p:txBody>
          <a:bodyPr wrap="square" lIns="0" tIns="0" rIns="0" bIns="0" rtlCol="0" anchor="ctr"/>
          <a:lstStyle/>
          <a:p>
            <a:pPr algn="ctr" indent="0" marL="0">
              <a:buNone/>
            </a:pPr>
            <a:r>
              <a:rPr lang="en-US" sz="1110" b="1" dirty="0">
                <a:solidFill>
                  <a:srgbClr val="FFFFFF"/>
                </a:solidFill>
                <a:latin typeface="Verdana" pitchFamily="34" charset="0"/>
                <a:ea typeface="Verdana" pitchFamily="34" charset="-122"/>
                <a:cs typeface="Verdana" pitchFamily="34" charset="-120"/>
              </a:rPr>
              <a:t>Comment</a:t>
            </a:r>
            <a:endParaRPr lang="en-US" sz="1110" dirty="0"/>
          </a:p>
        </p:txBody>
      </p:sp>
      <p:sp>
        <p:nvSpPr>
          <p:cNvPr id="17" name="Shape 15"/>
          <p:cNvSpPr/>
          <p:nvPr/>
        </p:nvSpPr>
        <p:spPr>
          <a:xfrm>
            <a:off x="658368" y="1508760"/>
            <a:ext cx="731520" cy="457200"/>
          </a:xfrm>
          <a:prstGeom prst="rect">
            <a:avLst/>
          </a:prstGeom>
          <a:solidFill>
            <a:srgbClr val="FFFFFF"/>
          </a:solidFill>
          <a:ln w="12700">
            <a:solidFill>
              <a:srgbClr val="BFC7D3"/>
            </a:solidFill>
            <a:prstDash val="solid"/>
          </a:ln>
        </p:spPr>
      </p:sp>
      <p:sp>
        <p:nvSpPr>
          <p:cNvPr id="18" name="Text 16"/>
          <p:cNvSpPr/>
          <p:nvPr/>
        </p:nvSpPr>
        <p:spPr>
          <a:xfrm>
            <a:off x="694944" y="1545336"/>
            <a:ext cx="65836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0</a:t>
            </a:r>
            <a:endParaRPr lang="en-US" sz="1110" dirty="0"/>
          </a:p>
        </p:txBody>
      </p:sp>
      <p:sp>
        <p:nvSpPr>
          <p:cNvPr id="19" name="Shape 17"/>
          <p:cNvSpPr/>
          <p:nvPr/>
        </p:nvSpPr>
        <p:spPr>
          <a:xfrm>
            <a:off x="1389888" y="1508760"/>
            <a:ext cx="1325880" cy="457200"/>
          </a:xfrm>
          <a:prstGeom prst="rect">
            <a:avLst/>
          </a:prstGeom>
          <a:solidFill>
            <a:srgbClr val="FFFFFF"/>
          </a:solidFill>
          <a:ln w="12700">
            <a:solidFill>
              <a:srgbClr val="BFC7D3"/>
            </a:solidFill>
            <a:prstDash val="solid"/>
          </a:ln>
        </p:spPr>
      </p:sp>
      <p:sp>
        <p:nvSpPr>
          <p:cNvPr id="20" name="Text 18"/>
          <p:cNvSpPr/>
          <p:nvPr/>
        </p:nvSpPr>
        <p:spPr>
          <a:xfrm>
            <a:off x="1426464" y="1545336"/>
            <a:ext cx="125272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1028.16</a:t>
            </a:r>
            <a:endParaRPr lang="en-US" sz="1110" dirty="0"/>
          </a:p>
        </p:txBody>
      </p:sp>
      <p:sp>
        <p:nvSpPr>
          <p:cNvPr id="21" name="Shape 19"/>
          <p:cNvSpPr/>
          <p:nvPr/>
        </p:nvSpPr>
        <p:spPr>
          <a:xfrm>
            <a:off x="2715768" y="1508760"/>
            <a:ext cx="1325880" cy="457200"/>
          </a:xfrm>
          <a:prstGeom prst="rect">
            <a:avLst/>
          </a:prstGeom>
          <a:solidFill>
            <a:srgbClr val="FFFFFF"/>
          </a:solidFill>
          <a:ln w="12700">
            <a:solidFill>
              <a:srgbClr val="BFC7D3"/>
            </a:solidFill>
            <a:prstDash val="solid"/>
          </a:ln>
        </p:spPr>
      </p:sp>
      <p:sp>
        <p:nvSpPr>
          <p:cNvPr id="22" name="Text 20"/>
          <p:cNvSpPr/>
          <p:nvPr/>
        </p:nvSpPr>
        <p:spPr>
          <a:xfrm>
            <a:off x="2752344" y="1545336"/>
            <a:ext cx="125272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1031.46</a:t>
            </a:r>
            <a:endParaRPr lang="en-US" sz="1110" dirty="0"/>
          </a:p>
        </p:txBody>
      </p:sp>
      <p:sp>
        <p:nvSpPr>
          <p:cNvPr id="23" name="Shape 21"/>
          <p:cNvSpPr/>
          <p:nvPr/>
        </p:nvSpPr>
        <p:spPr>
          <a:xfrm>
            <a:off x="4041648" y="1508760"/>
            <a:ext cx="4389120" cy="457200"/>
          </a:xfrm>
          <a:prstGeom prst="rect">
            <a:avLst/>
          </a:prstGeom>
          <a:solidFill>
            <a:srgbClr val="FFFFFF"/>
          </a:solidFill>
          <a:ln w="12700">
            <a:solidFill>
              <a:srgbClr val="BFC7D3"/>
            </a:solidFill>
            <a:prstDash val="solid"/>
          </a:ln>
        </p:spPr>
      </p:sp>
      <p:sp>
        <p:nvSpPr>
          <p:cNvPr id="24" name="Text 22"/>
          <p:cNvSpPr/>
          <p:nvPr/>
        </p:nvSpPr>
        <p:spPr>
          <a:xfrm>
            <a:off x="4078224" y="1545336"/>
            <a:ext cx="431596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No dynamics</a:t>
            </a:r>
            <a:endParaRPr lang="en-US" sz="1110" dirty="0"/>
          </a:p>
        </p:txBody>
      </p:sp>
      <p:sp>
        <p:nvSpPr>
          <p:cNvPr id="25" name="Shape 23"/>
          <p:cNvSpPr/>
          <p:nvPr/>
        </p:nvSpPr>
        <p:spPr>
          <a:xfrm>
            <a:off x="658368" y="1965960"/>
            <a:ext cx="731520" cy="457200"/>
          </a:xfrm>
          <a:prstGeom prst="rect">
            <a:avLst/>
          </a:prstGeom>
          <a:solidFill>
            <a:srgbClr val="EEF3F8"/>
          </a:solidFill>
          <a:ln w="12700">
            <a:solidFill>
              <a:srgbClr val="BFC7D3"/>
            </a:solidFill>
            <a:prstDash val="solid"/>
          </a:ln>
        </p:spPr>
      </p:sp>
      <p:sp>
        <p:nvSpPr>
          <p:cNvPr id="26" name="Text 24"/>
          <p:cNvSpPr/>
          <p:nvPr/>
        </p:nvSpPr>
        <p:spPr>
          <a:xfrm>
            <a:off x="694944" y="2002536"/>
            <a:ext cx="65836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1</a:t>
            </a:r>
            <a:endParaRPr lang="en-US" sz="1110" dirty="0"/>
          </a:p>
        </p:txBody>
      </p:sp>
      <p:sp>
        <p:nvSpPr>
          <p:cNvPr id="27" name="Shape 25"/>
          <p:cNvSpPr/>
          <p:nvPr/>
        </p:nvSpPr>
        <p:spPr>
          <a:xfrm>
            <a:off x="1389888" y="1965960"/>
            <a:ext cx="1325880" cy="457200"/>
          </a:xfrm>
          <a:prstGeom prst="rect">
            <a:avLst/>
          </a:prstGeom>
          <a:solidFill>
            <a:srgbClr val="EEF3F8"/>
          </a:solidFill>
          <a:ln w="12700">
            <a:solidFill>
              <a:srgbClr val="BFC7D3"/>
            </a:solidFill>
            <a:prstDash val="solid"/>
          </a:ln>
        </p:spPr>
      </p:sp>
      <p:sp>
        <p:nvSpPr>
          <p:cNvPr id="28" name="Text 26"/>
          <p:cNvSpPr/>
          <p:nvPr/>
        </p:nvSpPr>
        <p:spPr>
          <a:xfrm>
            <a:off x="1426464" y="2002536"/>
            <a:ext cx="125272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863.35</a:t>
            </a:r>
            <a:endParaRPr lang="en-US" sz="1110" dirty="0"/>
          </a:p>
        </p:txBody>
      </p:sp>
      <p:sp>
        <p:nvSpPr>
          <p:cNvPr id="29" name="Shape 27"/>
          <p:cNvSpPr/>
          <p:nvPr/>
        </p:nvSpPr>
        <p:spPr>
          <a:xfrm>
            <a:off x="2715768" y="1965960"/>
            <a:ext cx="1325880" cy="457200"/>
          </a:xfrm>
          <a:prstGeom prst="rect">
            <a:avLst/>
          </a:prstGeom>
          <a:solidFill>
            <a:srgbClr val="EEF3F8"/>
          </a:solidFill>
          <a:ln w="12700">
            <a:solidFill>
              <a:srgbClr val="BFC7D3"/>
            </a:solidFill>
            <a:prstDash val="solid"/>
          </a:ln>
        </p:spPr>
      </p:sp>
      <p:sp>
        <p:nvSpPr>
          <p:cNvPr id="30" name="Text 28"/>
          <p:cNvSpPr/>
          <p:nvPr/>
        </p:nvSpPr>
        <p:spPr>
          <a:xfrm>
            <a:off x="2752344" y="2002536"/>
            <a:ext cx="125272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869.95</a:t>
            </a:r>
            <a:endParaRPr lang="en-US" sz="1110" dirty="0"/>
          </a:p>
        </p:txBody>
      </p:sp>
      <p:sp>
        <p:nvSpPr>
          <p:cNvPr id="31" name="Shape 29"/>
          <p:cNvSpPr/>
          <p:nvPr/>
        </p:nvSpPr>
        <p:spPr>
          <a:xfrm>
            <a:off x="4041648" y="1965960"/>
            <a:ext cx="4389120" cy="457200"/>
          </a:xfrm>
          <a:prstGeom prst="rect">
            <a:avLst/>
          </a:prstGeom>
          <a:solidFill>
            <a:srgbClr val="EEF3F8"/>
          </a:solidFill>
          <a:ln w="12700">
            <a:solidFill>
              <a:srgbClr val="BFC7D3"/>
            </a:solidFill>
            <a:prstDash val="solid"/>
          </a:ln>
        </p:spPr>
      </p:sp>
      <p:sp>
        <p:nvSpPr>
          <p:cNvPr id="32" name="Text 30"/>
          <p:cNvSpPr/>
          <p:nvPr/>
        </p:nvSpPr>
        <p:spPr>
          <a:xfrm>
            <a:off x="4078224" y="2002536"/>
            <a:ext cx="431596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Large improvement</a:t>
            </a:r>
            <a:endParaRPr lang="en-US" sz="1110" dirty="0"/>
          </a:p>
        </p:txBody>
      </p:sp>
      <p:sp>
        <p:nvSpPr>
          <p:cNvPr id="33" name="Shape 31"/>
          <p:cNvSpPr/>
          <p:nvPr/>
        </p:nvSpPr>
        <p:spPr>
          <a:xfrm>
            <a:off x="658368" y="2423160"/>
            <a:ext cx="731520" cy="457200"/>
          </a:xfrm>
          <a:prstGeom prst="rect">
            <a:avLst/>
          </a:prstGeom>
          <a:solidFill>
            <a:srgbClr val="FFFFFF"/>
          </a:solidFill>
          <a:ln w="12700">
            <a:solidFill>
              <a:srgbClr val="BFC7D3"/>
            </a:solidFill>
            <a:prstDash val="solid"/>
          </a:ln>
        </p:spPr>
      </p:sp>
      <p:sp>
        <p:nvSpPr>
          <p:cNvPr id="34" name="Text 32"/>
          <p:cNvSpPr/>
          <p:nvPr/>
        </p:nvSpPr>
        <p:spPr>
          <a:xfrm>
            <a:off x="694944" y="2459736"/>
            <a:ext cx="65836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2</a:t>
            </a:r>
            <a:endParaRPr lang="en-US" sz="1110" dirty="0"/>
          </a:p>
        </p:txBody>
      </p:sp>
      <p:sp>
        <p:nvSpPr>
          <p:cNvPr id="35" name="Shape 33"/>
          <p:cNvSpPr/>
          <p:nvPr/>
        </p:nvSpPr>
        <p:spPr>
          <a:xfrm>
            <a:off x="1389888" y="2423160"/>
            <a:ext cx="1325880" cy="457200"/>
          </a:xfrm>
          <a:prstGeom prst="rect">
            <a:avLst/>
          </a:prstGeom>
          <a:solidFill>
            <a:srgbClr val="FFFFFF"/>
          </a:solidFill>
          <a:ln w="12700">
            <a:solidFill>
              <a:srgbClr val="BFC7D3"/>
            </a:solidFill>
            <a:prstDash val="solid"/>
          </a:ln>
        </p:spPr>
      </p:sp>
      <p:sp>
        <p:nvSpPr>
          <p:cNvPr id="36" name="Text 34"/>
          <p:cNvSpPr/>
          <p:nvPr/>
        </p:nvSpPr>
        <p:spPr>
          <a:xfrm>
            <a:off x="1426464" y="2459736"/>
            <a:ext cx="125272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860.17</a:t>
            </a:r>
            <a:endParaRPr lang="en-US" sz="1110" dirty="0"/>
          </a:p>
        </p:txBody>
      </p:sp>
      <p:sp>
        <p:nvSpPr>
          <p:cNvPr id="37" name="Shape 35"/>
          <p:cNvSpPr/>
          <p:nvPr/>
        </p:nvSpPr>
        <p:spPr>
          <a:xfrm>
            <a:off x="2715768" y="2423160"/>
            <a:ext cx="1325880" cy="457200"/>
          </a:xfrm>
          <a:prstGeom prst="rect">
            <a:avLst/>
          </a:prstGeom>
          <a:solidFill>
            <a:srgbClr val="FFFFFF"/>
          </a:solidFill>
          <a:ln w="12700">
            <a:solidFill>
              <a:srgbClr val="BFC7D3"/>
            </a:solidFill>
            <a:prstDash val="solid"/>
          </a:ln>
        </p:spPr>
      </p:sp>
      <p:sp>
        <p:nvSpPr>
          <p:cNvPr id="38" name="Text 36"/>
          <p:cNvSpPr/>
          <p:nvPr/>
        </p:nvSpPr>
        <p:spPr>
          <a:xfrm>
            <a:off x="2752344" y="2459736"/>
            <a:ext cx="125272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870.07</a:t>
            </a:r>
            <a:endParaRPr lang="en-US" sz="1110" dirty="0"/>
          </a:p>
        </p:txBody>
      </p:sp>
      <p:sp>
        <p:nvSpPr>
          <p:cNvPr id="39" name="Shape 37"/>
          <p:cNvSpPr/>
          <p:nvPr/>
        </p:nvSpPr>
        <p:spPr>
          <a:xfrm>
            <a:off x="4041648" y="2423160"/>
            <a:ext cx="4389120" cy="457200"/>
          </a:xfrm>
          <a:prstGeom prst="rect">
            <a:avLst/>
          </a:prstGeom>
          <a:solidFill>
            <a:srgbClr val="FFFFFF"/>
          </a:solidFill>
          <a:ln w="12700">
            <a:solidFill>
              <a:srgbClr val="BFC7D3"/>
            </a:solidFill>
            <a:prstDash val="solid"/>
          </a:ln>
        </p:spPr>
      </p:sp>
      <p:sp>
        <p:nvSpPr>
          <p:cNvPr id="40" name="Text 38"/>
          <p:cNvSpPr/>
          <p:nvPr/>
        </p:nvSpPr>
        <p:spPr>
          <a:xfrm>
            <a:off x="4078224" y="2459736"/>
            <a:ext cx="431596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Better fit</a:t>
            </a:r>
            <a:endParaRPr lang="en-US" sz="1110" dirty="0"/>
          </a:p>
        </p:txBody>
      </p:sp>
      <p:sp>
        <p:nvSpPr>
          <p:cNvPr id="41" name="Shape 39"/>
          <p:cNvSpPr/>
          <p:nvPr/>
        </p:nvSpPr>
        <p:spPr>
          <a:xfrm>
            <a:off x="658368" y="2880360"/>
            <a:ext cx="731520" cy="457200"/>
          </a:xfrm>
          <a:prstGeom prst="rect">
            <a:avLst/>
          </a:prstGeom>
          <a:solidFill>
            <a:srgbClr val="EEF3F8"/>
          </a:solidFill>
          <a:ln w="12700">
            <a:solidFill>
              <a:srgbClr val="BFC7D3"/>
            </a:solidFill>
            <a:prstDash val="solid"/>
          </a:ln>
        </p:spPr>
      </p:sp>
      <p:sp>
        <p:nvSpPr>
          <p:cNvPr id="42" name="Text 40"/>
          <p:cNvSpPr/>
          <p:nvPr/>
        </p:nvSpPr>
        <p:spPr>
          <a:xfrm>
            <a:off x="694944" y="2916936"/>
            <a:ext cx="65836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3</a:t>
            </a:r>
            <a:endParaRPr lang="en-US" sz="1110" dirty="0"/>
          </a:p>
        </p:txBody>
      </p:sp>
      <p:sp>
        <p:nvSpPr>
          <p:cNvPr id="43" name="Shape 41"/>
          <p:cNvSpPr/>
          <p:nvPr/>
        </p:nvSpPr>
        <p:spPr>
          <a:xfrm>
            <a:off x="1389888" y="2880360"/>
            <a:ext cx="1325880" cy="457200"/>
          </a:xfrm>
          <a:prstGeom prst="rect">
            <a:avLst/>
          </a:prstGeom>
          <a:solidFill>
            <a:srgbClr val="DAEDEF"/>
          </a:solidFill>
          <a:ln w="12700">
            <a:solidFill>
              <a:srgbClr val="BFC7D3"/>
            </a:solidFill>
            <a:prstDash val="solid"/>
          </a:ln>
        </p:spPr>
      </p:sp>
      <p:sp>
        <p:nvSpPr>
          <p:cNvPr id="44" name="Text 42"/>
          <p:cNvSpPr/>
          <p:nvPr/>
        </p:nvSpPr>
        <p:spPr>
          <a:xfrm>
            <a:off x="1426464" y="2916936"/>
            <a:ext cx="1252728" cy="384048"/>
          </a:xfrm>
          <a:prstGeom prst="rect">
            <a:avLst/>
          </a:prstGeom>
          <a:noFill/>
          <a:ln/>
        </p:spPr>
        <p:txBody>
          <a:bodyPr wrap="square" lIns="0" tIns="0" rIns="0" bIns="0" rtlCol="0" anchor="ctr"/>
          <a:lstStyle/>
          <a:p>
            <a:pPr algn="ctr" indent="0" marL="0">
              <a:buNone/>
            </a:pPr>
            <a:r>
              <a:rPr lang="en-US" sz="1110" b="1" dirty="0">
                <a:solidFill>
                  <a:srgbClr val="20242C"/>
                </a:solidFill>
                <a:latin typeface="Verdana" pitchFamily="34" charset="0"/>
                <a:ea typeface="Verdana" pitchFamily="34" charset="-122"/>
                <a:cs typeface="Verdana" pitchFamily="34" charset="-120"/>
              </a:rPr>
              <a:t>842.13</a:t>
            </a:r>
            <a:endParaRPr lang="en-US" sz="1110" dirty="0"/>
          </a:p>
        </p:txBody>
      </p:sp>
      <p:sp>
        <p:nvSpPr>
          <p:cNvPr id="45" name="Shape 43"/>
          <p:cNvSpPr/>
          <p:nvPr/>
        </p:nvSpPr>
        <p:spPr>
          <a:xfrm>
            <a:off x="2715768" y="2880360"/>
            <a:ext cx="1325880" cy="457200"/>
          </a:xfrm>
          <a:prstGeom prst="rect">
            <a:avLst/>
          </a:prstGeom>
          <a:solidFill>
            <a:srgbClr val="DAEDEF"/>
          </a:solidFill>
          <a:ln w="12700">
            <a:solidFill>
              <a:srgbClr val="BFC7D3"/>
            </a:solidFill>
            <a:prstDash val="solid"/>
          </a:ln>
        </p:spPr>
      </p:sp>
      <p:sp>
        <p:nvSpPr>
          <p:cNvPr id="46" name="Text 44"/>
          <p:cNvSpPr/>
          <p:nvPr/>
        </p:nvSpPr>
        <p:spPr>
          <a:xfrm>
            <a:off x="2752344" y="2916936"/>
            <a:ext cx="1252728" cy="384048"/>
          </a:xfrm>
          <a:prstGeom prst="rect">
            <a:avLst/>
          </a:prstGeom>
          <a:noFill/>
          <a:ln/>
        </p:spPr>
        <p:txBody>
          <a:bodyPr wrap="square" lIns="0" tIns="0" rIns="0" bIns="0" rtlCol="0" anchor="ctr"/>
          <a:lstStyle/>
          <a:p>
            <a:pPr algn="ctr" indent="0" marL="0">
              <a:buNone/>
            </a:pPr>
            <a:r>
              <a:rPr lang="en-US" sz="1110" b="1" dirty="0">
                <a:solidFill>
                  <a:srgbClr val="20242C"/>
                </a:solidFill>
                <a:latin typeface="Verdana" pitchFamily="34" charset="0"/>
                <a:ea typeface="Verdana" pitchFamily="34" charset="-122"/>
                <a:cs typeface="Verdana" pitchFamily="34" charset="-120"/>
              </a:rPr>
              <a:t>855.32</a:t>
            </a:r>
            <a:endParaRPr lang="en-US" sz="1110" dirty="0"/>
          </a:p>
        </p:txBody>
      </p:sp>
      <p:sp>
        <p:nvSpPr>
          <p:cNvPr id="47" name="Shape 45"/>
          <p:cNvSpPr/>
          <p:nvPr/>
        </p:nvSpPr>
        <p:spPr>
          <a:xfrm>
            <a:off x="4041648" y="2880360"/>
            <a:ext cx="4389120" cy="457200"/>
          </a:xfrm>
          <a:prstGeom prst="rect">
            <a:avLst/>
          </a:prstGeom>
          <a:solidFill>
            <a:srgbClr val="DAEDEF"/>
          </a:solidFill>
          <a:ln w="12700">
            <a:solidFill>
              <a:srgbClr val="BFC7D3"/>
            </a:solidFill>
            <a:prstDash val="solid"/>
          </a:ln>
        </p:spPr>
      </p:sp>
      <p:sp>
        <p:nvSpPr>
          <p:cNvPr id="48" name="Text 46"/>
          <p:cNvSpPr/>
          <p:nvPr/>
        </p:nvSpPr>
        <p:spPr>
          <a:xfrm>
            <a:off x="4078224" y="2916936"/>
            <a:ext cx="4315968" cy="384048"/>
          </a:xfrm>
          <a:prstGeom prst="rect">
            <a:avLst/>
          </a:prstGeom>
          <a:noFill/>
          <a:ln/>
        </p:spPr>
        <p:txBody>
          <a:bodyPr wrap="square" lIns="0" tIns="0" rIns="0" bIns="0" rtlCol="0" anchor="ctr"/>
          <a:lstStyle/>
          <a:p>
            <a:pPr algn="ctr" indent="0" marL="0">
              <a:buNone/>
            </a:pPr>
            <a:r>
              <a:rPr lang="en-US" sz="1110" b="1" dirty="0">
                <a:solidFill>
                  <a:srgbClr val="20242C"/>
                </a:solidFill>
                <a:latin typeface="Verdana" pitchFamily="34" charset="0"/>
                <a:ea typeface="Verdana" pitchFamily="34" charset="-122"/>
                <a:cs typeface="Verdana" pitchFamily="34" charset="-120"/>
              </a:rPr>
              <a:t>Selected by AIC and BIC</a:t>
            </a:r>
            <a:endParaRPr lang="en-US" sz="1110" dirty="0"/>
          </a:p>
        </p:txBody>
      </p:sp>
      <p:sp>
        <p:nvSpPr>
          <p:cNvPr id="49" name="Shape 47"/>
          <p:cNvSpPr/>
          <p:nvPr/>
        </p:nvSpPr>
        <p:spPr>
          <a:xfrm>
            <a:off x="658368" y="3337560"/>
            <a:ext cx="731520" cy="457200"/>
          </a:xfrm>
          <a:prstGeom prst="rect">
            <a:avLst/>
          </a:prstGeom>
          <a:solidFill>
            <a:srgbClr val="FFFFFF"/>
          </a:solidFill>
          <a:ln w="12700">
            <a:solidFill>
              <a:srgbClr val="BFC7D3"/>
            </a:solidFill>
            <a:prstDash val="solid"/>
          </a:ln>
        </p:spPr>
      </p:sp>
      <p:sp>
        <p:nvSpPr>
          <p:cNvPr id="50" name="Text 48"/>
          <p:cNvSpPr/>
          <p:nvPr/>
        </p:nvSpPr>
        <p:spPr>
          <a:xfrm>
            <a:off x="694944" y="3374136"/>
            <a:ext cx="65836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4</a:t>
            </a:r>
            <a:endParaRPr lang="en-US" sz="1110" dirty="0"/>
          </a:p>
        </p:txBody>
      </p:sp>
      <p:sp>
        <p:nvSpPr>
          <p:cNvPr id="51" name="Shape 49"/>
          <p:cNvSpPr/>
          <p:nvPr/>
        </p:nvSpPr>
        <p:spPr>
          <a:xfrm>
            <a:off x="1389888" y="3337560"/>
            <a:ext cx="1325880" cy="457200"/>
          </a:xfrm>
          <a:prstGeom prst="rect">
            <a:avLst/>
          </a:prstGeom>
          <a:solidFill>
            <a:srgbClr val="FFFFFF"/>
          </a:solidFill>
          <a:ln w="12700">
            <a:solidFill>
              <a:srgbClr val="BFC7D3"/>
            </a:solidFill>
            <a:prstDash val="solid"/>
          </a:ln>
        </p:spPr>
      </p:sp>
      <p:sp>
        <p:nvSpPr>
          <p:cNvPr id="52" name="Text 50"/>
          <p:cNvSpPr/>
          <p:nvPr/>
        </p:nvSpPr>
        <p:spPr>
          <a:xfrm>
            <a:off x="1426464" y="3374136"/>
            <a:ext cx="125272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843.94</a:t>
            </a:r>
            <a:endParaRPr lang="en-US" sz="1110" dirty="0"/>
          </a:p>
        </p:txBody>
      </p:sp>
      <p:sp>
        <p:nvSpPr>
          <p:cNvPr id="53" name="Shape 51"/>
          <p:cNvSpPr/>
          <p:nvPr/>
        </p:nvSpPr>
        <p:spPr>
          <a:xfrm>
            <a:off x="2715768" y="3337560"/>
            <a:ext cx="1325880" cy="457200"/>
          </a:xfrm>
          <a:prstGeom prst="rect">
            <a:avLst/>
          </a:prstGeom>
          <a:solidFill>
            <a:srgbClr val="FFFFFF"/>
          </a:solidFill>
          <a:ln w="12700">
            <a:solidFill>
              <a:srgbClr val="BFC7D3"/>
            </a:solidFill>
            <a:prstDash val="solid"/>
          </a:ln>
        </p:spPr>
      </p:sp>
      <p:sp>
        <p:nvSpPr>
          <p:cNvPr id="54" name="Text 52"/>
          <p:cNvSpPr/>
          <p:nvPr/>
        </p:nvSpPr>
        <p:spPr>
          <a:xfrm>
            <a:off x="2752344" y="3374136"/>
            <a:ext cx="125272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860.43</a:t>
            </a:r>
            <a:endParaRPr lang="en-US" sz="1110" dirty="0"/>
          </a:p>
        </p:txBody>
      </p:sp>
      <p:sp>
        <p:nvSpPr>
          <p:cNvPr id="55" name="Shape 53"/>
          <p:cNvSpPr/>
          <p:nvPr/>
        </p:nvSpPr>
        <p:spPr>
          <a:xfrm>
            <a:off x="4041648" y="3337560"/>
            <a:ext cx="4389120" cy="457200"/>
          </a:xfrm>
          <a:prstGeom prst="rect">
            <a:avLst/>
          </a:prstGeom>
          <a:solidFill>
            <a:srgbClr val="FFFFFF"/>
          </a:solidFill>
          <a:ln w="12700">
            <a:solidFill>
              <a:srgbClr val="BFC7D3"/>
            </a:solidFill>
            <a:prstDash val="solid"/>
          </a:ln>
        </p:spPr>
      </p:sp>
      <p:sp>
        <p:nvSpPr>
          <p:cNvPr id="56" name="Text 54"/>
          <p:cNvSpPr/>
          <p:nvPr/>
        </p:nvSpPr>
        <p:spPr>
          <a:xfrm>
            <a:off x="4078224" y="3374136"/>
            <a:ext cx="4315968" cy="384048"/>
          </a:xfrm>
          <a:prstGeom prst="rect">
            <a:avLst/>
          </a:prstGeom>
          <a:noFill/>
          <a:ln/>
        </p:spPr>
        <p:txBody>
          <a:bodyPr wrap="square" lIns="0" tIns="0" rIns="0" bIns="0" rtlCol="0" anchor="ctr"/>
          <a:lstStyle/>
          <a:p>
            <a:pPr algn="ctr" indent="0" marL="0">
              <a:buNone/>
            </a:pPr>
            <a:r>
              <a:rPr lang="en-US" sz="1110" dirty="0">
                <a:solidFill>
                  <a:srgbClr val="20242C"/>
                </a:solidFill>
                <a:latin typeface="Verdana" pitchFamily="34" charset="0"/>
                <a:ea typeface="Verdana" pitchFamily="34" charset="-122"/>
                <a:cs typeface="Verdana" pitchFamily="34" charset="-120"/>
              </a:rPr>
              <a:t>Extra lag not needed</a:t>
            </a:r>
            <a:endParaRPr lang="en-US" sz="1110" dirty="0"/>
          </a:p>
        </p:txBody>
      </p:sp>
      <p:sp>
        <p:nvSpPr>
          <p:cNvPr id="57" name="Shape 55"/>
          <p:cNvSpPr/>
          <p:nvPr/>
        </p:nvSpPr>
        <p:spPr>
          <a:xfrm>
            <a:off x="868680" y="4251960"/>
            <a:ext cx="3566160" cy="1005840"/>
          </a:xfrm>
          <a:prstGeom prst="roundRect">
            <a:avLst/>
          </a:prstGeom>
          <a:solidFill>
            <a:srgbClr val="DAEDEF"/>
          </a:solidFill>
          <a:ln w="12700">
            <a:solidFill>
              <a:srgbClr val="BFC7D3"/>
            </a:solidFill>
            <a:prstDash val="solid"/>
          </a:ln>
        </p:spPr>
      </p:sp>
      <p:sp>
        <p:nvSpPr>
          <p:cNvPr id="58" name="Text 56"/>
          <p:cNvSpPr/>
          <p:nvPr/>
        </p:nvSpPr>
        <p:spPr>
          <a:xfrm>
            <a:off x="996696" y="4343400"/>
            <a:ext cx="331012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Selected model</a:t>
            </a:r>
            <a:endParaRPr lang="en-US" sz="1250" dirty="0"/>
          </a:p>
        </p:txBody>
      </p:sp>
      <p:sp>
        <p:nvSpPr>
          <p:cNvPr id="59" name="Text 57"/>
          <p:cNvSpPr/>
          <p:nvPr/>
        </p:nvSpPr>
        <p:spPr>
          <a:xfrm>
            <a:off x="996696" y="4599432"/>
            <a:ext cx="3310128" cy="566928"/>
          </a:xfrm>
          <a:prstGeom prst="rect">
            <a:avLst/>
          </a:prstGeom>
          <a:noFill/>
          <a:ln/>
        </p:spPr>
        <p:txBody>
          <a:bodyPr wrap="square" lIns="0" tIns="0" rIns="0" bIns="0" rtlCol="0" anchor="t"/>
          <a:lstStyle/>
          <a:p>
            <a:pPr indent="0" marL="0">
              <a:buNone/>
            </a:pPr>
            <a:r>
              <a:rPr lang="en-US" sz="1320" dirty="0">
                <a:solidFill>
                  <a:srgbClr val="20242C"/>
                </a:solidFill>
                <a:latin typeface="Verdana" pitchFamily="34" charset="0"/>
                <a:ea typeface="Verdana" pitchFamily="34" charset="-122"/>
                <a:cs typeface="Verdana" pitchFamily="34" charset="-120"/>
              </a:rPr>
              <a:t>Both AIC and BIC choose AR(3).</a:t>
            </a:r>
            <a:endParaRPr lang="en-US" sz="1320" dirty="0"/>
          </a:p>
        </p:txBody>
      </p:sp>
      <p:sp>
        <p:nvSpPr>
          <p:cNvPr id="60" name="Shape 58"/>
          <p:cNvSpPr/>
          <p:nvPr/>
        </p:nvSpPr>
        <p:spPr>
          <a:xfrm>
            <a:off x="4663440" y="4251960"/>
            <a:ext cx="3520440" cy="1005840"/>
          </a:xfrm>
          <a:prstGeom prst="roundRect">
            <a:avLst/>
          </a:prstGeom>
          <a:solidFill>
            <a:srgbClr val="FFFFFF"/>
          </a:solidFill>
          <a:ln w="12700">
            <a:solidFill>
              <a:srgbClr val="BFC7D3"/>
            </a:solidFill>
            <a:prstDash val="solid"/>
          </a:ln>
        </p:spPr>
      </p:sp>
      <p:sp>
        <p:nvSpPr>
          <p:cNvPr id="61" name="Text 59"/>
          <p:cNvSpPr/>
          <p:nvPr/>
        </p:nvSpPr>
        <p:spPr>
          <a:xfrm>
            <a:off x="4791456" y="4343400"/>
            <a:ext cx="326440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Interpretation</a:t>
            </a:r>
            <a:endParaRPr lang="en-US" sz="1250" dirty="0"/>
          </a:p>
        </p:txBody>
      </p:sp>
      <p:sp>
        <p:nvSpPr>
          <p:cNvPr id="62" name="Text 60"/>
          <p:cNvSpPr/>
          <p:nvPr/>
        </p:nvSpPr>
        <p:spPr>
          <a:xfrm>
            <a:off x="4791456" y="4599432"/>
            <a:ext cx="3264408" cy="566928"/>
          </a:xfrm>
          <a:prstGeom prst="rect">
            <a:avLst/>
          </a:prstGeom>
          <a:noFill/>
          <a:ln/>
        </p:spPr>
        <p:txBody>
          <a:bodyPr wrap="square" lIns="0" tIns="0" rIns="0" bIns="0" rtlCol="0" anchor="t"/>
          <a:lstStyle/>
          <a:p>
            <a:pPr indent="0" marL="0">
              <a:buNone/>
            </a:pPr>
            <a:r>
              <a:rPr lang="en-US" sz="1120" dirty="0">
                <a:solidFill>
                  <a:srgbClr val="20242C"/>
                </a:solidFill>
                <a:latin typeface="Verdana" pitchFamily="34" charset="0"/>
                <a:ea typeface="Verdana" pitchFamily="34" charset="-122"/>
                <a:cs typeface="Verdana" pitchFamily="34" charset="-120"/>
              </a:rPr>
              <a:t>Inflation contains substantial serial dependence, and three lags capture most of that persistence.</a:t>
            </a:r>
            <a:endParaRPr lang="en-US" sz="11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ADL(p,q) Model Results</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Part (c)</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10</a:t>
            </a:r>
            <a:endParaRPr lang="en-US" sz="900" dirty="0"/>
          </a:p>
        </p:txBody>
      </p:sp>
      <p:sp>
        <p:nvSpPr>
          <p:cNvPr id="9" name="Shape 7"/>
          <p:cNvSpPr/>
          <p:nvPr/>
        </p:nvSpPr>
        <p:spPr>
          <a:xfrm>
            <a:off x="685800" y="896112"/>
            <a:ext cx="7726680" cy="749808"/>
          </a:xfrm>
          <a:prstGeom prst="roundRect">
            <a:avLst/>
          </a:prstGeom>
          <a:solidFill>
            <a:srgbClr val="DAEDEF"/>
          </a:solidFill>
          <a:ln w="12700">
            <a:solidFill>
              <a:srgbClr val="BFC7D3"/>
            </a:solidFill>
            <a:prstDash val="solid"/>
          </a:ln>
        </p:spPr>
      </p:sp>
      <p:sp>
        <p:nvSpPr>
          <p:cNvPr id="10" name="Text 8"/>
          <p:cNvSpPr/>
          <p:nvPr/>
        </p:nvSpPr>
        <p:spPr>
          <a:xfrm>
            <a:off x="813816" y="987552"/>
            <a:ext cx="747064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Main result</a:t>
            </a:r>
            <a:endParaRPr lang="en-US" sz="1250" dirty="0"/>
          </a:p>
        </p:txBody>
      </p:sp>
      <p:sp>
        <p:nvSpPr>
          <p:cNvPr id="11" name="Text 9"/>
          <p:cNvSpPr/>
          <p:nvPr/>
        </p:nvSpPr>
        <p:spPr>
          <a:xfrm>
            <a:off x="813816" y="1243584"/>
            <a:ext cx="7470648" cy="310896"/>
          </a:xfrm>
          <a:prstGeom prst="rect">
            <a:avLst/>
          </a:prstGeom>
          <a:noFill/>
          <a:ln/>
        </p:spPr>
        <p:txBody>
          <a:bodyPr wrap="square" lIns="0" tIns="0" rIns="0" bIns="0" rtlCol="0" anchor="t"/>
          <a:lstStyle/>
          <a:p>
            <a:pPr indent="0" marL="0">
              <a:buNone/>
            </a:pPr>
            <a:r>
              <a:rPr lang="en-US" sz="1110" dirty="0">
                <a:solidFill>
                  <a:srgbClr val="20242C"/>
                </a:solidFill>
                <a:latin typeface="Verdana" pitchFamily="34" charset="0"/>
                <a:ea typeface="Verdana" pitchFamily="34" charset="-122"/>
                <a:cs typeface="Verdana" pitchFamily="34" charset="-120"/>
              </a:rPr>
              <a:t>BIC selects ADL(3,1), while AIC selects ADL(3,3). This is exactly the pattern we expect when AIC is more willing to keep extra lags.</a:t>
            </a:r>
            <a:endParaRPr lang="en-US" sz="1110" dirty="0"/>
          </a:p>
        </p:txBody>
      </p:sp>
      <p:sp>
        <p:nvSpPr>
          <p:cNvPr id="12" name="Shape 10"/>
          <p:cNvSpPr/>
          <p:nvPr/>
        </p:nvSpPr>
        <p:spPr>
          <a:xfrm>
            <a:off x="713232" y="1874520"/>
            <a:ext cx="1234440" cy="438912"/>
          </a:xfrm>
          <a:prstGeom prst="rect">
            <a:avLst/>
          </a:prstGeom>
          <a:solidFill>
            <a:srgbClr val="333399"/>
          </a:solidFill>
          <a:ln w="12700">
            <a:solidFill>
              <a:srgbClr val="FFFFFF"/>
            </a:solidFill>
            <a:prstDash val="solid"/>
          </a:ln>
        </p:spPr>
      </p:sp>
      <p:sp>
        <p:nvSpPr>
          <p:cNvPr id="13" name="Text 11"/>
          <p:cNvSpPr/>
          <p:nvPr/>
        </p:nvSpPr>
        <p:spPr>
          <a:xfrm>
            <a:off x="749808" y="1911096"/>
            <a:ext cx="1161288" cy="365760"/>
          </a:xfrm>
          <a:prstGeom prst="rect">
            <a:avLst/>
          </a:prstGeom>
          <a:noFill/>
          <a:ln/>
        </p:spPr>
        <p:txBody>
          <a:bodyPr wrap="square" lIns="0" tIns="0" rIns="0" bIns="0" rtlCol="0" anchor="ctr"/>
          <a:lstStyle/>
          <a:p>
            <a:pPr algn="ctr" indent="0" marL="0">
              <a:buNone/>
            </a:pPr>
            <a:r>
              <a:rPr lang="en-US" sz="1020" b="1" dirty="0">
                <a:solidFill>
                  <a:srgbClr val="FFFFFF"/>
                </a:solidFill>
                <a:latin typeface="Verdana" pitchFamily="34" charset="0"/>
                <a:ea typeface="Verdana" pitchFamily="34" charset="-122"/>
                <a:cs typeface="Verdana" pitchFamily="34" charset="-120"/>
              </a:rPr>
              <a:t>Best by BIC</a:t>
            </a:r>
            <a:endParaRPr lang="en-US" sz="1020" dirty="0"/>
          </a:p>
        </p:txBody>
      </p:sp>
      <p:sp>
        <p:nvSpPr>
          <p:cNvPr id="14" name="Shape 12"/>
          <p:cNvSpPr/>
          <p:nvPr/>
        </p:nvSpPr>
        <p:spPr>
          <a:xfrm>
            <a:off x="1947672" y="1874520"/>
            <a:ext cx="960120" cy="438912"/>
          </a:xfrm>
          <a:prstGeom prst="rect">
            <a:avLst/>
          </a:prstGeom>
          <a:solidFill>
            <a:srgbClr val="333399"/>
          </a:solidFill>
          <a:ln w="12700">
            <a:solidFill>
              <a:srgbClr val="FFFFFF"/>
            </a:solidFill>
            <a:prstDash val="solid"/>
          </a:ln>
        </p:spPr>
      </p:sp>
      <p:sp>
        <p:nvSpPr>
          <p:cNvPr id="15" name="Text 13"/>
          <p:cNvSpPr/>
          <p:nvPr/>
        </p:nvSpPr>
        <p:spPr>
          <a:xfrm>
            <a:off x="1984248" y="1911096"/>
            <a:ext cx="886968" cy="365760"/>
          </a:xfrm>
          <a:prstGeom prst="rect">
            <a:avLst/>
          </a:prstGeom>
          <a:noFill/>
          <a:ln/>
        </p:spPr>
        <p:txBody>
          <a:bodyPr wrap="square" lIns="0" tIns="0" rIns="0" bIns="0" rtlCol="0" anchor="ctr"/>
          <a:lstStyle/>
          <a:p>
            <a:pPr algn="ctr" indent="0" marL="0">
              <a:buNone/>
            </a:pPr>
            <a:r>
              <a:rPr lang="en-US" sz="1020" b="1" dirty="0">
                <a:solidFill>
                  <a:srgbClr val="FFFFFF"/>
                </a:solidFill>
                <a:latin typeface="Verdana" pitchFamily="34" charset="0"/>
                <a:ea typeface="Verdana" pitchFamily="34" charset="-122"/>
                <a:cs typeface="Verdana" pitchFamily="34" charset="-120"/>
              </a:rPr>
              <a:t>BIC</a:t>
            </a:r>
            <a:endParaRPr lang="en-US" sz="1020" dirty="0"/>
          </a:p>
        </p:txBody>
      </p:sp>
      <p:sp>
        <p:nvSpPr>
          <p:cNvPr id="16" name="Shape 14"/>
          <p:cNvSpPr/>
          <p:nvPr/>
        </p:nvSpPr>
        <p:spPr>
          <a:xfrm>
            <a:off x="2907792" y="1874520"/>
            <a:ext cx="1463040" cy="438912"/>
          </a:xfrm>
          <a:prstGeom prst="rect">
            <a:avLst/>
          </a:prstGeom>
          <a:solidFill>
            <a:srgbClr val="333399"/>
          </a:solidFill>
          <a:ln w="12700">
            <a:solidFill>
              <a:srgbClr val="FFFFFF"/>
            </a:solidFill>
            <a:prstDash val="solid"/>
          </a:ln>
        </p:spPr>
      </p:sp>
      <p:sp>
        <p:nvSpPr>
          <p:cNvPr id="17" name="Text 15"/>
          <p:cNvSpPr/>
          <p:nvPr/>
        </p:nvSpPr>
        <p:spPr>
          <a:xfrm>
            <a:off x="2944368" y="1911096"/>
            <a:ext cx="1389888" cy="365760"/>
          </a:xfrm>
          <a:prstGeom prst="rect">
            <a:avLst/>
          </a:prstGeom>
          <a:noFill/>
          <a:ln/>
        </p:spPr>
        <p:txBody>
          <a:bodyPr wrap="square" lIns="0" tIns="0" rIns="0" bIns="0" rtlCol="0" anchor="ctr"/>
          <a:lstStyle/>
          <a:p>
            <a:pPr algn="ctr" indent="0" marL="0">
              <a:buNone/>
            </a:pPr>
            <a:r>
              <a:rPr lang="en-US" sz="1020" b="1" dirty="0">
                <a:solidFill>
                  <a:srgbClr val="FFFFFF"/>
                </a:solidFill>
                <a:latin typeface="Verdana" pitchFamily="34" charset="0"/>
                <a:ea typeface="Verdana" pitchFamily="34" charset="-122"/>
                <a:cs typeface="Verdana" pitchFamily="34" charset="-120"/>
              </a:rPr>
              <a:t>Comment</a:t>
            </a:r>
            <a:endParaRPr lang="en-US" sz="1020" dirty="0"/>
          </a:p>
        </p:txBody>
      </p:sp>
      <p:sp>
        <p:nvSpPr>
          <p:cNvPr id="18" name="Shape 16"/>
          <p:cNvSpPr/>
          <p:nvPr/>
        </p:nvSpPr>
        <p:spPr>
          <a:xfrm>
            <a:off x="713232" y="2313432"/>
            <a:ext cx="1234440" cy="438912"/>
          </a:xfrm>
          <a:prstGeom prst="rect">
            <a:avLst/>
          </a:prstGeom>
          <a:solidFill>
            <a:srgbClr val="DAEDEF"/>
          </a:solidFill>
          <a:ln w="12700">
            <a:solidFill>
              <a:srgbClr val="BFC7D3"/>
            </a:solidFill>
            <a:prstDash val="solid"/>
          </a:ln>
        </p:spPr>
      </p:sp>
      <p:sp>
        <p:nvSpPr>
          <p:cNvPr id="19" name="Text 17"/>
          <p:cNvSpPr/>
          <p:nvPr/>
        </p:nvSpPr>
        <p:spPr>
          <a:xfrm>
            <a:off x="749808" y="2350008"/>
            <a:ext cx="1161288" cy="365760"/>
          </a:xfrm>
          <a:prstGeom prst="rect">
            <a:avLst/>
          </a:prstGeom>
          <a:noFill/>
          <a:ln/>
        </p:spPr>
        <p:txBody>
          <a:bodyPr wrap="square" lIns="0" tIns="0" rIns="0" bIns="0" rtlCol="0" anchor="ctr"/>
          <a:lstStyle/>
          <a:p>
            <a:pPr algn="ctr" indent="0" marL="0">
              <a:buNone/>
            </a:pPr>
            <a:r>
              <a:rPr lang="en-US" sz="1020" b="1" dirty="0">
                <a:solidFill>
                  <a:srgbClr val="20242C"/>
                </a:solidFill>
                <a:latin typeface="Verdana" pitchFamily="34" charset="0"/>
                <a:ea typeface="Verdana" pitchFamily="34" charset="-122"/>
                <a:cs typeface="Verdana" pitchFamily="34" charset="-120"/>
              </a:rPr>
              <a:t>ADL(3,1)</a:t>
            </a:r>
            <a:endParaRPr lang="en-US" sz="1020" dirty="0"/>
          </a:p>
        </p:txBody>
      </p:sp>
      <p:sp>
        <p:nvSpPr>
          <p:cNvPr id="20" name="Shape 18"/>
          <p:cNvSpPr/>
          <p:nvPr/>
        </p:nvSpPr>
        <p:spPr>
          <a:xfrm>
            <a:off x="1947672" y="2313432"/>
            <a:ext cx="960120" cy="438912"/>
          </a:xfrm>
          <a:prstGeom prst="rect">
            <a:avLst/>
          </a:prstGeom>
          <a:solidFill>
            <a:srgbClr val="DAEDEF"/>
          </a:solidFill>
          <a:ln w="12700">
            <a:solidFill>
              <a:srgbClr val="BFC7D3"/>
            </a:solidFill>
            <a:prstDash val="solid"/>
          </a:ln>
        </p:spPr>
      </p:sp>
      <p:sp>
        <p:nvSpPr>
          <p:cNvPr id="21" name="Text 19"/>
          <p:cNvSpPr/>
          <p:nvPr/>
        </p:nvSpPr>
        <p:spPr>
          <a:xfrm>
            <a:off x="1984248" y="2350008"/>
            <a:ext cx="886968" cy="365760"/>
          </a:xfrm>
          <a:prstGeom prst="rect">
            <a:avLst/>
          </a:prstGeom>
          <a:noFill/>
          <a:ln/>
        </p:spPr>
        <p:txBody>
          <a:bodyPr wrap="square" lIns="0" tIns="0" rIns="0" bIns="0" rtlCol="0" anchor="ctr"/>
          <a:lstStyle/>
          <a:p>
            <a:pPr algn="ctr" indent="0" marL="0">
              <a:buNone/>
            </a:pPr>
            <a:r>
              <a:rPr lang="en-US" sz="1020" b="1" dirty="0">
                <a:solidFill>
                  <a:srgbClr val="20242C"/>
                </a:solidFill>
                <a:latin typeface="Verdana" pitchFamily="34" charset="0"/>
                <a:ea typeface="Verdana" pitchFamily="34" charset="-122"/>
                <a:cs typeface="Verdana" pitchFamily="34" charset="-120"/>
              </a:rPr>
              <a:t>857.64</a:t>
            </a:r>
            <a:endParaRPr lang="en-US" sz="1020" dirty="0"/>
          </a:p>
        </p:txBody>
      </p:sp>
      <p:sp>
        <p:nvSpPr>
          <p:cNvPr id="22" name="Shape 20"/>
          <p:cNvSpPr/>
          <p:nvPr/>
        </p:nvSpPr>
        <p:spPr>
          <a:xfrm>
            <a:off x="2907792" y="2313432"/>
            <a:ext cx="1463040" cy="438912"/>
          </a:xfrm>
          <a:prstGeom prst="rect">
            <a:avLst/>
          </a:prstGeom>
          <a:solidFill>
            <a:srgbClr val="DAEDEF"/>
          </a:solidFill>
          <a:ln w="12700">
            <a:solidFill>
              <a:srgbClr val="BFC7D3"/>
            </a:solidFill>
            <a:prstDash val="solid"/>
          </a:ln>
        </p:spPr>
      </p:sp>
      <p:sp>
        <p:nvSpPr>
          <p:cNvPr id="23" name="Text 21"/>
          <p:cNvSpPr/>
          <p:nvPr/>
        </p:nvSpPr>
        <p:spPr>
          <a:xfrm>
            <a:off x="2944368" y="2350008"/>
            <a:ext cx="1389888" cy="365760"/>
          </a:xfrm>
          <a:prstGeom prst="rect">
            <a:avLst/>
          </a:prstGeom>
          <a:noFill/>
          <a:ln/>
        </p:spPr>
        <p:txBody>
          <a:bodyPr wrap="square" lIns="0" tIns="0" rIns="0" bIns="0" rtlCol="0" anchor="ctr"/>
          <a:lstStyle/>
          <a:p>
            <a:pPr algn="ctr" indent="0" marL="0">
              <a:buNone/>
            </a:pPr>
            <a:r>
              <a:rPr lang="en-US" sz="1020" b="1" dirty="0">
                <a:solidFill>
                  <a:srgbClr val="20242C"/>
                </a:solidFill>
                <a:latin typeface="Verdana" pitchFamily="34" charset="0"/>
                <a:ea typeface="Verdana" pitchFamily="34" charset="-122"/>
                <a:cs typeface="Verdana" pitchFamily="34" charset="-120"/>
              </a:rPr>
              <a:t>Most parsimonious winner</a:t>
            </a:r>
            <a:endParaRPr lang="en-US" sz="1020" dirty="0"/>
          </a:p>
        </p:txBody>
      </p:sp>
      <p:sp>
        <p:nvSpPr>
          <p:cNvPr id="24" name="Shape 22"/>
          <p:cNvSpPr/>
          <p:nvPr/>
        </p:nvSpPr>
        <p:spPr>
          <a:xfrm>
            <a:off x="713232" y="2752344"/>
            <a:ext cx="1234440" cy="438912"/>
          </a:xfrm>
          <a:prstGeom prst="rect">
            <a:avLst/>
          </a:prstGeom>
          <a:solidFill>
            <a:srgbClr val="EEF3F8"/>
          </a:solidFill>
          <a:ln w="12700">
            <a:solidFill>
              <a:srgbClr val="BFC7D3"/>
            </a:solidFill>
            <a:prstDash val="solid"/>
          </a:ln>
        </p:spPr>
      </p:sp>
      <p:sp>
        <p:nvSpPr>
          <p:cNvPr id="25" name="Text 23"/>
          <p:cNvSpPr/>
          <p:nvPr/>
        </p:nvSpPr>
        <p:spPr>
          <a:xfrm>
            <a:off x="749808" y="2788920"/>
            <a:ext cx="116128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ADL(3,0)</a:t>
            </a:r>
            <a:endParaRPr lang="en-US" sz="1020" dirty="0"/>
          </a:p>
        </p:txBody>
      </p:sp>
      <p:sp>
        <p:nvSpPr>
          <p:cNvPr id="26" name="Shape 24"/>
          <p:cNvSpPr/>
          <p:nvPr/>
        </p:nvSpPr>
        <p:spPr>
          <a:xfrm>
            <a:off x="1947672" y="2752344"/>
            <a:ext cx="960120" cy="438912"/>
          </a:xfrm>
          <a:prstGeom prst="rect">
            <a:avLst/>
          </a:prstGeom>
          <a:solidFill>
            <a:srgbClr val="EEF3F8"/>
          </a:solidFill>
          <a:ln w="12700">
            <a:solidFill>
              <a:srgbClr val="BFC7D3"/>
            </a:solidFill>
            <a:prstDash val="solid"/>
          </a:ln>
        </p:spPr>
      </p:sp>
      <p:sp>
        <p:nvSpPr>
          <p:cNvPr id="27" name="Text 25"/>
          <p:cNvSpPr/>
          <p:nvPr/>
        </p:nvSpPr>
        <p:spPr>
          <a:xfrm>
            <a:off x="1984248" y="2788920"/>
            <a:ext cx="88696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858.55</a:t>
            </a:r>
            <a:endParaRPr lang="en-US" sz="1020" dirty="0"/>
          </a:p>
        </p:txBody>
      </p:sp>
      <p:sp>
        <p:nvSpPr>
          <p:cNvPr id="28" name="Shape 26"/>
          <p:cNvSpPr/>
          <p:nvPr/>
        </p:nvSpPr>
        <p:spPr>
          <a:xfrm>
            <a:off x="2907792" y="2752344"/>
            <a:ext cx="1463040" cy="438912"/>
          </a:xfrm>
          <a:prstGeom prst="rect">
            <a:avLst/>
          </a:prstGeom>
          <a:solidFill>
            <a:srgbClr val="EEF3F8"/>
          </a:solidFill>
          <a:ln w="12700">
            <a:solidFill>
              <a:srgbClr val="BFC7D3"/>
            </a:solidFill>
            <a:prstDash val="solid"/>
          </a:ln>
        </p:spPr>
      </p:sp>
      <p:sp>
        <p:nvSpPr>
          <p:cNvPr id="29" name="Text 27"/>
          <p:cNvSpPr/>
          <p:nvPr/>
        </p:nvSpPr>
        <p:spPr>
          <a:xfrm>
            <a:off x="2944368" y="2788920"/>
            <a:ext cx="138988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Close second</a:t>
            </a:r>
            <a:endParaRPr lang="en-US" sz="1020" dirty="0"/>
          </a:p>
        </p:txBody>
      </p:sp>
      <p:sp>
        <p:nvSpPr>
          <p:cNvPr id="30" name="Shape 28"/>
          <p:cNvSpPr/>
          <p:nvPr/>
        </p:nvSpPr>
        <p:spPr>
          <a:xfrm>
            <a:off x="713232" y="3191256"/>
            <a:ext cx="1234440" cy="438912"/>
          </a:xfrm>
          <a:prstGeom prst="rect">
            <a:avLst/>
          </a:prstGeom>
          <a:solidFill>
            <a:srgbClr val="FFFFFF"/>
          </a:solidFill>
          <a:ln w="12700">
            <a:solidFill>
              <a:srgbClr val="BFC7D3"/>
            </a:solidFill>
            <a:prstDash val="solid"/>
          </a:ln>
        </p:spPr>
      </p:sp>
      <p:sp>
        <p:nvSpPr>
          <p:cNvPr id="31" name="Text 29"/>
          <p:cNvSpPr/>
          <p:nvPr/>
        </p:nvSpPr>
        <p:spPr>
          <a:xfrm>
            <a:off x="749808" y="3227832"/>
            <a:ext cx="116128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ADL(3,3)</a:t>
            </a:r>
            <a:endParaRPr lang="en-US" sz="1020" dirty="0"/>
          </a:p>
        </p:txBody>
      </p:sp>
      <p:sp>
        <p:nvSpPr>
          <p:cNvPr id="32" name="Shape 30"/>
          <p:cNvSpPr/>
          <p:nvPr/>
        </p:nvSpPr>
        <p:spPr>
          <a:xfrm>
            <a:off x="1947672" y="3191256"/>
            <a:ext cx="960120" cy="438912"/>
          </a:xfrm>
          <a:prstGeom prst="rect">
            <a:avLst/>
          </a:prstGeom>
          <a:solidFill>
            <a:srgbClr val="FFFFFF"/>
          </a:solidFill>
          <a:ln w="12700">
            <a:solidFill>
              <a:srgbClr val="BFC7D3"/>
            </a:solidFill>
            <a:prstDash val="solid"/>
          </a:ln>
        </p:spPr>
      </p:sp>
      <p:sp>
        <p:nvSpPr>
          <p:cNvPr id="33" name="Text 31"/>
          <p:cNvSpPr/>
          <p:nvPr/>
        </p:nvSpPr>
        <p:spPr>
          <a:xfrm>
            <a:off x="1984248" y="3227832"/>
            <a:ext cx="88696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859.36</a:t>
            </a:r>
            <a:endParaRPr lang="en-US" sz="1020" dirty="0"/>
          </a:p>
        </p:txBody>
      </p:sp>
      <p:sp>
        <p:nvSpPr>
          <p:cNvPr id="34" name="Shape 32"/>
          <p:cNvSpPr/>
          <p:nvPr/>
        </p:nvSpPr>
        <p:spPr>
          <a:xfrm>
            <a:off x="2907792" y="3191256"/>
            <a:ext cx="1463040" cy="438912"/>
          </a:xfrm>
          <a:prstGeom prst="rect">
            <a:avLst/>
          </a:prstGeom>
          <a:solidFill>
            <a:srgbClr val="FFFFFF"/>
          </a:solidFill>
          <a:ln w="12700">
            <a:solidFill>
              <a:srgbClr val="BFC7D3"/>
            </a:solidFill>
            <a:prstDash val="solid"/>
          </a:ln>
        </p:spPr>
      </p:sp>
      <p:sp>
        <p:nvSpPr>
          <p:cNvPr id="35" name="Text 33"/>
          <p:cNvSpPr/>
          <p:nvPr/>
        </p:nvSpPr>
        <p:spPr>
          <a:xfrm>
            <a:off x="2944368" y="3227832"/>
            <a:ext cx="138988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Better fit, but more parameters</a:t>
            </a:r>
            <a:endParaRPr lang="en-US" sz="1020" dirty="0"/>
          </a:p>
        </p:txBody>
      </p:sp>
      <p:sp>
        <p:nvSpPr>
          <p:cNvPr id="36" name="Shape 34"/>
          <p:cNvSpPr/>
          <p:nvPr/>
        </p:nvSpPr>
        <p:spPr>
          <a:xfrm>
            <a:off x="713232" y="3630168"/>
            <a:ext cx="1234440" cy="438912"/>
          </a:xfrm>
          <a:prstGeom prst="rect">
            <a:avLst/>
          </a:prstGeom>
          <a:solidFill>
            <a:srgbClr val="EEF3F8"/>
          </a:solidFill>
          <a:ln w="12700">
            <a:solidFill>
              <a:srgbClr val="BFC7D3"/>
            </a:solidFill>
            <a:prstDash val="solid"/>
          </a:ln>
        </p:spPr>
      </p:sp>
      <p:sp>
        <p:nvSpPr>
          <p:cNvPr id="37" name="Text 35"/>
          <p:cNvSpPr/>
          <p:nvPr/>
        </p:nvSpPr>
        <p:spPr>
          <a:xfrm>
            <a:off x="749808" y="3666744"/>
            <a:ext cx="116128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ADL(3,2)</a:t>
            </a:r>
            <a:endParaRPr lang="en-US" sz="1020" dirty="0"/>
          </a:p>
        </p:txBody>
      </p:sp>
      <p:sp>
        <p:nvSpPr>
          <p:cNvPr id="38" name="Shape 36"/>
          <p:cNvSpPr/>
          <p:nvPr/>
        </p:nvSpPr>
        <p:spPr>
          <a:xfrm>
            <a:off x="1947672" y="3630168"/>
            <a:ext cx="960120" cy="438912"/>
          </a:xfrm>
          <a:prstGeom prst="rect">
            <a:avLst/>
          </a:prstGeom>
          <a:solidFill>
            <a:srgbClr val="EEF3F8"/>
          </a:solidFill>
          <a:ln w="12700">
            <a:solidFill>
              <a:srgbClr val="BFC7D3"/>
            </a:solidFill>
            <a:prstDash val="solid"/>
          </a:ln>
        </p:spPr>
      </p:sp>
      <p:sp>
        <p:nvSpPr>
          <p:cNvPr id="39" name="Text 37"/>
          <p:cNvSpPr/>
          <p:nvPr/>
        </p:nvSpPr>
        <p:spPr>
          <a:xfrm>
            <a:off x="1984248" y="3666744"/>
            <a:ext cx="88696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860.17</a:t>
            </a:r>
            <a:endParaRPr lang="en-US" sz="1020" dirty="0"/>
          </a:p>
        </p:txBody>
      </p:sp>
      <p:sp>
        <p:nvSpPr>
          <p:cNvPr id="40" name="Shape 38"/>
          <p:cNvSpPr/>
          <p:nvPr/>
        </p:nvSpPr>
        <p:spPr>
          <a:xfrm>
            <a:off x="2907792" y="3630168"/>
            <a:ext cx="1463040" cy="438912"/>
          </a:xfrm>
          <a:prstGeom prst="rect">
            <a:avLst/>
          </a:prstGeom>
          <a:solidFill>
            <a:srgbClr val="EEF3F8"/>
          </a:solidFill>
          <a:ln w="12700">
            <a:solidFill>
              <a:srgbClr val="BFC7D3"/>
            </a:solidFill>
            <a:prstDash val="solid"/>
          </a:ln>
        </p:spPr>
      </p:sp>
      <p:sp>
        <p:nvSpPr>
          <p:cNvPr id="41" name="Text 39"/>
          <p:cNvSpPr/>
          <p:nvPr/>
        </p:nvSpPr>
        <p:spPr>
          <a:xfrm>
            <a:off x="2944368" y="3666744"/>
            <a:ext cx="138988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Still competitive</a:t>
            </a:r>
            <a:endParaRPr lang="en-US" sz="1020" dirty="0"/>
          </a:p>
        </p:txBody>
      </p:sp>
      <p:sp>
        <p:nvSpPr>
          <p:cNvPr id="42" name="Shape 40"/>
          <p:cNvSpPr/>
          <p:nvPr/>
        </p:nvSpPr>
        <p:spPr>
          <a:xfrm>
            <a:off x="4572000" y="1874520"/>
            <a:ext cx="1234440" cy="438912"/>
          </a:xfrm>
          <a:prstGeom prst="rect">
            <a:avLst/>
          </a:prstGeom>
          <a:solidFill>
            <a:srgbClr val="333399"/>
          </a:solidFill>
          <a:ln w="12700">
            <a:solidFill>
              <a:srgbClr val="FFFFFF"/>
            </a:solidFill>
            <a:prstDash val="solid"/>
          </a:ln>
        </p:spPr>
      </p:sp>
      <p:sp>
        <p:nvSpPr>
          <p:cNvPr id="43" name="Text 41"/>
          <p:cNvSpPr/>
          <p:nvPr/>
        </p:nvSpPr>
        <p:spPr>
          <a:xfrm>
            <a:off x="4608576" y="1911096"/>
            <a:ext cx="1161288" cy="365760"/>
          </a:xfrm>
          <a:prstGeom prst="rect">
            <a:avLst/>
          </a:prstGeom>
          <a:noFill/>
          <a:ln/>
        </p:spPr>
        <p:txBody>
          <a:bodyPr wrap="square" lIns="0" tIns="0" rIns="0" bIns="0" rtlCol="0" anchor="ctr"/>
          <a:lstStyle/>
          <a:p>
            <a:pPr algn="ctr" indent="0" marL="0">
              <a:buNone/>
            </a:pPr>
            <a:r>
              <a:rPr lang="en-US" sz="1020" b="1" dirty="0">
                <a:solidFill>
                  <a:srgbClr val="FFFFFF"/>
                </a:solidFill>
                <a:latin typeface="Verdana" pitchFamily="34" charset="0"/>
                <a:ea typeface="Verdana" pitchFamily="34" charset="-122"/>
                <a:cs typeface="Verdana" pitchFamily="34" charset="-120"/>
              </a:rPr>
              <a:t>Best by AIC</a:t>
            </a:r>
            <a:endParaRPr lang="en-US" sz="1020" dirty="0"/>
          </a:p>
        </p:txBody>
      </p:sp>
      <p:sp>
        <p:nvSpPr>
          <p:cNvPr id="44" name="Shape 42"/>
          <p:cNvSpPr/>
          <p:nvPr/>
        </p:nvSpPr>
        <p:spPr>
          <a:xfrm>
            <a:off x="5806440" y="1874520"/>
            <a:ext cx="914400" cy="438912"/>
          </a:xfrm>
          <a:prstGeom prst="rect">
            <a:avLst/>
          </a:prstGeom>
          <a:solidFill>
            <a:srgbClr val="333399"/>
          </a:solidFill>
          <a:ln w="12700">
            <a:solidFill>
              <a:srgbClr val="FFFFFF"/>
            </a:solidFill>
            <a:prstDash val="solid"/>
          </a:ln>
        </p:spPr>
      </p:sp>
      <p:sp>
        <p:nvSpPr>
          <p:cNvPr id="45" name="Text 43"/>
          <p:cNvSpPr/>
          <p:nvPr/>
        </p:nvSpPr>
        <p:spPr>
          <a:xfrm>
            <a:off x="5843016" y="1911096"/>
            <a:ext cx="841248" cy="365760"/>
          </a:xfrm>
          <a:prstGeom prst="rect">
            <a:avLst/>
          </a:prstGeom>
          <a:noFill/>
          <a:ln/>
        </p:spPr>
        <p:txBody>
          <a:bodyPr wrap="square" lIns="0" tIns="0" rIns="0" bIns="0" rtlCol="0" anchor="ctr"/>
          <a:lstStyle/>
          <a:p>
            <a:pPr algn="ctr" indent="0" marL="0">
              <a:buNone/>
            </a:pPr>
            <a:r>
              <a:rPr lang="en-US" sz="1020" b="1" dirty="0">
                <a:solidFill>
                  <a:srgbClr val="FFFFFF"/>
                </a:solidFill>
                <a:latin typeface="Verdana" pitchFamily="34" charset="0"/>
                <a:ea typeface="Verdana" pitchFamily="34" charset="-122"/>
                <a:cs typeface="Verdana" pitchFamily="34" charset="-120"/>
              </a:rPr>
              <a:t>AIC</a:t>
            </a:r>
            <a:endParaRPr lang="en-US" sz="1020" dirty="0"/>
          </a:p>
        </p:txBody>
      </p:sp>
      <p:sp>
        <p:nvSpPr>
          <p:cNvPr id="46" name="Shape 44"/>
          <p:cNvSpPr/>
          <p:nvPr/>
        </p:nvSpPr>
        <p:spPr>
          <a:xfrm>
            <a:off x="6720840" y="1874520"/>
            <a:ext cx="1600200" cy="438912"/>
          </a:xfrm>
          <a:prstGeom prst="rect">
            <a:avLst/>
          </a:prstGeom>
          <a:solidFill>
            <a:srgbClr val="333399"/>
          </a:solidFill>
          <a:ln w="12700">
            <a:solidFill>
              <a:srgbClr val="FFFFFF"/>
            </a:solidFill>
            <a:prstDash val="solid"/>
          </a:ln>
        </p:spPr>
      </p:sp>
      <p:sp>
        <p:nvSpPr>
          <p:cNvPr id="47" name="Text 45"/>
          <p:cNvSpPr/>
          <p:nvPr/>
        </p:nvSpPr>
        <p:spPr>
          <a:xfrm>
            <a:off x="6757416" y="1911096"/>
            <a:ext cx="1527048" cy="365760"/>
          </a:xfrm>
          <a:prstGeom prst="rect">
            <a:avLst/>
          </a:prstGeom>
          <a:noFill/>
          <a:ln/>
        </p:spPr>
        <p:txBody>
          <a:bodyPr wrap="square" lIns="0" tIns="0" rIns="0" bIns="0" rtlCol="0" anchor="ctr"/>
          <a:lstStyle/>
          <a:p>
            <a:pPr algn="ctr" indent="0" marL="0">
              <a:buNone/>
            </a:pPr>
            <a:r>
              <a:rPr lang="en-US" sz="1020" b="1" dirty="0">
                <a:solidFill>
                  <a:srgbClr val="FFFFFF"/>
                </a:solidFill>
                <a:latin typeface="Verdana" pitchFamily="34" charset="0"/>
                <a:ea typeface="Verdana" pitchFamily="34" charset="-122"/>
                <a:cs typeface="Verdana" pitchFamily="34" charset="-120"/>
              </a:rPr>
              <a:t>Comment</a:t>
            </a:r>
            <a:endParaRPr lang="en-US" sz="1020" dirty="0"/>
          </a:p>
        </p:txBody>
      </p:sp>
      <p:sp>
        <p:nvSpPr>
          <p:cNvPr id="48" name="Shape 46"/>
          <p:cNvSpPr/>
          <p:nvPr/>
        </p:nvSpPr>
        <p:spPr>
          <a:xfrm>
            <a:off x="4572000" y="2313432"/>
            <a:ext cx="1234440" cy="438912"/>
          </a:xfrm>
          <a:prstGeom prst="rect">
            <a:avLst/>
          </a:prstGeom>
          <a:solidFill>
            <a:srgbClr val="DAEDEF"/>
          </a:solidFill>
          <a:ln w="12700">
            <a:solidFill>
              <a:srgbClr val="BFC7D3"/>
            </a:solidFill>
            <a:prstDash val="solid"/>
          </a:ln>
        </p:spPr>
      </p:sp>
      <p:sp>
        <p:nvSpPr>
          <p:cNvPr id="49" name="Text 47"/>
          <p:cNvSpPr/>
          <p:nvPr/>
        </p:nvSpPr>
        <p:spPr>
          <a:xfrm>
            <a:off x="4608576" y="2350008"/>
            <a:ext cx="1161288" cy="365760"/>
          </a:xfrm>
          <a:prstGeom prst="rect">
            <a:avLst/>
          </a:prstGeom>
          <a:noFill/>
          <a:ln/>
        </p:spPr>
        <p:txBody>
          <a:bodyPr wrap="square" lIns="0" tIns="0" rIns="0" bIns="0" rtlCol="0" anchor="ctr"/>
          <a:lstStyle/>
          <a:p>
            <a:pPr algn="ctr" indent="0" marL="0">
              <a:buNone/>
            </a:pPr>
            <a:r>
              <a:rPr lang="en-US" sz="1020" b="1" dirty="0">
                <a:solidFill>
                  <a:srgbClr val="20242C"/>
                </a:solidFill>
                <a:latin typeface="Verdana" pitchFamily="34" charset="0"/>
                <a:ea typeface="Verdana" pitchFamily="34" charset="-122"/>
                <a:cs typeface="Verdana" pitchFamily="34" charset="-120"/>
              </a:rPr>
              <a:t>ADL(3,3)</a:t>
            </a:r>
            <a:endParaRPr lang="en-US" sz="1020" dirty="0"/>
          </a:p>
        </p:txBody>
      </p:sp>
      <p:sp>
        <p:nvSpPr>
          <p:cNvPr id="50" name="Shape 48"/>
          <p:cNvSpPr/>
          <p:nvPr/>
        </p:nvSpPr>
        <p:spPr>
          <a:xfrm>
            <a:off x="5806440" y="2313432"/>
            <a:ext cx="914400" cy="438912"/>
          </a:xfrm>
          <a:prstGeom prst="rect">
            <a:avLst/>
          </a:prstGeom>
          <a:solidFill>
            <a:srgbClr val="DAEDEF"/>
          </a:solidFill>
          <a:ln w="12700">
            <a:solidFill>
              <a:srgbClr val="BFC7D3"/>
            </a:solidFill>
            <a:prstDash val="solid"/>
          </a:ln>
        </p:spPr>
      </p:sp>
      <p:sp>
        <p:nvSpPr>
          <p:cNvPr id="51" name="Text 49"/>
          <p:cNvSpPr/>
          <p:nvPr/>
        </p:nvSpPr>
        <p:spPr>
          <a:xfrm>
            <a:off x="5843016" y="2350008"/>
            <a:ext cx="841248" cy="365760"/>
          </a:xfrm>
          <a:prstGeom prst="rect">
            <a:avLst/>
          </a:prstGeom>
          <a:noFill/>
          <a:ln/>
        </p:spPr>
        <p:txBody>
          <a:bodyPr wrap="square" lIns="0" tIns="0" rIns="0" bIns="0" rtlCol="0" anchor="ctr"/>
          <a:lstStyle/>
          <a:p>
            <a:pPr algn="ctr" indent="0" marL="0">
              <a:buNone/>
            </a:pPr>
            <a:r>
              <a:rPr lang="en-US" sz="1020" b="1" dirty="0">
                <a:solidFill>
                  <a:srgbClr val="20242C"/>
                </a:solidFill>
                <a:latin typeface="Verdana" pitchFamily="34" charset="0"/>
                <a:ea typeface="Verdana" pitchFamily="34" charset="-122"/>
                <a:cs typeface="Verdana" pitchFamily="34" charset="-120"/>
              </a:rPr>
              <a:t>832.97</a:t>
            </a:r>
            <a:endParaRPr lang="en-US" sz="1020" dirty="0"/>
          </a:p>
        </p:txBody>
      </p:sp>
      <p:sp>
        <p:nvSpPr>
          <p:cNvPr id="52" name="Shape 50"/>
          <p:cNvSpPr/>
          <p:nvPr/>
        </p:nvSpPr>
        <p:spPr>
          <a:xfrm>
            <a:off x="6720840" y="2313432"/>
            <a:ext cx="1600200" cy="438912"/>
          </a:xfrm>
          <a:prstGeom prst="rect">
            <a:avLst/>
          </a:prstGeom>
          <a:solidFill>
            <a:srgbClr val="DAEDEF"/>
          </a:solidFill>
          <a:ln w="12700">
            <a:solidFill>
              <a:srgbClr val="BFC7D3"/>
            </a:solidFill>
            <a:prstDash val="solid"/>
          </a:ln>
        </p:spPr>
      </p:sp>
      <p:sp>
        <p:nvSpPr>
          <p:cNvPr id="53" name="Text 51"/>
          <p:cNvSpPr/>
          <p:nvPr/>
        </p:nvSpPr>
        <p:spPr>
          <a:xfrm>
            <a:off x="6757416" y="2350008"/>
            <a:ext cx="1527048" cy="365760"/>
          </a:xfrm>
          <a:prstGeom prst="rect">
            <a:avLst/>
          </a:prstGeom>
          <a:noFill/>
          <a:ln/>
        </p:spPr>
        <p:txBody>
          <a:bodyPr wrap="square" lIns="0" tIns="0" rIns="0" bIns="0" rtlCol="0" anchor="ctr"/>
          <a:lstStyle/>
          <a:p>
            <a:pPr algn="ctr" indent="0" marL="0">
              <a:buNone/>
            </a:pPr>
            <a:r>
              <a:rPr lang="en-US" sz="1020" b="1" dirty="0">
                <a:solidFill>
                  <a:srgbClr val="20242C"/>
                </a:solidFill>
                <a:latin typeface="Verdana" pitchFamily="34" charset="0"/>
                <a:ea typeface="Verdana" pitchFamily="34" charset="-122"/>
                <a:cs typeface="Verdana" pitchFamily="34" charset="-120"/>
              </a:rPr>
              <a:t>Best overall fit</a:t>
            </a:r>
            <a:endParaRPr lang="en-US" sz="1020" dirty="0"/>
          </a:p>
        </p:txBody>
      </p:sp>
      <p:sp>
        <p:nvSpPr>
          <p:cNvPr id="54" name="Shape 52"/>
          <p:cNvSpPr/>
          <p:nvPr/>
        </p:nvSpPr>
        <p:spPr>
          <a:xfrm>
            <a:off x="4572000" y="2752344"/>
            <a:ext cx="1234440" cy="438912"/>
          </a:xfrm>
          <a:prstGeom prst="rect">
            <a:avLst/>
          </a:prstGeom>
          <a:solidFill>
            <a:srgbClr val="EEF3F8"/>
          </a:solidFill>
          <a:ln w="12700">
            <a:solidFill>
              <a:srgbClr val="BFC7D3"/>
            </a:solidFill>
            <a:prstDash val="solid"/>
          </a:ln>
        </p:spPr>
      </p:sp>
      <p:sp>
        <p:nvSpPr>
          <p:cNvPr id="55" name="Text 53"/>
          <p:cNvSpPr/>
          <p:nvPr/>
        </p:nvSpPr>
        <p:spPr>
          <a:xfrm>
            <a:off x="4608576" y="2788920"/>
            <a:ext cx="116128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ADL(4,3)</a:t>
            </a:r>
            <a:endParaRPr lang="en-US" sz="1020" dirty="0"/>
          </a:p>
        </p:txBody>
      </p:sp>
      <p:sp>
        <p:nvSpPr>
          <p:cNvPr id="56" name="Shape 54"/>
          <p:cNvSpPr/>
          <p:nvPr/>
        </p:nvSpPr>
        <p:spPr>
          <a:xfrm>
            <a:off x="5806440" y="2752344"/>
            <a:ext cx="914400" cy="438912"/>
          </a:xfrm>
          <a:prstGeom prst="rect">
            <a:avLst/>
          </a:prstGeom>
          <a:solidFill>
            <a:srgbClr val="EEF3F8"/>
          </a:solidFill>
          <a:ln w="12700">
            <a:solidFill>
              <a:srgbClr val="BFC7D3"/>
            </a:solidFill>
            <a:prstDash val="solid"/>
          </a:ln>
        </p:spPr>
      </p:sp>
      <p:sp>
        <p:nvSpPr>
          <p:cNvPr id="57" name="Text 55"/>
          <p:cNvSpPr/>
          <p:nvPr/>
        </p:nvSpPr>
        <p:spPr>
          <a:xfrm>
            <a:off x="5843016" y="2788920"/>
            <a:ext cx="84124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834.91</a:t>
            </a:r>
            <a:endParaRPr lang="en-US" sz="1020" dirty="0"/>
          </a:p>
        </p:txBody>
      </p:sp>
      <p:sp>
        <p:nvSpPr>
          <p:cNvPr id="58" name="Shape 56"/>
          <p:cNvSpPr/>
          <p:nvPr/>
        </p:nvSpPr>
        <p:spPr>
          <a:xfrm>
            <a:off x="6720840" y="2752344"/>
            <a:ext cx="1600200" cy="438912"/>
          </a:xfrm>
          <a:prstGeom prst="rect">
            <a:avLst/>
          </a:prstGeom>
          <a:solidFill>
            <a:srgbClr val="EEF3F8"/>
          </a:solidFill>
          <a:ln w="12700">
            <a:solidFill>
              <a:srgbClr val="BFC7D3"/>
            </a:solidFill>
            <a:prstDash val="solid"/>
          </a:ln>
        </p:spPr>
      </p:sp>
      <p:sp>
        <p:nvSpPr>
          <p:cNvPr id="59" name="Text 57"/>
          <p:cNvSpPr/>
          <p:nvPr/>
        </p:nvSpPr>
        <p:spPr>
          <a:xfrm>
            <a:off x="6757416" y="2788920"/>
            <a:ext cx="152704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Very close</a:t>
            </a:r>
            <a:endParaRPr lang="en-US" sz="1020" dirty="0"/>
          </a:p>
        </p:txBody>
      </p:sp>
      <p:sp>
        <p:nvSpPr>
          <p:cNvPr id="60" name="Shape 58"/>
          <p:cNvSpPr/>
          <p:nvPr/>
        </p:nvSpPr>
        <p:spPr>
          <a:xfrm>
            <a:off x="4572000" y="3191256"/>
            <a:ext cx="1234440" cy="438912"/>
          </a:xfrm>
          <a:prstGeom prst="rect">
            <a:avLst/>
          </a:prstGeom>
          <a:solidFill>
            <a:srgbClr val="FFFFFF"/>
          </a:solidFill>
          <a:ln w="12700">
            <a:solidFill>
              <a:srgbClr val="BFC7D3"/>
            </a:solidFill>
            <a:prstDash val="solid"/>
          </a:ln>
        </p:spPr>
      </p:sp>
      <p:sp>
        <p:nvSpPr>
          <p:cNvPr id="61" name="Text 59"/>
          <p:cNvSpPr/>
          <p:nvPr/>
        </p:nvSpPr>
        <p:spPr>
          <a:xfrm>
            <a:off x="4608576" y="3227832"/>
            <a:ext cx="116128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ADL(3,4)</a:t>
            </a:r>
            <a:endParaRPr lang="en-US" sz="1020" dirty="0"/>
          </a:p>
        </p:txBody>
      </p:sp>
      <p:sp>
        <p:nvSpPr>
          <p:cNvPr id="62" name="Shape 60"/>
          <p:cNvSpPr/>
          <p:nvPr/>
        </p:nvSpPr>
        <p:spPr>
          <a:xfrm>
            <a:off x="5806440" y="3191256"/>
            <a:ext cx="914400" cy="438912"/>
          </a:xfrm>
          <a:prstGeom prst="rect">
            <a:avLst/>
          </a:prstGeom>
          <a:solidFill>
            <a:srgbClr val="FFFFFF"/>
          </a:solidFill>
          <a:ln w="12700">
            <a:solidFill>
              <a:srgbClr val="BFC7D3"/>
            </a:solidFill>
            <a:prstDash val="solid"/>
          </a:ln>
        </p:spPr>
      </p:sp>
      <p:sp>
        <p:nvSpPr>
          <p:cNvPr id="63" name="Text 61"/>
          <p:cNvSpPr/>
          <p:nvPr/>
        </p:nvSpPr>
        <p:spPr>
          <a:xfrm>
            <a:off x="5843016" y="3227832"/>
            <a:ext cx="84124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834.92</a:t>
            </a:r>
            <a:endParaRPr lang="en-US" sz="1020" dirty="0"/>
          </a:p>
        </p:txBody>
      </p:sp>
      <p:sp>
        <p:nvSpPr>
          <p:cNvPr id="64" name="Shape 62"/>
          <p:cNvSpPr/>
          <p:nvPr/>
        </p:nvSpPr>
        <p:spPr>
          <a:xfrm>
            <a:off x="6720840" y="3191256"/>
            <a:ext cx="1600200" cy="438912"/>
          </a:xfrm>
          <a:prstGeom prst="rect">
            <a:avLst/>
          </a:prstGeom>
          <a:solidFill>
            <a:srgbClr val="FFFFFF"/>
          </a:solidFill>
          <a:ln w="12700">
            <a:solidFill>
              <a:srgbClr val="BFC7D3"/>
            </a:solidFill>
            <a:prstDash val="solid"/>
          </a:ln>
        </p:spPr>
      </p:sp>
      <p:sp>
        <p:nvSpPr>
          <p:cNvPr id="65" name="Text 63"/>
          <p:cNvSpPr/>
          <p:nvPr/>
        </p:nvSpPr>
        <p:spPr>
          <a:xfrm>
            <a:off x="6757416" y="3227832"/>
            <a:ext cx="152704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Very close</a:t>
            </a:r>
            <a:endParaRPr lang="en-US" sz="1020" dirty="0"/>
          </a:p>
        </p:txBody>
      </p:sp>
      <p:sp>
        <p:nvSpPr>
          <p:cNvPr id="66" name="Shape 64"/>
          <p:cNvSpPr/>
          <p:nvPr/>
        </p:nvSpPr>
        <p:spPr>
          <a:xfrm>
            <a:off x="4572000" y="3630168"/>
            <a:ext cx="1234440" cy="438912"/>
          </a:xfrm>
          <a:prstGeom prst="rect">
            <a:avLst/>
          </a:prstGeom>
          <a:solidFill>
            <a:srgbClr val="EEF3F8"/>
          </a:solidFill>
          <a:ln w="12700">
            <a:solidFill>
              <a:srgbClr val="BFC7D3"/>
            </a:solidFill>
            <a:prstDash val="solid"/>
          </a:ln>
        </p:spPr>
      </p:sp>
      <p:sp>
        <p:nvSpPr>
          <p:cNvPr id="67" name="Text 65"/>
          <p:cNvSpPr/>
          <p:nvPr/>
        </p:nvSpPr>
        <p:spPr>
          <a:xfrm>
            <a:off x="4608576" y="3666744"/>
            <a:ext cx="116128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ADL(4,4)</a:t>
            </a:r>
            <a:endParaRPr lang="en-US" sz="1020" dirty="0"/>
          </a:p>
        </p:txBody>
      </p:sp>
      <p:sp>
        <p:nvSpPr>
          <p:cNvPr id="68" name="Shape 66"/>
          <p:cNvSpPr/>
          <p:nvPr/>
        </p:nvSpPr>
        <p:spPr>
          <a:xfrm>
            <a:off x="5806440" y="3630168"/>
            <a:ext cx="914400" cy="438912"/>
          </a:xfrm>
          <a:prstGeom prst="rect">
            <a:avLst/>
          </a:prstGeom>
          <a:solidFill>
            <a:srgbClr val="EEF3F8"/>
          </a:solidFill>
          <a:ln w="12700">
            <a:solidFill>
              <a:srgbClr val="BFC7D3"/>
            </a:solidFill>
            <a:prstDash val="solid"/>
          </a:ln>
        </p:spPr>
      </p:sp>
      <p:sp>
        <p:nvSpPr>
          <p:cNvPr id="69" name="Text 67"/>
          <p:cNvSpPr/>
          <p:nvPr/>
        </p:nvSpPr>
        <p:spPr>
          <a:xfrm>
            <a:off x="5843016" y="3666744"/>
            <a:ext cx="84124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836.87</a:t>
            </a:r>
            <a:endParaRPr lang="en-US" sz="1020" dirty="0"/>
          </a:p>
        </p:txBody>
      </p:sp>
      <p:sp>
        <p:nvSpPr>
          <p:cNvPr id="70" name="Shape 68"/>
          <p:cNvSpPr/>
          <p:nvPr/>
        </p:nvSpPr>
        <p:spPr>
          <a:xfrm>
            <a:off x="6720840" y="3630168"/>
            <a:ext cx="1600200" cy="438912"/>
          </a:xfrm>
          <a:prstGeom prst="rect">
            <a:avLst/>
          </a:prstGeom>
          <a:solidFill>
            <a:srgbClr val="EEF3F8"/>
          </a:solidFill>
          <a:ln w="12700">
            <a:solidFill>
              <a:srgbClr val="BFC7D3"/>
            </a:solidFill>
            <a:prstDash val="solid"/>
          </a:ln>
        </p:spPr>
      </p:sp>
      <p:sp>
        <p:nvSpPr>
          <p:cNvPr id="71" name="Text 69"/>
          <p:cNvSpPr/>
          <p:nvPr/>
        </p:nvSpPr>
        <p:spPr>
          <a:xfrm>
            <a:off x="6757416" y="3666744"/>
            <a:ext cx="1527048" cy="365760"/>
          </a:xfrm>
          <a:prstGeom prst="rect">
            <a:avLst/>
          </a:prstGeom>
          <a:noFill/>
          <a:ln/>
        </p:spPr>
        <p:txBody>
          <a:bodyPr wrap="square" lIns="0" tIns="0" rIns="0" bIns="0" rtlCol="0" anchor="ctr"/>
          <a:lstStyle/>
          <a:p>
            <a:pPr algn="ctr" indent="0" marL="0">
              <a:buNone/>
            </a:pPr>
            <a:r>
              <a:rPr lang="en-US" sz="1020" dirty="0">
                <a:solidFill>
                  <a:srgbClr val="20242C"/>
                </a:solidFill>
                <a:latin typeface="Verdana" pitchFamily="34" charset="0"/>
                <a:ea typeface="Verdana" pitchFamily="34" charset="-122"/>
                <a:cs typeface="Verdana" pitchFamily="34" charset="-120"/>
              </a:rPr>
              <a:t>Adds more lags</a:t>
            </a:r>
            <a:endParaRPr lang="en-US" sz="1020" dirty="0"/>
          </a:p>
        </p:txBody>
      </p:sp>
      <p:sp>
        <p:nvSpPr>
          <p:cNvPr id="72" name="Shape 70"/>
          <p:cNvSpPr/>
          <p:nvPr/>
        </p:nvSpPr>
        <p:spPr>
          <a:xfrm>
            <a:off x="868680" y="4526280"/>
            <a:ext cx="7315200" cy="960120"/>
          </a:xfrm>
          <a:prstGeom prst="roundRect">
            <a:avLst/>
          </a:prstGeom>
          <a:solidFill>
            <a:srgbClr val="FFFFFF"/>
          </a:solidFill>
          <a:ln w="12700">
            <a:solidFill>
              <a:srgbClr val="BFC7D3"/>
            </a:solidFill>
            <a:prstDash val="solid"/>
          </a:ln>
        </p:spPr>
      </p:sp>
      <p:sp>
        <p:nvSpPr>
          <p:cNvPr id="73" name="Text 71"/>
          <p:cNvSpPr/>
          <p:nvPr/>
        </p:nvSpPr>
        <p:spPr>
          <a:xfrm>
            <a:off x="996696" y="4617720"/>
            <a:ext cx="70591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Economic interpretation</a:t>
            </a:r>
            <a:endParaRPr lang="en-US" sz="1250" dirty="0"/>
          </a:p>
        </p:txBody>
      </p:sp>
      <p:sp>
        <p:nvSpPr>
          <p:cNvPr id="74" name="Text 72"/>
          <p:cNvSpPr/>
          <p:nvPr/>
        </p:nvSpPr>
        <p:spPr>
          <a:xfrm>
            <a:off x="996696" y="4873752"/>
            <a:ext cx="7059168" cy="521208"/>
          </a:xfrm>
          <a:prstGeom prst="rect">
            <a:avLst/>
          </a:prstGeom>
          <a:noFill/>
          <a:ln/>
        </p:spPr>
        <p:txBody>
          <a:bodyPr wrap="square" lIns="0" tIns="0" rIns="0" bIns="0" rtlCol="0" anchor="t"/>
          <a:lstStyle/>
          <a:p>
            <a:pPr indent="0" marL="0">
              <a:buNone/>
            </a:pPr>
            <a:r>
              <a:rPr lang="en-US" sz="1120" dirty="0">
                <a:solidFill>
                  <a:srgbClr val="20242C"/>
                </a:solidFill>
                <a:latin typeface="Verdana" pitchFamily="34" charset="0"/>
                <a:ea typeface="Verdana" pitchFamily="34" charset="-122"/>
                <a:cs typeface="Verdana" pitchFamily="34" charset="-120"/>
              </a:rPr>
              <a:t>The richer ADL(3,3) improves fit enough for AIC, but BIC judges the extra unemployment lags too expensive relative to its stronger penalty term.</a:t>
            </a:r>
            <a:endParaRPr lang="en-US" sz="11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ADL(3,3) Estimation Results</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Part (d)</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11</a:t>
            </a:r>
            <a:endParaRPr lang="en-US" sz="900" dirty="0"/>
          </a:p>
        </p:txBody>
      </p:sp>
      <p:sp>
        <p:nvSpPr>
          <p:cNvPr id="9" name="Shape 7"/>
          <p:cNvSpPr/>
          <p:nvPr/>
        </p:nvSpPr>
        <p:spPr>
          <a:xfrm>
            <a:off x="658368" y="960120"/>
            <a:ext cx="1554480" cy="438912"/>
          </a:xfrm>
          <a:prstGeom prst="rect">
            <a:avLst/>
          </a:prstGeom>
          <a:solidFill>
            <a:srgbClr val="333399"/>
          </a:solidFill>
          <a:ln w="12700">
            <a:solidFill>
              <a:srgbClr val="FFFFFF"/>
            </a:solidFill>
            <a:prstDash val="solid"/>
          </a:ln>
        </p:spPr>
      </p:sp>
      <p:sp>
        <p:nvSpPr>
          <p:cNvPr id="10" name="Text 8"/>
          <p:cNvSpPr/>
          <p:nvPr/>
        </p:nvSpPr>
        <p:spPr>
          <a:xfrm>
            <a:off x="694944" y="996696"/>
            <a:ext cx="1481328" cy="365760"/>
          </a:xfrm>
          <a:prstGeom prst="rect">
            <a:avLst/>
          </a:prstGeom>
          <a:noFill/>
          <a:ln/>
        </p:spPr>
        <p:txBody>
          <a:bodyPr wrap="square" lIns="0" tIns="0" rIns="0" bIns="0" rtlCol="0" anchor="ctr"/>
          <a:lstStyle/>
          <a:p>
            <a:pPr algn="ctr" indent="0" marL="0">
              <a:buNone/>
            </a:pPr>
            <a:r>
              <a:rPr lang="en-US" sz="1060" b="1" dirty="0">
                <a:solidFill>
                  <a:srgbClr val="FFFFFF"/>
                </a:solidFill>
                <a:latin typeface="Verdana" pitchFamily="34" charset="0"/>
                <a:ea typeface="Verdana" pitchFamily="34" charset="-122"/>
                <a:cs typeface="Verdana" pitchFamily="34" charset="-120"/>
              </a:rPr>
              <a:t>Variable</a:t>
            </a:r>
            <a:endParaRPr lang="en-US" sz="1060" dirty="0"/>
          </a:p>
        </p:txBody>
      </p:sp>
      <p:sp>
        <p:nvSpPr>
          <p:cNvPr id="11" name="Shape 9"/>
          <p:cNvSpPr/>
          <p:nvPr/>
        </p:nvSpPr>
        <p:spPr>
          <a:xfrm>
            <a:off x="2212848" y="960120"/>
            <a:ext cx="1005840" cy="438912"/>
          </a:xfrm>
          <a:prstGeom prst="rect">
            <a:avLst/>
          </a:prstGeom>
          <a:solidFill>
            <a:srgbClr val="333399"/>
          </a:solidFill>
          <a:ln w="12700">
            <a:solidFill>
              <a:srgbClr val="FFFFFF"/>
            </a:solidFill>
            <a:prstDash val="solid"/>
          </a:ln>
        </p:spPr>
      </p:sp>
      <p:sp>
        <p:nvSpPr>
          <p:cNvPr id="12" name="Text 10"/>
          <p:cNvSpPr/>
          <p:nvPr/>
        </p:nvSpPr>
        <p:spPr>
          <a:xfrm>
            <a:off x="2249424" y="996696"/>
            <a:ext cx="932688" cy="365760"/>
          </a:xfrm>
          <a:prstGeom prst="rect">
            <a:avLst/>
          </a:prstGeom>
          <a:noFill/>
          <a:ln/>
        </p:spPr>
        <p:txBody>
          <a:bodyPr wrap="square" lIns="0" tIns="0" rIns="0" bIns="0" rtlCol="0" anchor="ctr"/>
          <a:lstStyle/>
          <a:p>
            <a:pPr algn="ctr" indent="0" marL="0">
              <a:buNone/>
            </a:pPr>
            <a:r>
              <a:rPr lang="en-US" sz="1060" b="1" dirty="0">
                <a:solidFill>
                  <a:srgbClr val="FFFFFF"/>
                </a:solidFill>
                <a:latin typeface="Verdana" pitchFamily="34" charset="0"/>
                <a:ea typeface="Verdana" pitchFamily="34" charset="-122"/>
                <a:cs typeface="Verdana" pitchFamily="34" charset="-120"/>
              </a:rPr>
              <a:t>Coef.</a:t>
            </a:r>
            <a:endParaRPr lang="en-US" sz="1060" dirty="0"/>
          </a:p>
        </p:txBody>
      </p:sp>
      <p:sp>
        <p:nvSpPr>
          <p:cNvPr id="13" name="Shape 11"/>
          <p:cNvSpPr/>
          <p:nvPr/>
        </p:nvSpPr>
        <p:spPr>
          <a:xfrm>
            <a:off x="3218688" y="960120"/>
            <a:ext cx="1097280" cy="438912"/>
          </a:xfrm>
          <a:prstGeom prst="rect">
            <a:avLst/>
          </a:prstGeom>
          <a:solidFill>
            <a:srgbClr val="333399"/>
          </a:solidFill>
          <a:ln w="12700">
            <a:solidFill>
              <a:srgbClr val="FFFFFF"/>
            </a:solidFill>
            <a:prstDash val="solid"/>
          </a:ln>
        </p:spPr>
      </p:sp>
      <p:sp>
        <p:nvSpPr>
          <p:cNvPr id="14" name="Text 12"/>
          <p:cNvSpPr/>
          <p:nvPr/>
        </p:nvSpPr>
        <p:spPr>
          <a:xfrm>
            <a:off x="3255264" y="996696"/>
            <a:ext cx="1024128" cy="365760"/>
          </a:xfrm>
          <a:prstGeom prst="rect">
            <a:avLst/>
          </a:prstGeom>
          <a:noFill/>
          <a:ln/>
        </p:spPr>
        <p:txBody>
          <a:bodyPr wrap="square" lIns="0" tIns="0" rIns="0" bIns="0" rtlCol="0" anchor="ctr"/>
          <a:lstStyle/>
          <a:p>
            <a:pPr algn="ctr" indent="0" marL="0">
              <a:buNone/>
            </a:pPr>
            <a:r>
              <a:rPr lang="en-US" sz="1060" b="1" dirty="0">
                <a:solidFill>
                  <a:srgbClr val="FFFFFF"/>
                </a:solidFill>
                <a:latin typeface="Verdana" pitchFamily="34" charset="0"/>
                <a:ea typeface="Verdana" pitchFamily="34" charset="-122"/>
                <a:cs typeface="Verdana" pitchFamily="34" charset="-120"/>
              </a:rPr>
              <a:t>p-value</a:t>
            </a:r>
            <a:endParaRPr lang="en-US" sz="1060" dirty="0"/>
          </a:p>
        </p:txBody>
      </p:sp>
      <p:sp>
        <p:nvSpPr>
          <p:cNvPr id="15" name="Shape 13"/>
          <p:cNvSpPr/>
          <p:nvPr/>
        </p:nvSpPr>
        <p:spPr>
          <a:xfrm>
            <a:off x="4315968" y="960120"/>
            <a:ext cx="4023360" cy="438912"/>
          </a:xfrm>
          <a:prstGeom prst="rect">
            <a:avLst/>
          </a:prstGeom>
          <a:solidFill>
            <a:srgbClr val="333399"/>
          </a:solidFill>
          <a:ln w="12700">
            <a:solidFill>
              <a:srgbClr val="FFFFFF"/>
            </a:solidFill>
            <a:prstDash val="solid"/>
          </a:ln>
        </p:spPr>
      </p:sp>
      <p:sp>
        <p:nvSpPr>
          <p:cNvPr id="16" name="Text 14"/>
          <p:cNvSpPr/>
          <p:nvPr/>
        </p:nvSpPr>
        <p:spPr>
          <a:xfrm>
            <a:off x="4352544" y="996696"/>
            <a:ext cx="3950208" cy="365760"/>
          </a:xfrm>
          <a:prstGeom prst="rect">
            <a:avLst/>
          </a:prstGeom>
          <a:noFill/>
          <a:ln/>
        </p:spPr>
        <p:txBody>
          <a:bodyPr wrap="square" lIns="0" tIns="0" rIns="0" bIns="0" rtlCol="0" anchor="ctr"/>
          <a:lstStyle/>
          <a:p>
            <a:pPr algn="ctr" indent="0" marL="0">
              <a:buNone/>
            </a:pPr>
            <a:r>
              <a:rPr lang="en-US" sz="1060" b="1" dirty="0">
                <a:solidFill>
                  <a:srgbClr val="FFFFFF"/>
                </a:solidFill>
                <a:latin typeface="Verdana" pitchFamily="34" charset="0"/>
                <a:ea typeface="Verdana" pitchFamily="34" charset="-122"/>
                <a:cs typeface="Verdana" pitchFamily="34" charset="-120"/>
              </a:rPr>
              <a:t>Interpretation</a:t>
            </a:r>
            <a:endParaRPr lang="en-US" sz="1060" dirty="0"/>
          </a:p>
        </p:txBody>
      </p:sp>
      <p:sp>
        <p:nvSpPr>
          <p:cNvPr id="17" name="Shape 15"/>
          <p:cNvSpPr/>
          <p:nvPr/>
        </p:nvSpPr>
        <p:spPr>
          <a:xfrm>
            <a:off x="658368" y="1399032"/>
            <a:ext cx="1554480" cy="438912"/>
          </a:xfrm>
          <a:prstGeom prst="rect">
            <a:avLst/>
          </a:prstGeom>
          <a:solidFill>
            <a:srgbClr val="FFFFFF"/>
          </a:solidFill>
          <a:ln w="12700">
            <a:solidFill>
              <a:srgbClr val="BFC7D3"/>
            </a:solidFill>
            <a:prstDash val="solid"/>
          </a:ln>
        </p:spPr>
      </p:sp>
      <p:sp>
        <p:nvSpPr>
          <p:cNvPr id="18" name="Text 16"/>
          <p:cNvSpPr/>
          <p:nvPr/>
        </p:nvSpPr>
        <p:spPr>
          <a:xfrm>
            <a:off x="694944" y="1435608"/>
            <a:ext cx="148132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infl_lag1</a:t>
            </a:r>
            <a:endParaRPr lang="en-US" sz="1060" dirty="0"/>
          </a:p>
        </p:txBody>
      </p:sp>
      <p:sp>
        <p:nvSpPr>
          <p:cNvPr id="19" name="Shape 17"/>
          <p:cNvSpPr/>
          <p:nvPr/>
        </p:nvSpPr>
        <p:spPr>
          <a:xfrm>
            <a:off x="2212848" y="1399032"/>
            <a:ext cx="1005840" cy="438912"/>
          </a:xfrm>
          <a:prstGeom prst="rect">
            <a:avLst/>
          </a:prstGeom>
          <a:solidFill>
            <a:srgbClr val="FFFFFF"/>
          </a:solidFill>
          <a:ln w="12700">
            <a:solidFill>
              <a:srgbClr val="BFC7D3"/>
            </a:solidFill>
            <a:prstDash val="solid"/>
          </a:ln>
        </p:spPr>
      </p:sp>
      <p:sp>
        <p:nvSpPr>
          <p:cNvPr id="20" name="Text 18"/>
          <p:cNvSpPr/>
          <p:nvPr/>
        </p:nvSpPr>
        <p:spPr>
          <a:xfrm>
            <a:off x="2249424" y="1435608"/>
            <a:ext cx="93268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0.576</a:t>
            </a:r>
            <a:endParaRPr lang="en-US" sz="1060" dirty="0"/>
          </a:p>
        </p:txBody>
      </p:sp>
      <p:sp>
        <p:nvSpPr>
          <p:cNvPr id="21" name="Shape 19"/>
          <p:cNvSpPr/>
          <p:nvPr/>
        </p:nvSpPr>
        <p:spPr>
          <a:xfrm>
            <a:off x="3218688" y="1399032"/>
            <a:ext cx="1097280" cy="438912"/>
          </a:xfrm>
          <a:prstGeom prst="rect">
            <a:avLst/>
          </a:prstGeom>
          <a:solidFill>
            <a:srgbClr val="FFFFFF"/>
          </a:solidFill>
          <a:ln w="12700">
            <a:solidFill>
              <a:srgbClr val="BFC7D3"/>
            </a:solidFill>
            <a:prstDash val="solid"/>
          </a:ln>
        </p:spPr>
      </p:sp>
      <p:sp>
        <p:nvSpPr>
          <p:cNvPr id="22" name="Text 20"/>
          <p:cNvSpPr/>
          <p:nvPr/>
        </p:nvSpPr>
        <p:spPr>
          <a:xfrm>
            <a:off x="3255264" y="1435608"/>
            <a:ext cx="102412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0.000</a:t>
            </a:r>
            <a:endParaRPr lang="en-US" sz="1060" dirty="0"/>
          </a:p>
        </p:txBody>
      </p:sp>
      <p:sp>
        <p:nvSpPr>
          <p:cNvPr id="23" name="Shape 21"/>
          <p:cNvSpPr/>
          <p:nvPr/>
        </p:nvSpPr>
        <p:spPr>
          <a:xfrm>
            <a:off x="4315968" y="1399032"/>
            <a:ext cx="4023360" cy="438912"/>
          </a:xfrm>
          <a:prstGeom prst="rect">
            <a:avLst/>
          </a:prstGeom>
          <a:solidFill>
            <a:srgbClr val="FFFFFF"/>
          </a:solidFill>
          <a:ln w="12700">
            <a:solidFill>
              <a:srgbClr val="BFC7D3"/>
            </a:solidFill>
            <a:prstDash val="solid"/>
          </a:ln>
        </p:spPr>
      </p:sp>
      <p:sp>
        <p:nvSpPr>
          <p:cNvPr id="24" name="Text 22"/>
          <p:cNvSpPr/>
          <p:nvPr/>
        </p:nvSpPr>
        <p:spPr>
          <a:xfrm>
            <a:off x="4352544" y="1435608"/>
            <a:ext cx="395020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Strong inflation persistence</a:t>
            </a:r>
            <a:endParaRPr lang="en-US" sz="1060" dirty="0"/>
          </a:p>
        </p:txBody>
      </p:sp>
      <p:sp>
        <p:nvSpPr>
          <p:cNvPr id="25" name="Shape 23"/>
          <p:cNvSpPr/>
          <p:nvPr/>
        </p:nvSpPr>
        <p:spPr>
          <a:xfrm>
            <a:off x="658368" y="1837944"/>
            <a:ext cx="1554480" cy="438912"/>
          </a:xfrm>
          <a:prstGeom prst="rect">
            <a:avLst/>
          </a:prstGeom>
          <a:solidFill>
            <a:srgbClr val="EEF3F8"/>
          </a:solidFill>
          <a:ln w="12700">
            <a:solidFill>
              <a:srgbClr val="BFC7D3"/>
            </a:solidFill>
            <a:prstDash val="solid"/>
          </a:ln>
        </p:spPr>
      </p:sp>
      <p:sp>
        <p:nvSpPr>
          <p:cNvPr id="26" name="Text 24"/>
          <p:cNvSpPr/>
          <p:nvPr/>
        </p:nvSpPr>
        <p:spPr>
          <a:xfrm>
            <a:off x="694944" y="1874520"/>
            <a:ext cx="148132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infl_lag2</a:t>
            </a:r>
            <a:endParaRPr lang="en-US" sz="1060" dirty="0"/>
          </a:p>
        </p:txBody>
      </p:sp>
      <p:sp>
        <p:nvSpPr>
          <p:cNvPr id="27" name="Shape 25"/>
          <p:cNvSpPr/>
          <p:nvPr/>
        </p:nvSpPr>
        <p:spPr>
          <a:xfrm>
            <a:off x="2212848" y="1837944"/>
            <a:ext cx="1005840" cy="438912"/>
          </a:xfrm>
          <a:prstGeom prst="rect">
            <a:avLst/>
          </a:prstGeom>
          <a:solidFill>
            <a:srgbClr val="EEF3F8"/>
          </a:solidFill>
          <a:ln w="12700">
            <a:solidFill>
              <a:srgbClr val="BFC7D3"/>
            </a:solidFill>
            <a:prstDash val="solid"/>
          </a:ln>
        </p:spPr>
      </p:sp>
      <p:sp>
        <p:nvSpPr>
          <p:cNvPr id="28" name="Text 26"/>
          <p:cNvSpPr/>
          <p:nvPr/>
        </p:nvSpPr>
        <p:spPr>
          <a:xfrm>
            <a:off x="2249424" y="1874520"/>
            <a:ext cx="93268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-0.009</a:t>
            </a:r>
            <a:endParaRPr lang="en-US" sz="1060" dirty="0"/>
          </a:p>
        </p:txBody>
      </p:sp>
      <p:sp>
        <p:nvSpPr>
          <p:cNvPr id="29" name="Shape 27"/>
          <p:cNvSpPr/>
          <p:nvPr/>
        </p:nvSpPr>
        <p:spPr>
          <a:xfrm>
            <a:off x="3218688" y="1837944"/>
            <a:ext cx="1097280" cy="438912"/>
          </a:xfrm>
          <a:prstGeom prst="rect">
            <a:avLst/>
          </a:prstGeom>
          <a:solidFill>
            <a:srgbClr val="EEF3F8"/>
          </a:solidFill>
          <a:ln w="12700">
            <a:solidFill>
              <a:srgbClr val="BFC7D3"/>
            </a:solidFill>
            <a:prstDash val="solid"/>
          </a:ln>
        </p:spPr>
      </p:sp>
      <p:sp>
        <p:nvSpPr>
          <p:cNvPr id="30" name="Text 28"/>
          <p:cNvSpPr/>
          <p:nvPr/>
        </p:nvSpPr>
        <p:spPr>
          <a:xfrm>
            <a:off x="3255264" y="1874520"/>
            <a:ext cx="102412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0.910</a:t>
            </a:r>
            <a:endParaRPr lang="en-US" sz="1060" dirty="0"/>
          </a:p>
        </p:txBody>
      </p:sp>
      <p:sp>
        <p:nvSpPr>
          <p:cNvPr id="31" name="Shape 29"/>
          <p:cNvSpPr/>
          <p:nvPr/>
        </p:nvSpPr>
        <p:spPr>
          <a:xfrm>
            <a:off x="4315968" y="1837944"/>
            <a:ext cx="4023360" cy="438912"/>
          </a:xfrm>
          <a:prstGeom prst="rect">
            <a:avLst/>
          </a:prstGeom>
          <a:solidFill>
            <a:srgbClr val="EEF3F8"/>
          </a:solidFill>
          <a:ln w="12700">
            <a:solidFill>
              <a:srgbClr val="BFC7D3"/>
            </a:solidFill>
            <a:prstDash val="solid"/>
          </a:ln>
        </p:spPr>
      </p:sp>
      <p:sp>
        <p:nvSpPr>
          <p:cNvPr id="32" name="Text 30"/>
          <p:cNvSpPr/>
          <p:nvPr/>
        </p:nvSpPr>
        <p:spPr>
          <a:xfrm>
            <a:off x="4352544" y="1874520"/>
            <a:ext cx="395020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Not significant</a:t>
            </a:r>
            <a:endParaRPr lang="en-US" sz="1060" dirty="0"/>
          </a:p>
        </p:txBody>
      </p:sp>
      <p:sp>
        <p:nvSpPr>
          <p:cNvPr id="33" name="Shape 31"/>
          <p:cNvSpPr/>
          <p:nvPr/>
        </p:nvSpPr>
        <p:spPr>
          <a:xfrm>
            <a:off x="658368" y="2276856"/>
            <a:ext cx="1554480" cy="438912"/>
          </a:xfrm>
          <a:prstGeom prst="rect">
            <a:avLst/>
          </a:prstGeom>
          <a:solidFill>
            <a:srgbClr val="FFFFFF"/>
          </a:solidFill>
          <a:ln w="12700">
            <a:solidFill>
              <a:srgbClr val="BFC7D3"/>
            </a:solidFill>
            <a:prstDash val="solid"/>
          </a:ln>
        </p:spPr>
      </p:sp>
      <p:sp>
        <p:nvSpPr>
          <p:cNvPr id="34" name="Text 32"/>
          <p:cNvSpPr/>
          <p:nvPr/>
        </p:nvSpPr>
        <p:spPr>
          <a:xfrm>
            <a:off x="694944" y="2313432"/>
            <a:ext cx="148132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infl_lag3</a:t>
            </a:r>
            <a:endParaRPr lang="en-US" sz="1060" dirty="0"/>
          </a:p>
        </p:txBody>
      </p:sp>
      <p:sp>
        <p:nvSpPr>
          <p:cNvPr id="35" name="Shape 33"/>
          <p:cNvSpPr/>
          <p:nvPr/>
        </p:nvSpPr>
        <p:spPr>
          <a:xfrm>
            <a:off x="2212848" y="2276856"/>
            <a:ext cx="1005840" cy="438912"/>
          </a:xfrm>
          <a:prstGeom prst="rect">
            <a:avLst/>
          </a:prstGeom>
          <a:solidFill>
            <a:srgbClr val="FFFFFF"/>
          </a:solidFill>
          <a:ln w="12700">
            <a:solidFill>
              <a:srgbClr val="BFC7D3"/>
            </a:solidFill>
            <a:prstDash val="solid"/>
          </a:ln>
        </p:spPr>
      </p:sp>
      <p:sp>
        <p:nvSpPr>
          <p:cNvPr id="36" name="Text 34"/>
          <p:cNvSpPr/>
          <p:nvPr/>
        </p:nvSpPr>
        <p:spPr>
          <a:xfrm>
            <a:off x="2249424" y="2313432"/>
            <a:ext cx="93268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0.344</a:t>
            </a:r>
            <a:endParaRPr lang="en-US" sz="1060" dirty="0"/>
          </a:p>
        </p:txBody>
      </p:sp>
      <p:sp>
        <p:nvSpPr>
          <p:cNvPr id="37" name="Shape 35"/>
          <p:cNvSpPr/>
          <p:nvPr/>
        </p:nvSpPr>
        <p:spPr>
          <a:xfrm>
            <a:off x="3218688" y="2276856"/>
            <a:ext cx="1097280" cy="438912"/>
          </a:xfrm>
          <a:prstGeom prst="rect">
            <a:avLst/>
          </a:prstGeom>
          <a:solidFill>
            <a:srgbClr val="FFFFFF"/>
          </a:solidFill>
          <a:ln w="12700">
            <a:solidFill>
              <a:srgbClr val="BFC7D3"/>
            </a:solidFill>
            <a:prstDash val="solid"/>
          </a:ln>
        </p:spPr>
      </p:sp>
      <p:sp>
        <p:nvSpPr>
          <p:cNvPr id="38" name="Text 36"/>
          <p:cNvSpPr/>
          <p:nvPr/>
        </p:nvSpPr>
        <p:spPr>
          <a:xfrm>
            <a:off x="3255264" y="2313432"/>
            <a:ext cx="102412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0.000</a:t>
            </a:r>
            <a:endParaRPr lang="en-US" sz="1060" dirty="0"/>
          </a:p>
        </p:txBody>
      </p:sp>
      <p:sp>
        <p:nvSpPr>
          <p:cNvPr id="39" name="Shape 37"/>
          <p:cNvSpPr/>
          <p:nvPr/>
        </p:nvSpPr>
        <p:spPr>
          <a:xfrm>
            <a:off x="4315968" y="2276856"/>
            <a:ext cx="4023360" cy="438912"/>
          </a:xfrm>
          <a:prstGeom prst="rect">
            <a:avLst/>
          </a:prstGeom>
          <a:solidFill>
            <a:srgbClr val="FFFFFF"/>
          </a:solidFill>
          <a:ln w="12700">
            <a:solidFill>
              <a:srgbClr val="BFC7D3"/>
            </a:solidFill>
            <a:prstDash val="solid"/>
          </a:ln>
        </p:spPr>
      </p:sp>
      <p:sp>
        <p:nvSpPr>
          <p:cNvPr id="40" name="Text 38"/>
          <p:cNvSpPr/>
          <p:nvPr/>
        </p:nvSpPr>
        <p:spPr>
          <a:xfrm>
            <a:off x="4352544" y="2313432"/>
            <a:ext cx="395020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Additional persistence at lag 3</a:t>
            </a:r>
            <a:endParaRPr lang="en-US" sz="1060" dirty="0"/>
          </a:p>
        </p:txBody>
      </p:sp>
      <p:sp>
        <p:nvSpPr>
          <p:cNvPr id="41" name="Shape 39"/>
          <p:cNvSpPr/>
          <p:nvPr/>
        </p:nvSpPr>
        <p:spPr>
          <a:xfrm>
            <a:off x="658368" y="2715768"/>
            <a:ext cx="1554480" cy="438912"/>
          </a:xfrm>
          <a:prstGeom prst="rect">
            <a:avLst/>
          </a:prstGeom>
          <a:solidFill>
            <a:srgbClr val="EEF3F8"/>
          </a:solidFill>
          <a:ln w="12700">
            <a:solidFill>
              <a:srgbClr val="BFC7D3"/>
            </a:solidFill>
            <a:prstDash val="solid"/>
          </a:ln>
        </p:spPr>
      </p:sp>
      <p:sp>
        <p:nvSpPr>
          <p:cNvPr id="42" name="Text 40"/>
          <p:cNvSpPr/>
          <p:nvPr/>
        </p:nvSpPr>
        <p:spPr>
          <a:xfrm>
            <a:off x="694944" y="2752344"/>
            <a:ext cx="148132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unrate</a:t>
            </a:r>
            <a:endParaRPr lang="en-US" sz="1060" dirty="0"/>
          </a:p>
        </p:txBody>
      </p:sp>
      <p:sp>
        <p:nvSpPr>
          <p:cNvPr id="43" name="Shape 41"/>
          <p:cNvSpPr/>
          <p:nvPr/>
        </p:nvSpPr>
        <p:spPr>
          <a:xfrm>
            <a:off x="2212848" y="2715768"/>
            <a:ext cx="1005840" cy="438912"/>
          </a:xfrm>
          <a:prstGeom prst="rect">
            <a:avLst/>
          </a:prstGeom>
          <a:solidFill>
            <a:srgbClr val="EEF3F8"/>
          </a:solidFill>
          <a:ln w="12700">
            <a:solidFill>
              <a:srgbClr val="BFC7D3"/>
            </a:solidFill>
            <a:prstDash val="solid"/>
          </a:ln>
        </p:spPr>
      </p:sp>
      <p:sp>
        <p:nvSpPr>
          <p:cNvPr id="44" name="Text 42"/>
          <p:cNvSpPr/>
          <p:nvPr/>
        </p:nvSpPr>
        <p:spPr>
          <a:xfrm>
            <a:off x="2249424" y="2752344"/>
            <a:ext cx="93268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-0.654</a:t>
            </a:r>
            <a:endParaRPr lang="en-US" sz="1060" dirty="0"/>
          </a:p>
        </p:txBody>
      </p:sp>
      <p:sp>
        <p:nvSpPr>
          <p:cNvPr id="45" name="Shape 43"/>
          <p:cNvSpPr/>
          <p:nvPr/>
        </p:nvSpPr>
        <p:spPr>
          <a:xfrm>
            <a:off x="3218688" y="2715768"/>
            <a:ext cx="1097280" cy="438912"/>
          </a:xfrm>
          <a:prstGeom prst="rect">
            <a:avLst/>
          </a:prstGeom>
          <a:solidFill>
            <a:srgbClr val="EEF3F8"/>
          </a:solidFill>
          <a:ln w="12700">
            <a:solidFill>
              <a:srgbClr val="BFC7D3"/>
            </a:solidFill>
            <a:prstDash val="solid"/>
          </a:ln>
        </p:spPr>
      </p:sp>
      <p:sp>
        <p:nvSpPr>
          <p:cNvPr id="46" name="Text 44"/>
          <p:cNvSpPr/>
          <p:nvPr/>
        </p:nvSpPr>
        <p:spPr>
          <a:xfrm>
            <a:off x="3255264" y="2752344"/>
            <a:ext cx="102412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0.243</a:t>
            </a:r>
            <a:endParaRPr lang="en-US" sz="1060" dirty="0"/>
          </a:p>
        </p:txBody>
      </p:sp>
      <p:sp>
        <p:nvSpPr>
          <p:cNvPr id="47" name="Shape 45"/>
          <p:cNvSpPr/>
          <p:nvPr/>
        </p:nvSpPr>
        <p:spPr>
          <a:xfrm>
            <a:off x="4315968" y="2715768"/>
            <a:ext cx="4023360" cy="438912"/>
          </a:xfrm>
          <a:prstGeom prst="rect">
            <a:avLst/>
          </a:prstGeom>
          <a:solidFill>
            <a:srgbClr val="EEF3F8"/>
          </a:solidFill>
          <a:ln w="12700">
            <a:solidFill>
              <a:srgbClr val="BFC7D3"/>
            </a:solidFill>
            <a:prstDash val="solid"/>
          </a:ln>
        </p:spPr>
      </p:sp>
      <p:sp>
        <p:nvSpPr>
          <p:cNvPr id="48" name="Text 46"/>
          <p:cNvSpPr/>
          <p:nvPr/>
        </p:nvSpPr>
        <p:spPr>
          <a:xfrm>
            <a:off x="4352544" y="2752344"/>
            <a:ext cx="395020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Current unemployment not significant</a:t>
            </a:r>
            <a:endParaRPr lang="en-US" sz="1060" dirty="0"/>
          </a:p>
        </p:txBody>
      </p:sp>
      <p:sp>
        <p:nvSpPr>
          <p:cNvPr id="49" name="Shape 47"/>
          <p:cNvSpPr/>
          <p:nvPr/>
        </p:nvSpPr>
        <p:spPr>
          <a:xfrm>
            <a:off x="658368" y="3154680"/>
            <a:ext cx="1554480" cy="438912"/>
          </a:xfrm>
          <a:prstGeom prst="rect">
            <a:avLst/>
          </a:prstGeom>
          <a:solidFill>
            <a:srgbClr val="FFFFFF"/>
          </a:solidFill>
          <a:ln w="12700">
            <a:solidFill>
              <a:srgbClr val="BFC7D3"/>
            </a:solidFill>
            <a:prstDash val="solid"/>
          </a:ln>
        </p:spPr>
      </p:sp>
      <p:sp>
        <p:nvSpPr>
          <p:cNvPr id="50" name="Text 48"/>
          <p:cNvSpPr/>
          <p:nvPr/>
        </p:nvSpPr>
        <p:spPr>
          <a:xfrm>
            <a:off x="694944" y="3191256"/>
            <a:ext cx="148132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unrate_lag1</a:t>
            </a:r>
            <a:endParaRPr lang="en-US" sz="1060" dirty="0"/>
          </a:p>
        </p:txBody>
      </p:sp>
      <p:sp>
        <p:nvSpPr>
          <p:cNvPr id="51" name="Shape 49"/>
          <p:cNvSpPr/>
          <p:nvPr/>
        </p:nvSpPr>
        <p:spPr>
          <a:xfrm>
            <a:off x="2212848" y="3154680"/>
            <a:ext cx="1005840" cy="438912"/>
          </a:xfrm>
          <a:prstGeom prst="rect">
            <a:avLst/>
          </a:prstGeom>
          <a:solidFill>
            <a:srgbClr val="FFFFFF"/>
          </a:solidFill>
          <a:ln w="12700">
            <a:solidFill>
              <a:srgbClr val="BFC7D3"/>
            </a:solidFill>
            <a:prstDash val="solid"/>
          </a:ln>
        </p:spPr>
      </p:sp>
      <p:sp>
        <p:nvSpPr>
          <p:cNvPr id="52" name="Text 50"/>
          <p:cNvSpPr/>
          <p:nvPr/>
        </p:nvSpPr>
        <p:spPr>
          <a:xfrm>
            <a:off x="2249424" y="3191256"/>
            <a:ext cx="93268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-1.173</a:t>
            </a:r>
            <a:endParaRPr lang="en-US" sz="1060" dirty="0"/>
          </a:p>
        </p:txBody>
      </p:sp>
      <p:sp>
        <p:nvSpPr>
          <p:cNvPr id="53" name="Shape 51"/>
          <p:cNvSpPr/>
          <p:nvPr/>
        </p:nvSpPr>
        <p:spPr>
          <a:xfrm>
            <a:off x="3218688" y="3154680"/>
            <a:ext cx="1097280" cy="438912"/>
          </a:xfrm>
          <a:prstGeom prst="rect">
            <a:avLst/>
          </a:prstGeom>
          <a:solidFill>
            <a:srgbClr val="FFFFFF"/>
          </a:solidFill>
          <a:ln w="12700">
            <a:solidFill>
              <a:srgbClr val="BFC7D3"/>
            </a:solidFill>
            <a:prstDash val="solid"/>
          </a:ln>
        </p:spPr>
      </p:sp>
      <p:sp>
        <p:nvSpPr>
          <p:cNvPr id="54" name="Text 52"/>
          <p:cNvSpPr/>
          <p:nvPr/>
        </p:nvSpPr>
        <p:spPr>
          <a:xfrm>
            <a:off x="3255264" y="3191256"/>
            <a:ext cx="102412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0.256</a:t>
            </a:r>
            <a:endParaRPr lang="en-US" sz="1060" dirty="0"/>
          </a:p>
        </p:txBody>
      </p:sp>
      <p:sp>
        <p:nvSpPr>
          <p:cNvPr id="55" name="Shape 53"/>
          <p:cNvSpPr/>
          <p:nvPr/>
        </p:nvSpPr>
        <p:spPr>
          <a:xfrm>
            <a:off x="4315968" y="3154680"/>
            <a:ext cx="4023360" cy="438912"/>
          </a:xfrm>
          <a:prstGeom prst="rect">
            <a:avLst/>
          </a:prstGeom>
          <a:solidFill>
            <a:srgbClr val="FFFFFF"/>
          </a:solidFill>
          <a:ln w="12700">
            <a:solidFill>
              <a:srgbClr val="BFC7D3"/>
            </a:solidFill>
            <a:prstDash val="solid"/>
          </a:ln>
        </p:spPr>
      </p:sp>
      <p:sp>
        <p:nvSpPr>
          <p:cNvPr id="56" name="Text 54"/>
          <p:cNvSpPr/>
          <p:nvPr/>
        </p:nvSpPr>
        <p:spPr>
          <a:xfrm>
            <a:off x="4352544" y="3191256"/>
            <a:ext cx="3950208" cy="365760"/>
          </a:xfrm>
          <a:prstGeom prst="rect">
            <a:avLst/>
          </a:prstGeom>
          <a:noFill/>
          <a:ln/>
        </p:spPr>
        <p:txBody>
          <a:bodyPr wrap="square" lIns="0" tIns="0" rIns="0" bIns="0" rtlCol="0" anchor="ctr"/>
          <a:lstStyle/>
          <a:p>
            <a:pPr algn="ctr" indent="0" marL="0">
              <a:buNone/>
            </a:pPr>
            <a:r>
              <a:rPr lang="en-US" sz="1060" dirty="0">
                <a:solidFill>
                  <a:srgbClr val="20242C"/>
                </a:solidFill>
                <a:latin typeface="Verdana" pitchFamily="34" charset="0"/>
                <a:ea typeface="Verdana" pitchFamily="34" charset="-122"/>
                <a:cs typeface="Verdana" pitchFamily="34" charset="-120"/>
              </a:rPr>
              <a:t>No first-lag effect</a:t>
            </a:r>
            <a:endParaRPr lang="en-US" sz="1060" dirty="0"/>
          </a:p>
        </p:txBody>
      </p:sp>
      <p:sp>
        <p:nvSpPr>
          <p:cNvPr id="57" name="Shape 55"/>
          <p:cNvSpPr/>
          <p:nvPr/>
        </p:nvSpPr>
        <p:spPr>
          <a:xfrm>
            <a:off x="658368" y="3593592"/>
            <a:ext cx="1554480" cy="438912"/>
          </a:xfrm>
          <a:prstGeom prst="rect">
            <a:avLst/>
          </a:prstGeom>
          <a:solidFill>
            <a:srgbClr val="EEF3F8"/>
          </a:solidFill>
          <a:ln w="12700">
            <a:solidFill>
              <a:srgbClr val="BFC7D3"/>
            </a:solidFill>
            <a:prstDash val="solid"/>
          </a:ln>
        </p:spPr>
      </p:sp>
      <p:sp>
        <p:nvSpPr>
          <p:cNvPr id="58" name="Text 56"/>
          <p:cNvSpPr/>
          <p:nvPr/>
        </p:nvSpPr>
        <p:spPr>
          <a:xfrm>
            <a:off x="694944" y="3630168"/>
            <a:ext cx="148132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unrate_lag2</a:t>
            </a:r>
            <a:endParaRPr lang="en-US" sz="1060" dirty="0"/>
          </a:p>
        </p:txBody>
      </p:sp>
      <p:sp>
        <p:nvSpPr>
          <p:cNvPr id="59" name="Shape 57"/>
          <p:cNvSpPr/>
          <p:nvPr/>
        </p:nvSpPr>
        <p:spPr>
          <a:xfrm>
            <a:off x="2212848" y="3593592"/>
            <a:ext cx="1005840" cy="438912"/>
          </a:xfrm>
          <a:prstGeom prst="rect">
            <a:avLst/>
          </a:prstGeom>
          <a:solidFill>
            <a:srgbClr val="EEF3F8"/>
          </a:solidFill>
          <a:ln w="12700">
            <a:solidFill>
              <a:srgbClr val="BFC7D3"/>
            </a:solidFill>
            <a:prstDash val="solid"/>
          </a:ln>
        </p:spPr>
      </p:sp>
      <p:sp>
        <p:nvSpPr>
          <p:cNvPr id="60" name="Text 58"/>
          <p:cNvSpPr/>
          <p:nvPr/>
        </p:nvSpPr>
        <p:spPr>
          <a:xfrm>
            <a:off x="2249424" y="3630168"/>
            <a:ext cx="93268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3.022</a:t>
            </a:r>
            <a:endParaRPr lang="en-US" sz="1060" dirty="0"/>
          </a:p>
        </p:txBody>
      </p:sp>
      <p:sp>
        <p:nvSpPr>
          <p:cNvPr id="61" name="Shape 59"/>
          <p:cNvSpPr/>
          <p:nvPr/>
        </p:nvSpPr>
        <p:spPr>
          <a:xfrm>
            <a:off x="3218688" y="3593592"/>
            <a:ext cx="1097280" cy="438912"/>
          </a:xfrm>
          <a:prstGeom prst="rect">
            <a:avLst/>
          </a:prstGeom>
          <a:solidFill>
            <a:srgbClr val="EEF3F8"/>
          </a:solidFill>
          <a:ln w="12700">
            <a:solidFill>
              <a:srgbClr val="BFC7D3"/>
            </a:solidFill>
            <a:prstDash val="solid"/>
          </a:ln>
        </p:spPr>
      </p:sp>
      <p:sp>
        <p:nvSpPr>
          <p:cNvPr id="62" name="Text 60"/>
          <p:cNvSpPr/>
          <p:nvPr/>
        </p:nvSpPr>
        <p:spPr>
          <a:xfrm>
            <a:off x="3255264" y="3630168"/>
            <a:ext cx="102412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0.004</a:t>
            </a:r>
            <a:endParaRPr lang="en-US" sz="1060" dirty="0"/>
          </a:p>
        </p:txBody>
      </p:sp>
      <p:sp>
        <p:nvSpPr>
          <p:cNvPr id="63" name="Shape 61"/>
          <p:cNvSpPr/>
          <p:nvPr/>
        </p:nvSpPr>
        <p:spPr>
          <a:xfrm>
            <a:off x="4315968" y="3593592"/>
            <a:ext cx="4023360" cy="438912"/>
          </a:xfrm>
          <a:prstGeom prst="rect">
            <a:avLst/>
          </a:prstGeom>
          <a:solidFill>
            <a:srgbClr val="EEF3F8"/>
          </a:solidFill>
          <a:ln w="12700">
            <a:solidFill>
              <a:srgbClr val="BFC7D3"/>
            </a:solidFill>
            <a:prstDash val="solid"/>
          </a:ln>
        </p:spPr>
      </p:sp>
      <p:sp>
        <p:nvSpPr>
          <p:cNvPr id="64" name="Text 62"/>
          <p:cNvSpPr/>
          <p:nvPr/>
        </p:nvSpPr>
        <p:spPr>
          <a:xfrm>
            <a:off x="4352544" y="3630168"/>
            <a:ext cx="395020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Positive delayed effect</a:t>
            </a:r>
            <a:endParaRPr lang="en-US" sz="1060" dirty="0"/>
          </a:p>
        </p:txBody>
      </p:sp>
      <p:sp>
        <p:nvSpPr>
          <p:cNvPr id="65" name="Shape 63"/>
          <p:cNvSpPr/>
          <p:nvPr/>
        </p:nvSpPr>
        <p:spPr>
          <a:xfrm>
            <a:off x="658368" y="4032504"/>
            <a:ext cx="1554480" cy="438912"/>
          </a:xfrm>
          <a:prstGeom prst="rect">
            <a:avLst/>
          </a:prstGeom>
          <a:solidFill>
            <a:srgbClr val="FFFFFF"/>
          </a:solidFill>
          <a:ln w="12700">
            <a:solidFill>
              <a:srgbClr val="BFC7D3"/>
            </a:solidFill>
            <a:prstDash val="solid"/>
          </a:ln>
        </p:spPr>
      </p:sp>
      <p:sp>
        <p:nvSpPr>
          <p:cNvPr id="66" name="Text 64"/>
          <p:cNvSpPr/>
          <p:nvPr/>
        </p:nvSpPr>
        <p:spPr>
          <a:xfrm>
            <a:off x="694944" y="4069080"/>
            <a:ext cx="148132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unrate_lag3</a:t>
            </a:r>
            <a:endParaRPr lang="en-US" sz="1060" dirty="0"/>
          </a:p>
        </p:txBody>
      </p:sp>
      <p:sp>
        <p:nvSpPr>
          <p:cNvPr id="67" name="Shape 65"/>
          <p:cNvSpPr/>
          <p:nvPr/>
        </p:nvSpPr>
        <p:spPr>
          <a:xfrm>
            <a:off x="2212848" y="4032504"/>
            <a:ext cx="1005840" cy="438912"/>
          </a:xfrm>
          <a:prstGeom prst="rect">
            <a:avLst/>
          </a:prstGeom>
          <a:solidFill>
            <a:srgbClr val="FFFFFF"/>
          </a:solidFill>
          <a:ln w="12700">
            <a:solidFill>
              <a:srgbClr val="BFC7D3"/>
            </a:solidFill>
            <a:prstDash val="solid"/>
          </a:ln>
        </p:spPr>
      </p:sp>
      <p:sp>
        <p:nvSpPr>
          <p:cNvPr id="68" name="Text 66"/>
          <p:cNvSpPr/>
          <p:nvPr/>
        </p:nvSpPr>
        <p:spPr>
          <a:xfrm>
            <a:off x="2249424" y="4069080"/>
            <a:ext cx="93268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-1.330</a:t>
            </a:r>
            <a:endParaRPr lang="en-US" sz="1060" dirty="0"/>
          </a:p>
        </p:txBody>
      </p:sp>
      <p:sp>
        <p:nvSpPr>
          <p:cNvPr id="69" name="Shape 67"/>
          <p:cNvSpPr/>
          <p:nvPr/>
        </p:nvSpPr>
        <p:spPr>
          <a:xfrm>
            <a:off x="3218688" y="4032504"/>
            <a:ext cx="1097280" cy="438912"/>
          </a:xfrm>
          <a:prstGeom prst="rect">
            <a:avLst/>
          </a:prstGeom>
          <a:solidFill>
            <a:srgbClr val="FFFFFF"/>
          </a:solidFill>
          <a:ln w="12700">
            <a:solidFill>
              <a:srgbClr val="BFC7D3"/>
            </a:solidFill>
            <a:prstDash val="solid"/>
          </a:ln>
        </p:spPr>
      </p:sp>
      <p:sp>
        <p:nvSpPr>
          <p:cNvPr id="70" name="Text 68"/>
          <p:cNvSpPr/>
          <p:nvPr/>
        </p:nvSpPr>
        <p:spPr>
          <a:xfrm>
            <a:off x="3255264" y="4069080"/>
            <a:ext cx="102412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0.016</a:t>
            </a:r>
            <a:endParaRPr lang="en-US" sz="1060" dirty="0"/>
          </a:p>
        </p:txBody>
      </p:sp>
      <p:sp>
        <p:nvSpPr>
          <p:cNvPr id="71" name="Shape 69"/>
          <p:cNvSpPr/>
          <p:nvPr/>
        </p:nvSpPr>
        <p:spPr>
          <a:xfrm>
            <a:off x="4315968" y="4032504"/>
            <a:ext cx="4023360" cy="438912"/>
          </a:xfrm>
          <a:prstGeom prst="rect">
            <a:avLst/>
          </a:prstGeom>
          <a:solidFill>
            <a:srgbClr val="FFFFFF"/>
          </a:solidFill>
          <a:ln w="12700">
            <a:solidFill>
              <a:srgbClr val="BFC7D3"/>
            </a:solidFill>
            <a:prstDash val="solid"/>
          </a:ln>
        </p:spPr>
      </p:sp>
      <p:sp>
        <p:nvSpPr>
          <p:cNvPr id="72" name="Text 70"/>
          <p:cNvSpPr/>
          <p:nvPr/>
        </p:nvSpPr>
        <p:spPr>
          <a:xfrm>
            <a:off x="4352544" y="4069080"/>
            <a:ext cx="3950208" cy="365760"/>
          </a:xfrm>
          <a:prstGeom prst="rect">
            <a:avLst/>
          </a:prstGeom>
          <a:noFill/>
          <a:ln/>
        </p:spPr>
        <p:txBody>
          <a:bodyPr wrap="square" lIns="0" tIns="0" rIns="0" bIns="0" rtlCol="0" anchor="ctr"/>
          <a:lstStyle/>
          <a:p>
            <a:pPr algn="ctr" indent="0" marL="0">
              <a:buNone/>
            </a:pPr>
            <a:r>
              <a:rPr lang="en-US" sz="1060" b="1" dirty="0">
                <a:solidFill>
                  <a:srgbClr val="20242C"/>
                </a:solidFill>
                <a:latin typeface="Verdana" pitchFamily="34" charset="0"/>
                <a:ea typeface="Verdana" pitchFamily="34" charset="-122"/>
                <a:cs typeface="Verdana" pitchFamily="34" charset="-120"/>
              </a:rPr>
              <a:t>Negative delayed effect</a:t>
            </a:r>
            <a:endParaRPr lang="en-US" sz="1060" dirty="0"/>
          </a:p>
        </p:txBody>
      </p:sp>
      <p:sp>
        <p:nvSpPr>
          <p:cNvPr id="73" name="Shape 71"/>
          <p:cNvSpPr/>
          <p:nvPr/>
        </p:nvSpPr>
        <p:spPr>
          <a:xfrm>
            <a:off x="841248" y="4526280"/>
            <a:ext cx="3246120" cy="914400"/>
          </a:xfrm>
          <a:prstGeom prst="roundRect">
            <a:avLst/>
          </a:prstGeom>
          <a:solidFill>
            <a:srgbClr val="DAEDEF"/>
          </a:solidFill>
          <a:ln w="12700">
            <a:solidFill>
              <a:srgbClr val="BFC7D3"/>
            </a:solidFill>
            <a:prstDash val="solid"/>
          </a:ln>
        </p:spPr>
      </p:sp>
      <p:sp>
        <p:nvSpPr>
          <p:cNvPr id="74" name="Text 72"/>
          <p:cNvSpPr/>
          <p:nvPr/>
        </p:nvSpPr>
        <p:spPr>
          <a:xfrm>
            <a:off x="969264" y="4617720"/>
            <a:ext cx="29900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Model fit</a:t>
            </a:r>
            <a:endParaRPr lang="en-US" sz="1250" dirty="0"/>
          </a:p>
        </p:txBody>
      </p:sp>
      <p:sp>
        <p:nvSpPr>
          <p:cNvPr id="75" name="Text 73"/>
          <p:cNvSpPr/>
          <p:nvPr/>
        </p:nvSpPr>
        <p:spPr>
          <a:xfrm>
            <a:off x="969264" y="4873752"/>
            <a:ext cx="2990088" cy="475488"/>
          </a:xfrm>
          <a:prstGeom prst="rect">
            <a:avLst/>
          </a:prstGeom>
          <a:noFill/>
          <a:ln/>
        </p:spPr>
        <p:txBody>
          <a:bodyPr wrap="square" lIns="0" tIns="0" rIns="0" bIns="0" rtlCol="0" anchor="t"/>
          <a:lstStyle/>
          <a:p>
            <a:pPr indent="0" marL="0">
              <a:buNone/>
            </a:pPr>
            <a:r>
              <a:rPr lang="en-US" sz="1160" dirty="0">
                <a:solidFill>
                  <a:srgbClr val="20242C"/>
                </a:solidFill>
                <a:latin typeface="Verdana" pitchFamily="34" charset="0"/>
                <a:ea typeface="Verdana" pitchFamily="34" charset="-122"/>
                <a:cs typeface="Verdana" pitchFamily="34" charset="-120"/>
              </a:rPr>
              <a:t>Adj. R-squared = 0.636</a:t>
            </a:r>
            <a:endParaRPr lang="en-US" sz="1160" dirty="0"/>
          </a:p>
          <a:p>
            <a:pPr indent="0" marL="0">
              <a:buNone/>
            </a:pPr>
            <a:r>
              <a:rPr lang="en-US" sz="1160" dirty="0">
                <a:solidFill>
                  <a:srgbClr val="20242C"/>
                </a:solidFill>
                <a:latin typeface="Verdana" pitchFamily="34" charset="0"/>
                <a:ea typeface="Verdana" pitchFamily="34" charset="-122"/>
                <a:cs typeface="Verdana" pitchFamily="34" charset="-120"/>
              </a:rPr>
              <a:t>Root MSE = 1.904</a:t>
            </a:r>
            <a:endParaRPr lang="en-US" sz="1160" dirty="0"/>
          </a:p>
        </p:txBody>
      </p:sp>
      <p:sp>
        <p:nvSpPr>
          <p:cNvPr id="76" name="Shape 74"/>
          <p:cNvSpPr/>
          <p:nvPr/>
        </p:nvSpPr>
        <p:spPr>
          <a:xfrm>
            <a:off x="4315968" y="4526280"/>
            <a:ext cx="3840480" cy="914400"/>
          </a:xfrm>
          <a:prstGeom prst="roundRect">
            <a:avLst/>
          </a:prstGeom>
          <a:solidFill>
            <a:srgbClr val="FFFFFF"/>
          </a:solidFill>
          <a:ln w="12700">
            <a:solidFill>
              <a:srgbClr val="BFC7D3"/>
            </a:solidFill>
            <a:prstDash val="solid"/>
          </a:ln>
        </p:spPr>
      </p:sp>
      <p:sp>
        <p:nvSpPr>
          <p:cNvPr id="77" name="Text 75"/>
          <p:cNvSpPr/>
          <p:nvPr/>
        </p:nvSpPr>
        <p:spPr>
          <a:xfrm>
            <a:off x="4443984" y="4617720"/>
            <a:ext cx="358444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Key message</a:t>
            </a:r>
            <a:endParaRPr lang="en-US" sz="1250" dirty="0"/>
          </a:p>
        </p:txBody>
      </p:sp>
      <p:sp>
        <p:nvSpPr>
          <p:cNvPr id="78" name="Text 76"/>
          <p:cNvSpPr/>
          <p:nvPr/>
        </p:nvSpPr>
        <p:spPr>
          <a:xfrm>
            <a:off x="4443984" y="4873752"/>
            <a:ext cx="3584448" cy="475488"/>
          </a:xfrm>
          <a:prstGeom prst="rect">
            <a:avLst/>
          </a:prstGeom>
          <a:noFill/>
          <a:ln/>
        </p:spPr>
        <p:txBody>
          <a:bodyPr wrap="square" lIns="0" tIns="0" rIns="0" bIns="0" rtlCol="0" anchor="t"/>
          <a:lstStyle/>
          <a:p>
            <a:pPr indent="0" marL="0">
              <a:buNone/>
            </a:pPr>
            <a:r>
              <a:rPr lang="en-US" sz="1120" dirty="0">
                <a:solidFill>
                  <a:srgbClr val="20242C"/>
                </a:solidFill>
                <a:latin typeface="Verdana" pitchFamily="34" charset="0"/>
                <a:ea typeface="Verdana" pitchFamily="34" charset="-122"/>
                <a:cs typeface="Verdana" pitchFamily="34" charset="-120"/>
              </a:rPr>
              <a:t>Inflation remains persistent, while unemployment affects inflation with delayed rather than immediate dynamics.</a:t>
            </a:r>
            <a:endParaRPr lang="en-US" sz="11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Interpreting ADL(3,3)</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Results</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12</a:t>
            </a:r>
            <a:endParaRPr lang="en-US" sz="900" dirty="0"/>
          </a:p>
        </p:txBody>
      </p:sp>
      <p:sp>
        <p:nvSpPr>
          <p:cNvPr id="9" name="Shape 7"/>
          <p:cNvSpPr/>
          <p:nvPr/>
        </p:nvSpPr>
        <p:spPr>
          <a:xfrm>
            <a:off x="749808" y="1005840"/>
            <a:ext cx="3520440" cy="1280160"/>
          </a:xfrm>
          <a:prstGeom prst="roundRect">
            <a:avLst/>
          </a:prstGeom>
          <a:solidFill>
            <a:srgbClr val="DAEDEF"/>
          </a:solidFill>
          <a:ln w="12700">
            <a:solidFill>
              <a:srgbClr val="BFC7D3"/>
            </a:solidFill>
            <a:prstDash val="solid"/>
          </a:ln>
        </p:spPr>
      </p:sp>
      <p:sp>
        <p:nvSpPr>
          <p:cNvPr id="10" name="Text 8"/>
          <p:cNvSpPr/>
          <p:nvPr/>
        </p:nvSpPr>
        <p:spPr>
          <a:xfrm>
            <a:off x="877824" y="1097280"/>
            <a:ext cx="326440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Inflation persistence</a:t>
            </a:r>
            <a:endParaRPr lang="en-US" sz="1250" dirty="0"/>
          </a:p>
        </p:txBody>
      </p:sp>
      <p:sp>
        <p:nvSpPr>
          <p:cNvPr id="11" name="Text 9"/>
          <p:cNvSpPr/>
          <p:nvPr/>
        </p:nvSpPr>
        <p:spPr>
          <a:xfrm>
            <a:off x="877824" y="1353312"/>
            <a:ext cx="3264408" cy="84124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infl_lag1 and infl_lag3 are positive and highly significant, which means inflation is not memoryless.</a:t>
            </a:r>
            <a:endParaRPr lang="en-US" sz="1100" dirty="0"/>
          </a:p>
        </p:txBody>
      </p:sp>
      <p:sp>
        <p:nvSpPr>
          <p:cNvPr id="12" name="Shape 10"/>
          <p:cNvSpPr/>
          <p:nvPr/>
        </p:nvSpPr>
        <p:spPr>
          <a:xfrm>
            <a:off x="4617720" y="1005840"/>
            <a:ext cx="3520440" cy="1280160"/>
          </a:xfrm>
          <a:prstGeom prst="roundRect">
            <a:avLst/>
          </a:prstGeom>
          <a:solidFill>
            <a:srgbClr val="FFFFFF"/>
          </a:solidFill>
          <a:ln w="12700">
            <a:solidFill>
              <a:srgbClr val="BFC7D3"/>
            </a:solidFill>
            <a:prstDash val="solid"/>
          </a:ln>
        </p:spPr>
      </p:sp>
      <p:sp>
        <p:nvSpPr>
          <p:cNvPr id="13" name="Text 11"/>
          <p:cNvSpPr/>
          <p:nvPr/>
        </p:nvSpPr>
        <p:spPr>
          <a:xfrm>
            <a:off x="4745736" y="1097280"/>
            <a:ext cx="326440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No immediate unemployment effect</a:t>
            </a:r>
            <a:endParaRPr lang="en-US" sz="1250" dirty="0"/>
          </a:p>
        </p:txBody>
      </p:sp>
      <p:sp>
        <p:nvSpPr>
          <p:cNvPr id="14" name="Text 12"/>
          <p:cNvSpPr/>
          <p:nvPr/>
        </p:nvSpPr>
        <p:spPr>
          <a:xfrm>
            <a:off x="4745736" y="1353312"/>
            <a:ext cx="3264408" cy="84124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The contemporaneous unemployment rate is not significant once lagged inflation is controlled for.</a:t>
            </a:r>
            <a:endParaRPr lang="en-US" sz="1100" dirty="0"/>
          </a:p>
        </p:txBody>
      </p:sp>
      <p:sp>
        <p:nvSpPr>
          <p:cNvPr id="15" name="Shape 13"/>
          <p:cNvSpPr/>
          <p:nvPr/>
        </p:nvSpPr>
        <p:spPr>
          <a:xfrm>
            <a:off x="749808" y="2697480"/>
            <a:ext cx="3520440" cy="1280160"/>
          </a:xfrm>
          <a:prstGeom prst="roundRect">
            <a:avLst/>
          </a:prstGeom>
          <a:solidFill>
            <a:srgbClr val="FFFFFF"/>
          </a:solidFill>
          <a:ln w="12700">
            <a:solidFill>
              <a:srgbClr val="BFC7D3"/>
            </a:solidFill>
            <a:prstDash val="solid"/>
          </a:ln>
        </p:spPr>
      </p:sp>
      <p:sp>
        <p:nvSpPr>
          <p:cNvPr id="16" name="Text 14"/>
          <p:cNvSpPr/>
          <p:nvPr/>
        </p:nvSpPr>
        <p:spPr>
          <a:xfrm>
            <a:off x="877824" y="2788920"/>
            <a:ext cx="326440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Delayed transmission</a:t>
            </a:r>
            <a:endParaRPr lang="en-US" sz="1250" dirty="0"/>
          </a:p>
        </p:txBody>
      </p:sp>
      <p:sp>
        <p:nvSpPr>
          <p:cNvPr id="17" name="Text 15"/>
          <p:cNvSpPr/>
          <p:nvPr/>
        </p:nvSpPr>
        <p:spPr>
          <a:xfrm>
            <a:off x="877824" y="3044952"/>
            <a:ext cx="3264408" cy="84124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unrate_lag2 and unrate_lag3 are significant, so unemployment influences inflation mainly through lags.</a:t>
            </a:r>
            <a:endParaRPr lang="en-US" sz="1100" dirty="0"/>
          </a:p>
        </p:txBody>
      </p:sp>
      <p:sp>
        <p:nvSpPr>
          <p:cNvPr id="18" name="Shape 16"/>
          <p:cNvSpPr/>
          <p:nvPr/>
        </p:nvSpPr>
        <p:spPr>
          <a:xfrm>
            <a:off x="4617720" y="2697480"/>
            <a:ext cx="3520440" cy="1280160"/>
          </a:xfrm>
          <a:prstGeom prst="roundRect">
            <a:avLst/>
          </a:prstGeom>
          <a:solidFill>
            <a:srgbClr val="FFFFFF"/>
          </a:solidFill>
          <a:ln w="12700">
            <a:solidFill>
              <a:srgbClr val="BFC7D3"/>
            </a:solidFill>
            <a:prstDash val="solid"/>
          </a:ln>
        </p:spPr>
      </p:sp>
      <p:sp>
        <p:nvSpPr>
          <p:cNvPr id="19" name="Text 17"/>
          <p:cNvSpPr/>
          <p:nvPr/>
        </p:nvSpPr>
        <p:spPr>
          <a:xfrm>
            <a:off x="4745736" y="2788920"/>
            <a:ext cx="326440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Diagnostics</a:t>
            </a:r>
            <a:endParaRPr lang="en-US" sz="1250" dirty="0"/>
          </a:p>
        </p:txBody>
      </p:sp>
      <p:sp>
        <p:nvSpPr>
          <p:cNvPr id="20" name="Text 18"/>
          <p:cNvSpPr/>
          <p:nvPr/>
        </p:nvSpPr>
        <p:spPr>
          <a:xfrm>
            <a:off x="4745736" y="3044952"/>
            <a:ext cx="3264408" cy="841248"/>
          </a:xfrm>
          <a:prstGeom prst="rect">
            <a:avLst/>
          </a:prstGeom>
          <a:noFill/>
          <a:ln/>
        </p:spPr>
        <p:txBody>
          <a:bodyPr wrap="square" lIns="0" tIns="0" rIns="0" bIns="0" rtlCol="0" anchor="t"/>
          <a:lstStyle/>
          <a:p>
            <a:pPr indent="0" marL="0">
              <a:buNone/>
            </a:pPr>
            <a:r>
              <a:rPr lang="en-US" sz="1100" dirty="0">
                <a:solidFill>
                  <a:srgbClr val="20242C"/>
                </a:solidFill>
                <a:latin typeface="Verdana" pitchFamily="34" charset="0"/>
                <a:ea typeface="Verdana" pitchFamily="34" charset="-122"/>
                <a:cs typeface="Verdana" pitchFamily="34" charset="-120"/>
              </a:rPr>
              <a:t>Ljung-Box p-values at lags 4 and 8 are above 0.5, so residual autocorrelation is not an obvious concern.</a:t>
            </a:r>
            <a:endParaRPr lang="en-US" sz="1100" dirty="0"/>
          </a:p>
        </p:txBody>
      </p:sp>
      <p:sp>
        <p:nvSpPr>
          <p:cNvPr id="21" name="Shape 19"/>
          <p:cNvSpPr/>
          <p:nvPr/>
        </p:nvSpPr>
        <p:spPr>
          <a:xfrm>
            <a:off x="1051560" y="4526280"/>
            <a:ext cx="6812280" cy="868680"/>
          </a:xfrm>
          <a:prstGeom prst="roundRect">
            <a:avLst/>
          </a:prstGeom>
          <a:solidFill>
            <a:srgbClr val="FFFFFF"/>
          </a:solidFill>
          <a:ln w="12700">
            <a:solidFill>
              <a:srgbClr val="BFC7D3"/>
            </a:solidFill>
            <a:prstDash val="solid"/>
          </a:ln>
        </p:spPr>
      </p:sp>
      <p:sp>
        <p:nvSpPr>
          <p:cNvPr id="22" name="Text 20"/>
          <p:cNvSpPr/>
          <p:nvPr/>
        </p:nvSpPr>
        <p:spPr>
          <a:xfrm>
            <a:off x="1179576" y="4617720"/>
            <a:ext cx="655624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Overall interpretation</a:t>
            </a:r>
            <a:endParaRPr lang="en-US" sz="1250" dirty="0"/>
          </a:p>
        </p:txBody>
      </p:sp>
      <p:sp>
        <p:nvSpPr>
          <p:cNvPr id="23" name="Text 21"/>
          <p:cNvSpPr/>
          <p:nvPr/>
        </p:nvSpPr>
        <p:spPr>
          <a:xfrm>
            <a:off x="1179576" y="4873752"/>
            <a:ext cx="6556248" cy="429768"/>
          </a:xfrm>
          <a:prstGeom prst="rect">
            <a:avLst/>
          </a:prstGeom>
          <a:noFill/>
          <a:ln/>
        </p:spPr>
        <p:txBody>
          <a:bodyPr wrap="square" lIns="0" tIns="0" rIns="0" bIns="0" rtlCol="0" anchor="t"/>
          <a:lstStyle/>
          <a:p>
            <a:pPr indent="0" marL="0">
              <a:buNone/>
            </a:pPr>
            <a:r>
              <a:rPr lang="en-US" sz="1120" dirty="0">
                <a:solidFill>
                  <a:srgbClr val="20242C"/>
                </a:solidFill>
                <a:latin typeface="Verdana" pitchFamily="34" charset="0"/>
                <a:ea typeface="Verdana" pitchFamily="34" charset="-122"/>
                <a:cs typeface="Verdana" pitchFamily="34" charset="-120"/>
              </a:rPr>
              <a:t>The evidence fits a dynamic, lagged Phillips-curve type story better than a simple contemporaneous trade-off story.</a:t>
            </a:r>
            <a:endParaRPr lang="en-US" sz="11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Granger-Causality Test</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Part (d)</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13</a:t>
            </a:r>
            <a:endParaRPr lang="en-US" sz="900" dirty="0"/>
          </a:p>
        </p:txBody>
      </p:sp>
      <p:sp>
        <p:nvSpPr>
          <p:cNvPr id="9" name="Shape 7"/>
          <p:cNvSpPr/>
          <p:nvPr/>
        </p:nvSpPr>
        <p:spPr>
          <a:xfrm>
            <a:off x="685800" y="914400"/>
            <a:ext cx="7726680" cy="868680"/>
          </a:xfrm>
          <a:prstGeom prst="roundRect">
            <a:avLst/>
          </a:prstGeom>
          <a:solidFill>
            <a:srgbClr val="FFFFFF"/>
          </a:solidFill>
          <a:ln w="12700">
            <a:solidFill>
              <a:srgbClr val="BFC7D3"/>
            </a:solidFill>
            <a:prstDash val="solid"/>
          </a:ln>
        </p:spPr>
      </p:sp>
      <p:sp>
        <p:nvSpPr>
          <p:cNvPr id="10" name="Text 8"/>
          <p:cNvSpPr/>
          <p:nvPr/>
        </p:nvSpPr>
        <p:spPr>
          <a:xfrm>
            <a:off x="813816" y="1005840"/>
            <a:ext cx="747064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Null hypothesis</a:t>
            </a:r>
            <a:endParaRPr lang="en-US" sz="1250" dirty="0"/>
          </a:p>
        </p:txBody>
      </p:sp>
      <p:sp>
        <p:nvSpPr>
          <p:cNvPr id="11" name="Text 9"/>
          <p:cNvSpPr/>
          <p:nvPr/>
        </p:nvSpPr>
        <p:spPr>
          <a:xfrm>
            <a:off x="813816" y="1261872"/>
            <a:ext cx="7470648" cy="429768"/>
          </a:xfrm>
          <a:prstGeom prst="rect">
            <a:avLst/>
          </a:prstGeom>
          <a:noFill/>
          <a:ln/>
        </p:spPr>
        <p:txBody>
          <a:bodyPr wrap="square" lIns="0" tIns="0" rIns="0" bIns="0" rtlCol="0" anchor="t"/>
          <a:lstStyle/>
          <a:p>
            <a:pPr indent="0" marL="0">
              <a:buNone/>
            </a:pPr>
            <a:r>
              <a:rPr lang="en-US" sz="1300" dirty="0">
                <a:solidFill>
                  <a:srgbClr val="20242C"/>
                </a:solidFill>
                <a:latin typeface="Verdana" pitchFamily="34" charset="0"/>
                <a:ea typeface="Verdana" pitchFamily="34" charset="-122"/>
                <a:cs typeface="Verdana" pitchFamily="34" charset="-120"/>
              </a:rPr>
              <a:t>H0: unrate_lag1 = unrate_lag2 = unrate_lag3 = 0</a:t>
            </a:r>
            <a:endParaRPr lang="en-US" sz="1300" dirty="0"/>
          </a:p>
        </p:txBody>
      </p:sp>
      <p:sp>
        <p:nvSpPr>
          <p:cNvPr id="12" name="Shape 10"/>
          <p:cNvSpPr/>
          <p:nvPr/>
        </p:nvSpPr>
        <p:spPr>
          <a:xfrm>
            <a:off x="822960" y="2057400"/>
            <a:ext cx="3611880" cy="1417320"/>
          </a:xfrm>
          <a:prstGeom prst="roundRect">
            <a:avLst/>
          </a:prstGeom>
          <a:solidFill>
            <a:srgbClr val="DAEDEF"/>
          </a:solidFill>
          <a:ln w="12700">
            <a:solidFill>
              <a:srgbClr val="BFC7D3"/>
            </a:solidFill>
            <a:prstDash val="solid"/>
          </a:ln>
        </p:spPr>
      </p:sp>
      <p:sp>
        <p:nvSpPr>
          <p:cNvPr id="13" name="Text 11"/>
          <p:cNvSpPr/>
          <p:nvPr/>
        </p:nvSpPr>
        <p:spPr>
          <a:xfrm>
            <a:off x="950976" y="2148840"/>
            <a:ext cx="335584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Main Granger test</a:t>
            </a:r>
            <a:endParaRPr lang="en-US" sz="1250" dirty="0"/>
          </a:p>
        </p:txBody>
      </p:sp>
      <p:sp>
        <p:nvSpPr>
          <p:cNvPr id="14" name="Text 12"/>
          <p:cNvSpPr/>
          <p:nvPr/>
        </p:nvSpPr>
        <p:spPr>
          <a:xfrm>
            <a:off x="950976" y="2404872"/>
            <a:ext cx="3355848" cy="978408"/>
          </a:xfrm>
          <a:prstGeom prst="rect">
            <a:avLst/>
          </a:prstGeom>
          <a:noFill/>
          <a:ln/>
        </p:spPr>
        <p:txBody>
          <a:bodyPr wrap="square" lIns="0" tIns="0" rIns="0" bIns="0" rtlCol="0" anchor="t"/>
          <a:lstStyle/>
          <a:p>
            <a:pPr indent="0" marL="0">
              <a:buNone/>
            </a:pPr>
            <a:r>
              <a:rPr lang="en-US" sz="1320" dirty="0">
                <a:solidFill>
                  <a:srgbClr val="20242C"/>
                </a:solidFill>
                <a:latin typeface="Verdana" pitchFamily="34" charset="0"/>
                <a:ea typeface="Verdana" pitchFamily="34" charset="-122"/>
                <a:cs typeface="Verdana" pitchFamily="34" charset="-120"/>
              </a:rPr>
              <a:t>F(3,192) = 5.02</a:t>
            </a:r>
            <a:endParaRPr lang="en-US" sz="1320" dirty="0"/>
          </a:p>
          <a:p>
            <a:pPr indent="0" marL="0">
              <a:buNone/>
            </a:pPr>
            <a:r>
              <a:rPr lang="en-US" sz="1320" dirty="0">
                <a:solidFill>
                  <a:srgbClr val="20242C"/>
                </a:solidFill>
                <a:latin typeface="Verdana" pitchFamily="34" charset="0"/>
                <a:ea typeface="Verdana" pitchFamily="34" charset="-122"/>
                <a:cs typeface="Verdana" pitchFamily="34" charset="-120"/>
              </a:rPr>
              <a:t>p-value = 0.0023</a:t>
            </a:r>
            <a:endParaRPr lang="en-US" sz="1320" dirty="0"/>
          </a:p>
          <a:p>
            <a:pPr indent="0" marL="0">
              <a:buNone/>
            </a:pPr>
            <a:endParaRPr lang="en-US" sz="1320" dirty="0"/>
          </a:p>
          <a:p>
            <a:pPr indent="0" marL="0">
              <a:buNone/>
            </a:pPr>
            <a:r>
              <a:rPr lang="en-US" sz="1320" dirty="0">
                <a:solidFill>
                  <a:srgbClr val="20242C"/>
                </a:solidFill>
                <a:latin typeface="Verdana" pitchFamily="34" charset="0"/>
                <a:ea typeface="Verdana" pitchFamily="34" charset="-122"/>
                <a:cs typeface="Verdana" pitchFamily="34" charset="-120"/>
              </a:rPr>
              <a:t>Reject H0 at the 1% level.</a:t>
            </a:r>
            <a:endParaRPr lang="en-US" sz="1320" dirty="0"/>
          </a:p>
        </p:txBody>
      </p:sp>
      <p:sp>
        <p:nvSpPr>
          <p:cNvPr id="15" name="Shape 13"/>
          <p:cNvSpPr/>
          <p:nvPr/>
        </p:nvSpPr>
        <p:spPr>
          <a:xfrm>
            <a:off x="4663440" y="2057400"/>
            <a:ext cx="3611880" cy="1417320"/>
          </a:xfrm>
          <a:prstGeom prst="roundRect">
            <a:avLst/>
          </a:prstGeom>
          <a:solidFill>
            <a:srgbClr val="FFFFFF"/>
          </a:solidFill>
          <a:ln w="12700">
            <a:solidFill>
              <a:srgbClr val="BFC7D3"/>
            </a:solidFill>
            <a:prstDash val="solid"/>
          </a:ln>
        </p:spPr>
      </p:sp>
      <p:sp>
        <p:nvSpPr>
          <p:cNvPr id="16" name="Text 14"/>
          <p:cNvSpPr/>
          <p:nvPr/>
        </p:nvSpPr>
        <p:spPr>
          <a:xfrm>
            <a:off x="4791456" y="2148840"/>
            <a:ext cx="335584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Joint test with current unrate</a:t>
            </a:r>
            <a:endParaRPr lang="en-US" sz="1250" dirty="0"/>
          </a:p>
        </p:txBody>
      </p:sp>
      <p:sp>
        <p:nvSpPr>
          <p:cNvPr id="17" name="Text 15"/>
          <p:cNvSpPr/>
          <p:nvPr/>
        </p:nvSpPr>
        <p:spPr>
          <a:xfrm>
            <a:off x="4791456" y="2404872"/>
            <a:ext cx="3355848" cy="978408"/>
          </a:xfrm>
          <a:prstGeom prst="rect">
            <a:avLst/>
          </a:prstGeom>
          <a:noFill/>
          <a:ln/>
        </p:spPr>
        <p:txBody>
          <a:bodyPr wrap="square" lIns="0" tIns="0" rIns="0" bIns="0" rtlCol="0" anchor="t"/>
          <a:lstStyle/>
          <a:p>
            <a:pPr indent="0" marL="0">
              <a:buNone/>
            </a:pPr>
            <a:r>
              <a:rPr lang="en-US" sz="1260" dirty="0">
                <a:solidFill>
                  <a:srgbClr val="20242C"/>
                </a:solidFill>
                <a:latin typeface="Verdana" pitchFamily="34" charset="0"/>
                <a:ea typeface="Verdana" pitchFamily="34" charset="-122"/>
                <a:cs typeface="Verdana" pitchFamily="34" charset="-120"/>
              </a:rPr>
              <a:t>F(4,192) = 4.30</a:t>
            </a:r>
            <a:endParaRPr lang="en-US" sz="1260" dirty="0"/>
          </a:p>
          <a:p>
            <a:pPr indent="0" marL="0">
              <a:buNone/>
            </a:pPr>
            <a:r>
              <a:rPr lang="en-US" sz="1260" dirty="0">
                <a:solidFill>
                  <a:srgbClr val="20242C"/>
                </a:solidFill>
                <a:latin typeface="Verdana" pitchFamily="34" charset="0"/>
                <a:ea typeface="Verdana" pitchFamily="34" charset="-122"/>
                <a:cs typeface="Verdana" pitchFamily="34" charset="-120"/>
              </a:rPr>
              <a:t>p-value = 0.0024</a:t>
            </a:r>
            <a:endParaRPr lang="en-US" sz="1260" dirty="0"/>
          </a:p>
          <a:p>
            <a:pPr indent="0" marL="0">
              <a:buNone/>
            </a:pPr>
            <a:endParaRPr lang="en-US" sz="1260" dirty="0"/>
          </a:p>
          <a:p>
            <a:pPr indent="0" marL="0">
              <a:buNone/>
            </a:pPr>
            <a:r>
              <a:rPr lang="en-US" sz="1260" dirty="0">
                <a:solidFill>
                  <a:srgbClr val="20242C"/>
                </a:solidFill>
                <a:latin typeface="Verdana" pitchFamily="34" charset="0"/>
                <a:ea typeface="Verdana" pitchFamily="34" charset="-122"/>
                <a:cs typeface="Verdana" pitchFamily="34" charset="-120"/>
              </a:rPr>
              <a:t>The full unemployment block is jointly significant.</a:t>
            </a:r>
            <a:endParaRPr lang="en-US" sz="1260" dirty="0"/>
          </a:p>
        </p:txBody>
      </p:sp>
      <p:sp>
        <p:nvSpPr>
          <p:cNvPr id="18" name="Shape 16"/>
          <p:cNvSpPr/>
          <p:nvPr/>
        </p:nvSpPr>
        <p:spPr>
          <a:xfrm>
            <a:off x="1005840" y="3977640"/>
            <a:ext cx="7086600" cy="1234440"/>
          </a:xfrm>
          <a:prstGeom prst="roundRect">
            <a:avLst/>
          </a:prstGeom>
          <a:solidFill>
            <a:srgbClr val="FFFFFF"/>
          </a:solidFill>
          <a:ln w="12700">
            <a:solidFill>
              <a:srgbClr val="BFC7D3"/>
            </a:solidFill>
            <a:prstDash val="solid"/>
          </a:ln>
        </p:spPr>
      </p:sp>
      <p:sp>
        <p:nvSpPr>
          <p:cNvPr id="19" name="Text 17"/>
          <p:cNvSpPr/>
          <p:nvPr/>
        </p:nvSpPr>
        <p:spPr>
          <a:xfrm>
            <a:off x="1133856" y="4069080"/>
            <a:ext cx="68305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Conclusion</a:t>
            </a:r>
            <a:endParaRPr lang="en-US" sz="1250" dirty="0"/>
          </a:p>
        </p:txBody>
      </p:sp>
      <p:sp>
        <p:nvSpPr>
          <p:cNvPr id="20" name="Text 18"/>
          <p:cNvSpPr/>
          <p:nvPr/>
        </p:nvSpPr>
        <p:spPr>
          <a:xfrm>
            <a:off x="1133856" y="4325112"/>
            <a:ext cx="6830568" cy="795528"/>
          </a:xfrm>
          <a:prstGeom prst="rect">
            <a:avLst/>
          </a:prstGeom>
          <a:noFill/>
          <a:ln/>
        </p:spPr>
        <p:txBody>
          <a:bodyPr wrap="square" lIns="0" tIns="0" rIns="0" bIns="0" rtlCol="0" anchor="t"/>
          <a:lstStyle/>
          <a:p>
            <a:pPr indent="0" marL="0">
              <a:buNone/>
            </a:pPr>
            <a:r>
              <a:rPr lang="en-US" sz="1150" dirty="0">
                <a:solidFill>
                  <a:srgbClr val="20242C"/>
                </a:solidFill>
                <a:latin typeface="Verdana" pitchFamily="34" charset="0"/>
                <a:ea typeface="Verdana" pitchFamily="34" charset="-122"/>
                <a:cs typeface="Verdana" pitchFamily="34" charset="-120"/>
              </a:rPr>
              <a:t>Within this linear ADL(3,3) specification and this sample, unemployment Granger-causes inflation because lagged unemployment adds statistically significant forecasting information.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Why AIC and BIC Disagree</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Interpretation</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14</a:t>
            </a:r>
            <a:endParaRPr lang="en-US" sz="900" dirty="0"/>
          </a:p>
        </p:txBody>
      </p:sp>
      <p:sp>
        <p:nvSpPr>
          <p:cNvPr id="9" name="Shape 7"/>
          <p:cNvSpPr/>
          <p:nvPr/>
        </p:nvSpPr>
        <p:spPr>
          <a:xfrm>
            <a:off x="713232" y="914400"/>
            <a:ext cx="3703320" cy="1828800"/>
          </a:xfrm>
          <a:prstGeom prst="roundRect">
            <a:avLst/>
          </a:prstGeom>
          <a:solidFill>
            <a:srgbClr val="DAEDEF"/>
          </a:solidFill>
          <a:ln w="12700">
            <a:solidFill>
              <a:srgbClr val="BFC7D3"/>
            </a:solidFill>
            <a:prstDash val="solid"/>
          </a:ln>
        </p:spPr>
      </p:sp>
      <p:sp>
        <p:nvSpPr>
          <p:cNvPr id="10" name="Text 8"/>
          <p:cNvSpPr/>
          <p:nvPr/>
        </p:nvSpPr>
        <p:spPr>
          <a:xfrm>
            <a:off x="841248" y="1005840"/>
            <a:ext cx="34472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AIC lens</a:t>
            </a:r>
            <a:endParaRPr lang="en-US" sz="1250" dirty="0"/>
          </a:p>
        </p:txBody>
      </p:sp>
      <p:sp>
        <p:nvSpPr>
          <p:cNvPr id="11" name="Text 9"/>
          <p:cNvSpPr/>
          <p:nvPr/>
        </p:nvSpPr>
        <p:spPr>
          <a:xfrm>
            <a:off x="841248" y="1261872"/>
            <a:ext cx="3447288" cy="1389888"/>
          </a:xfrm>
          <a:prstGeom prst="rect">
            <a:avLst/>
          </a:prstGeom>
          <a:noFill/>
          <a:ln/>
        </p:spPr>
        <p:txBody>
          <a:bodyPr wrap="square" lIns="0" tIns="0" rIns="0" bIns="0" rtlCol="0" anchor="t"/>
          <a:lstStyle/>
          <a:p>
            <a:pPr indent="0" marL="0">
              <a:buNone/>
            </a:pPr>
            <a:r>
              <a:rPr lang="en-US" sz="1110" dirty="0">
                <a:solidFill>
                  <a:srgbClr val="20242C"/>
                </a:solidFill>
                <a:latin typeface="Verdana" pitchFamily="34" charset="0"/>
                <a:ea typeface="Verdana" pitchFamily="34" charset="-122"/>
                <a:cs typeface="Verdana" pitchFamily="34" charset="-120"/>
              </a:rPr>
              <a:t>AIC focuses more on predictive fit. It is willing to keep the extra unemployment lags because ADL(3,3) lowers the objective enough to justify a richer model.</a:t>
            </a:r>
            <a:endParaRPr lang="en-US" sz="1110" dirty="0"/>
          </a:p>
        </p:txBody>
      </p:sp>
      <p:sp>
        <p:nvSpPr>
          <p:cNvPr id="12" name="Shape 10"/>
          <p:cNvSpPr/>
          <p:nvPr/>
        </p:nvSpPr>
        <p:spPr>
          <a:xfrm>
            <a:off x="4681728" y="914400"/>
            <a:ext cx="3703320" cy="1828800"/>
          </a:xfrm>
          <a:prstGeom prst="roundRect">
            <a:avLst/>
          </a:prstGeom>
          <a:solidFill>
            <a:srgbClr val="FFFFFF"/>
          </a:solidFill>
          <a:ln w="12700">
            <a:solidFill>
              <a:srgbClr val="BFC7D3"/>
            </a:solidFill>
            <a:prstDash val="solid"/>
          </a:ln>
        </p:spPr>
      </p:sp>
      <p:sp>
        <p:nvSpPr>
          <p:cNvPr id="13" name="Text 11"/>
          <p:cNvSpPr/>
          <p:nvPr/>
        </p:nvSpPr>
        <p:spPr>
          <a:xfrm>
            <a:off x="4809744" y="1005840"/>
            <a:ext cx="34472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BIC lens</a:t>
            </a:r>
            <a:endParaRPr lang="en-US" sz="1250" dirty="0"/>
          </a:p>
        </p:txBody>
      </p:sp>
      <p:sp>
        <p:nvSpPr>
          <p:cNvPr id="14" name="Text 12"/>
          <p:cNvSpPr/>
          <p:nvPr/>
        </p:nvSpPr>
        <p:spPr>
          <a:xfrm>
            <a:off x="4809744" y="1261872"/>
            <a:ext cx="3447288" cy="1389888"/>
          </a:xfrm>
          <a:prstGeom prst="rect">
            <a:avLst/>
          </a:prstGeom>
          <a:noFill/>
          <a:ln/>
        </p:spPr>
        <p:txBody>
          <a:bodyPr wrap="square" lIns="0" tIns="0" rIns="0" bIns="0" rtlCol="0" anchor="t"/>
          <a:lstStyle/>
          <a:p>
            <a:pPr indent="0" marL="0">
              <a:buNone/>
            </a:pPr>
            <a:r>
              <a:rPr lang="en-US" sz="1110" dirty="0">
                <a:solidFill>
                  <a:srgbClr val="20242C"/>
                </a:solidFill>
                <a:latin typeface="Verdana" pitchFamily="34" charset="0"/>
                <a:ea typeface="Verdana" pitchFamily="34" charset="-122"/>
                <a:cs typeface="Verdana" pitchFamily="34" charset="-120"/>
              </a:rPr>
              <a:t>BIC punishes complexity more harshly, so it stops at ADL(3,1). The gain from adding more unemployment lags is judged too small relative to the penalty.</a:t>
            </a:r>
            <a:endParaRPr lang="en-US" sz="1110" dirty="0"/>
          </a:p>
        </p:txBody>
      </p:sp>
      <p:sp>
        <p:nvSpPr>
          <p:cNvPr id="15" name="Shape 13"/>
          <p:cNvSpPr/>
          <p:nvPr/>
        </p:nvSpPr>
        <p:spPr>
          <a:xfrm>
            <a:off x="1234440" y="3154680"/>
            <a:ext cx="1463040" cy="457200"/>
          </a:xfrm>
          <a:prstGeom prst="rect">
            <a:avLst/>
          </a:prstGeom>
          <a:solidFill>
            <a:srgbClr val="333399"/>
          </a:solidFill>
          <a:ln w="12700">
            <a:solidFill>
              <a:srgbClr val="FFFFFF"/>
            </a:solidFill>
            <a:prstDash val="solid"/>
          </a:ln>
        </p:spPr>
      </p:sp>
      <p:sp>
        <p:nvSpPr>
          <p:cNvPr id="16" name="Text 14"/>
          <p:cNvSpPr/>
          <p:nvPr/>
        </p:nvSpPr>
        <p:spPr>
          <a:xfrm>
            <a:off x="1271016" y="3191256"/>
            <a:ext cx="1389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Verdana" pitchFamily="34" charset="0"/>
                <a:ea typeface="Verdana" pitchFamily="34" charset="-122"/>
                <a:cs typeface="Verdana" pitchFamily="34" charset="-120"/>
              </a:rPr>
              <a:t>Criterion</a:t>
            </a:r>
            <a:endParaRPr lang="en-US" sz="1100" dirty="0"/>
          </a:p>
        </p:txBody>
      </p:sp>
      <p:sp>
        <p:nvSpPr>
          <p:cNvPr id="17" name="Shape 15"/>
          <p:cNvSpPr/>
          <p:nvPr/>
        </p:nvSpPr>
        <p:spPr>
          <a:xfrm>
            <a:off x="2697480" y="3154680"/>
            <a:ext cx="2468880" cy="457200"/>
          </a:xfrm>
          <a:prstGeom prst="rect">
            <a:avLst/>
          </a:prstGeom>
          <a:solidFill>
            <a:srgbClr val="333399"/>
          </a:solidFill>
          <a:ln w="12700">
            <a:solidFill>
              <a:srgbClr val="FFFFFF"/>
            </a:solidFill>
            <a:prstDash val="solid"/>
          </a:ln>
        </p:spPr>
      </p:sp>
      <p:sp>
        <p:nvSpPr>
          <p:cNvPr id="18" name="Text 16"/>
          <p:cNvSpPr/>
          <p:nvPr/>
        </p:nvSpPr>
        <p:spPr>
          <a:xfrm>
            <a:off x="2734056" y="3191256"/>
            <a:ext cx="2395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Verdana" pitchFamily="34" charset="0"/>
                <a:ea typeface="Verdana" pitchFamily="34" charset="-122"/>
                <a:cs typeface="Verdana" pitchFamily="34" charset="-120"/>
              </a:rPr>
              <a:t>Penalty per extra parameter</a:t>
            </a:r>
            <a:endParaRPr lang="en-US" sz="1100" dirty="0"/>
          </a:p>
        </p:txBody>
      </p:sp>
      <p:sp>
        <p:nvSpPr>
          <p:cNvPr id="19" name="Shape 17"/>
          <p:cNvSpPr/>
          <p:nvPr/>
        </p:nvSpPr>
        <p:spPr>
          <a:xfrm>
            <a:off x="5166360" y="3154680"/>
            <a:ext cx="2148840" cy="457200"/>
          </a:xfrm>
          <a:prstGeom prst="rect">
            <a:avLst/>
          </a:prstGeom>
          <a:solidFill>
            <a:srgbClr val="333399"/>
          </a:solidFill>
          <a:ln w="12700">
            <a:solidFill>
              <a:srgbClr val="FFFFFF"/>
            </a:solidFill>
            <a:prstDash val="solid"/>
          </a:ln>
        </p:spPr>
      </p:sp>
      <p:sp>
        <p:nvSpPr>
          <p:cNvPr id="20" name="Text 18"/>
          <p:cNvSpPr/>
          <p:nvPr/>
        </p:nvSpPr>
        <p:spPr>
          <a:xfrm>
            <a:off x="5202936" y="3191256"/>
            <a:ext cx="2075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Verdana" pitchFamily="34" charset="0"/>
                <a:ea typeface="Verdana" pitchFamily="34" charset="-122"/>
                <a:cs typeface="Verdana" pitchFamily="34" charset="-120"/>
              </a:rPr>
              <a:t>Preferred model</a:t>
            </a:r>
            <a:endParaRPr lang="en-US" sz="1100" dirty="0"/>
          </a:p>
        </p:txBody>
      </p:sp>
      <p:sp>
        <p:nvSpPr>
          <p:cNvPr id="21" name="Shape 19"/>
          <p:cNvSpPr/>
          <p:nvPr/>
        </p:nvSpPr>
        <p:spPr>
          <a:xfrm>
            <a:off x="1234440" y="3611880"/>
            <a:ext cx="1463040" cy="457200"/>
          </a:xfrm>
          <a:prstGeom prst="rect">
            <a:avLst/>
          </a:prstGeom>
          <a:solidFill>
            <a:srgbClr val="FFFFFF"/>
          </a:solidFill>
          <a:ln w="12700">
            <a:solidFill>
              <a:srgbClr val="BFC7D3"/>
            </a:solidFill>
            <a:prstDash val="solid"/>
          </a:ln>
        </p:spPr>
      </p:sp>
      <p:sp>
        <p:nvSpPr>
          <p:cNvPr id="22" name="Text 20"/>
          <p:cNvSpPr/>
          <p:nvPr/>
        </p:nvSpPr>
        <p:spPr>
          <a:xfrm>
            <a:off x="1271016" y="3648456"/>
            <a:ext cx="1389888" cy="384048"/>
          </a:xfrm>
          <a:prstGeom prst="rect">
            <a:avLst/>
          </a:prstGeom>
          <a:noFill/>
          <a:ln/>
        </p:spPr>
        <p:txBody>
          <a:bodyPr wrap="square" lIns="0" tIns="0" rIns="0" bIns="0" rtlCol="0" anchor="ctr"/>
          <a:lstStyle/>
          <a:p>
            <a:pPr algn="ctr" indent="0" marL="0">
              <a:buNone/>
            </a:pPr>
            <a:r>
              <a:rPr lang="en-US" sz="1100" dirty="0">
                <a:solidFill>
                  <a:srgbClr val="20242C"/>
                </a:solidFill>
                <a:latin typeface="Verdana" pitchFamily="34" charset="0"/>
                <a:ea typeface="Verdana" pitchFamily="34" charset="-122"/>
                <a:cs typeface="Verdana" pitchFamily="34" charset="-120"/>
              </a:rPr>
              <a:t>AIC</a:t>
            </a:r>
            <a:endParaRPr lang="en-US" sz="1100" dirty="0"/>
          </a:p>
        </p:txBody>
      </p:sp>
      <p:sp>
        <p:nvSpPr>
          <p:cNvPr id="23" name="Shape 21"/>
          <p:cNvSpPr/>
          <p:nvPr/>
        </p:nvSpPr>
        <p:spPr>
          <a:xfrm>
            <a:off x="2697480" y="3611880"/>
            <a:ext cx="2468880" cy="457200"/>
          </a:xfrm>
          <a:prstGeom prst="rect">
            <a:avLst/>
          </a:prstGeom>
          <a:solidFill>
            <a:srgbClr val="FFFFFF"/>
          </a:solidFill>
          <a:ln w="12700">
            <a:solidFill>
              <a:srgbClr val="BFC7D3"/>
            </a:solidFill>
            <a:prstDash val="solid"/>
          </a:ln>
        </p:spPr>
      </p:sp>
      <p:sp>
        <p:nvSpPr>
          <p:cNvPr id="24" name="Text 22"/>
          <p:cNvSpPr/>
          <p:nvPr/>
        </p:nvSpPr>
        <p:spPr>
          <a:xfrm>
            <a:off x="2734056" y="3648456"/>
            <a:ext cx="2395728" cy="384048"/>
          </a:xfrm>
          <a:prstGeom prst="rect">
            <a:avLst/>
          </a:prstGeom>
          <a:noFill/>
          <a:ln/>
        </p:spPr>
        <p:txBody>
          <a:bodyPr wrap="square" lIns="0" tIns="0" rIns="0" bIns="0" rtlCol="0" anchor="ctr"/>
          <a:lstStyle/>
          <a:p>
            <a:pPr algn="ctr" indent="0" marL="0">
              <a:buNone/>
            </a:pPr>
            <a:r>
              <a:rPr lang="en-US" sz="1100" dirty="0">
                <a:solidFill>
                  <a:srgbClr val="20242C"/>
                </a:solidFill>
                <a:latin typeface="Verdana" pitchFamily="34" charset="0"/>
                <a:ea typeface="Verdana" pitchFamily="34" charset="-122"/>
                <a:cs typeface="Verdana" pitchFamily="34" charset="-120"/>
              </a:rPr>
              <a:t>2</a:t>
            </a:r>
            <a:endParaRPr lang="en-US" sz="1100" dirty="0"/>
          </a:p>
        </p:txBody>
      </p:sp>
      <p:sp>
        <p:nvSpPr>
          <p:cNvPr id="25" name="Shape 23"/>
          <p:cNvSpPr/>
          <p:nvPr/>
        </p:nvSpPr>
        <p:spPr>
          <a:xfrm>
            <a:off x="5166360" y="3611880"/>
            <a:ext cx="2148840" cy="457200"/>
          </a:xfrm>
          <a:prstGeom prst="rect">
            <a:avLst/>
          </a:prstGeom>
          <a:solidFill>
            <a:srgbClr val="FFFFFF"/>
          </a:solidFill>
          <a:ln w="12700">
            <a:solidFill>
              <a:srgbClr val="BFC7D3"/>
            </a:solidFill>
            <a:prstDash val="solid"/>
          </a:ln>
        </p:spPr>
      </p:sp>
      <p:sp>
        <p:nvSpPr>
          <p:cNvPr id="26" name="Text 24"/>
          <p:cNvSpPr/>
          <p:nvPr/>
        </p:nvSpPr>
        <p:spPr>
          <a:xfrm>
            <a:off x="5202936" y="3648456"/>
            <a:ext cx="2075688" cy="384048"/>
          </a:xfrm>
          <a:prstGeom prst="rect">
            <a:avLst/>
          </a:prstGeom>
          <a:noFill/>
          <a:ln/>
        </p:spPr>
        <p:txBody>
          <a:bodyPr wrap="square" lIns="0" tIns="0" rIns="0" bIns="0" rtlCol="0" anchor="ctr"/>
          <a:lstStyle/>
          <a:p>
            <a:pPr algn="ctr" indent="0" marL="0">
              <a:buNone/>
            </a:pPr>
            <a:r>
              <a:rPr lang="en-US" sz="1100" dirty="0">
                <a:solidFill>
                  <a:srgbClr val="20242C"/>
                </a:solidFill>
                <a:latin typeface="Verdana" pitchFamily="34" charset="0"/>
                <a:ea typeface="Verdana" pitchFamily="34" charset="-122"/>
                <a:cs typeface="Verdana" pitchFamily="34" charset="-120"/>
              </a:rPr>
              <a:t>ADL(3,3)</a:t>
            </a:r>
            <a:endParaRPr lang="en-US" sz="1100" dirty="0"/>
          </a:p>
        </p:txBody>
      </p:sp>
      <p:sp>
        <p:nvSpPr>
          <p:cNvPr id="27" name="Shape 25"/>
          <p:cNvSpPr/>
          <p:nvPr/>
        </p:nvSpPr>
        <p:spPr>
          <a:xfrm>
            <a:off x="1234440" y="4069080"/>
            <a:ext cx="1463040" cy="457200"/>
          </a:xfrm>
          <a:prstGeom prst="rect">
            <a:avLst/>
          </a:prstGeom>
          <a:solidFill>
            <a:srgbClr val="EEF3F8"/>
          </a:solidFill>
          <a:ln w="12700">
            <a:solidFill>
              <a:srgbClr val="BFC7D3"/>
            </a:solidFill>
            <a:prstDash val="solid"/>
          </a:ln>
        </p:spPr>
      </p:sp>
      <p:sp>
        <p:nvSpPr>
          <p:cNvPr id="28" name="Text 26"/>
          <p:cNvSpPr/>
          <p:nvPr/>
        </p:nvSpPr>
        <p:spPr>
          <a:xfrm>
            <a:off x="1271016" y="4105656"/>
            <a:ext cx="1389888" cy="384048"/>
          </a:xfrm>
          <a:prstGeom prst="rect">
            <a:avLst/>
          </a:prstGeom>
          <a:noFill/>
          <a:ln/>
        </p:spPr>
        <p:txBody>
          <a:bodyPr wrap="square" lIns="0" tIns="0" rIns="0" bIns="0" rtlCol="0" anchor="ctr"/>
          <a:lstStyle/>
          <a:p>
            <a:pPr algn="ctr" indent="0" marL="0">
              <a:buNone/>
            </a:pPr>
            <a:r>
              <a:rPr lang="en-US" sz="1100" dirty="0">
                <a:solidFill>
                  <a:srgbClr val="20242C"/>
                </a:solidFill>
                <a:latin typeface="Verdana" pitchFamily="34" charset="0"/>
                <a:ea typeface="Verdana" pitchFamily="34" charset="-122"/>
                <a:cs typeface="Verdana" pitchFamily="34" charset="-120"/>
              </a:rPr>
              <a:t>BIC</a:t>
            </a:r>
            <a:endParaRPr lang="en-US" sz="1100" dirty="0"/>
          </a:p>
        </p:txBody>
      </p:sp>
      <p:sp>
        <p:nvSpPr>
          <p:cNvPr id="29" name="Shape 27"/>
          <p:cNvSpPr/>
          <p:nvPr/>
        </p:nvSpPr>
        <p:spPr>
          <a:xfrm>
            <a:off x="2697480" y="4069080"/>
            <a:ext cx="2468880" cy="457200"/>
          </a:xfrm>
          <a:prstGeom prst="rect">
            <a:avLst/>
          </a:prstGeom>
          <a:solidFill>
            <a:srgbClr val="EEF3F8"/>
          </a:solidFill>
          <a:ln w="12700">
            <a:solidFill>
              <a:srgbClr val="BFC7D3"/>
            </a:solidFill>
            <a:prstDash val="solid"/>
          </a:ln>
        </p:spPr>
      </p:sp>
      <p:sp>
        <p:nvSpPr>
          <p:cNvPr id="30" name="Text 28"/>
          <p:cNvSpPr/>
          <p:nvPr/>
        </p:nvSpPr>
        <p:spPr>
          <a:xfrm>
            <a:off x="2734056" y="4105656"/>
            <a:ext cx="2395728" cy="384048"/>
          </a:xfrm>
          <a:prstGeom prst="rect">
            <a:avLst/>
          </a:prstGeom>
          <a:noFill/>
          <a:ln/>
        </p:spPr>
        <p:txBody>
          <a:bodyPr wrap="square" lIns="0" tIns="0" rIns="0" bIns="0" rtlCol="0" anchor="ctr"/>
          <a:lstStyle/>
          <a:p>
            <a:pPr algn="ctr" indent="0" marL="0">
              <a:buNone/>
            </a:pPr>
            <a:r>
              <a:rPr lang="en-US" sz="1100" dirty="0">
                <a:solidFill>
                  <a:srgbClr val="20242C"/>
                </a:solidFill>
                <a:latin typeface="Verdana" pitchFamily="34" charset="0"/>
                <a:ea typeface="Verdana" pitchFamily="34" charset="-122"/>
                <a:cs typeface="Verdana" pitchFamily="34" charset="-120"/>
              </a:rPr>
              <a:t>ln(200) about 5.30</a:t>
            </a:r>
            <a:endParaRPr lang="en-US" sz="1100" dirty="0"/>
          </a:p>
        </p:txBody>
      </p:sp>
      <p:sp>
        <p:nvSpPr>
          <p:cNvPr id="31" name="Shape 29"/>
          <p:cNvSpPr/>
          <p:nvPr/>
        </p:nvSpPr>
        <p:spPr>
          <a:xfrm>
            <a:off x="5166360" y="4069080"/>
            <a:ext cx="2148840" cy="457200"/>
          </a:xfrm>
          <a:prstGeom prst="rect">
            <a:avLst/>
          </a:prstGeom>
          <a:solidFill>
            <a:srgbClr val="EEF3F8"/>
          </a:solidFill>
          <a:ln w="12700">
            <a:solidFill>
              <a:srgbClr val="BFC7D3"/>
            </a:solidFill>
            <a:prstDash val="solid"/>
          </a:ln>
        </p:spPr>
      </p:sp>
      <p:sp>
        <p:nvSpPr>
          <p:cNvPr id="32" name="Text 30"/>
          <p:cNvSpPr/>
          <p:nvPr/>
        </p:nvSpPr>
        <p:spPr>
          <a:xfrm>
            <a:off x="5202936" y="4105656"/>
            <a:ext cx="2075688" cy="384048"/>
          </a:xfrm>
          <a:prstGeom prst="rect">
            <a:avLst/>
          </a:prstGeom>
          <a:noFill/>
          <a:ln/>
        </p:spPr>
        <p:txBody>
          <a:bodyPr wrap="square" lIns="0" tIns="0" rIns="0" bIns="0" rtlCol="0" anchor="ctr"/>
          <a:lstStyle/>
          <a:p>
            <a:pPr algn="ctr" indent="0" marL="0">
              <a:buNone/>
            </a:pPr>
            <a:r>
              <a:rPr lang="en-US" sz="1100" dirty="0">
                <a:solidFill>
                  <a:srgbClr val="20242C"/>
                </a:solidFill>
                <a:latin typeface="Verdana" pitchFamily="34" charset="0"/>
                <a:ea typeface="Verdana" pitchFamily="34" charset="-122"/>
                <a:cs typeface="Verdana" pitchFamily="34" charset="-120"/>
              </a:rPr>
              <a:t>ADL(3,1)</a:t>
            </a:r>
            <a:endParaRPr lang="en-US" sz="1100" dirty="0"/>
          </a:p>
        </p:txBody>
      </p:sp>
      <p:sp>
        <p:nvSpPr>
          <p:cNvPr id="33" name="Shape 31"/>
          <p:cNvSpPr/>
          <p:nvPr/>
        </p:nvSpPr>
        <p:spPr>
          <a:xfrm>
            <a:off x="960120" y="4709160"/>
            <a:ext cx="7223760" cy="822960"/>
          </a:xfrm>
          <a:prstGeom prst="roundRect">
            <a:avLst/>
          </a:prstGeom>
          <a:solidFill>
            <a:srgbClr val="FFFFFF"/>
          </a:solidFill>
          <a:ln w="12700">
            <a:solidFill>
              <a:srgbClr val="BFC7D3"/>
            </a:solidFill>
            <a:prstDash val="solid"/>
          </a:ln>
        </p:spPr>
      </p:sp>
      <p:sp>
        <p:nvSpPr>
          <p:cNvPr id="34" name="Text 32"/>
          <p:cNvSpPr/>
          <p:nvPr/>
        </p:nvSpPr>
        <p:spPr>
          <a:xfrm>
            <a:off x="1088136" y="4800600"/>
            <a:ext cx="696772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Bottom line</a:t>
            </a:r>
            <a:endParaRPr lang="en-US" sz="1250" dirty="0"/>
          </a:p>
        </p:txBody>
      </p:sp>
      <p:sp>
        <p:nvSpPr>
          <p:cNvPr id="35" name="Text 33"/>
          <p:cNvSpPr/>
          <p:nvPr/>
        </p:nvSpPr>
        <p:spPr>
          <a:xfrm>
            <a:off x="1088136" y="5056632"/>
            <a:ext cx="6967728" cy="384048"/>
          </a:xfrm>
          <a:prstGeom prst="rect">
            <a:avLst/>
          </a:prstGeom>
          <a:noFill/>
          <a:ln/>
        </p:spPr>
        <p:txBody>
          <a:bodyPr wrap="square" lIns="0" tIns="0" rIns="0" bIns="0" rtlCol="0" anchor="t"/>
          <a:lstStyle/>
          <a:p>
            <a:pPr indent="0" marL="0">
              <a:buNone/>
            </a:pPr>
            <a:r>
              <a:rPr lang="en-US" sz="1120" dirty="0">
                <a:solidFill>
                  <a:srgbClr val="20242C"/>
                </a:solidFill>
                <a:latin typeface="Verdana" pitchFamily="34" charset="0"/>
                <a:ea typeface="Verdana" pitchFamily="34" charset="-122"/>
                <a:cs typeface="Verdana" pitchFamily="34" charset="-120"/>
              </a:rPr>
              <a:t>Both criteria tell the same broad story: lagged unemployment matters. They simply disagree on how much complexity is worth keeping.</a:t>
            </a:r>
            <a:endParaRPr lang="en-US" sz="11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Final Answers to the Assignment</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Summary</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15</a:t>
            </a:r>
            <a:endParaRPr lang="en-US" sz="900" dirty="0"/>
          </a:p>
        </p:txBody>
      </p:sp>
      <p:sp>
        <p:nvSpPr>
          <p:cNvPr id="9" name="Shape 7"/>
          <p:cNvSpPr/>
          <p:nvPr/>
        </p:nvSpPr>
        <p:spPr>
          <a:xfrm>
            <a:off x="731520" y="960120"/>
            <a:ext cx="3657600" cy="1417320"/>
          </a:xfrm>
          <a:prstGeom prst="roundRect">
            <a:avLst/>
          </a:prstGeom>
          <a:solidFill>
            <a:srgbClr val="DAEDEF"/>
          </a:solidFill>
          <a:ln w="12700">
            <a:solidFill>
              <a:srgbClr val="BFC7D3"/>
            </a:solidFill>
            <a:prstDash val="solid"/>
          </a:ln>
        </p:spPr>
      </p:sp>
      <p:sp>
        <p:nvSpPr>
          <p:cNvPr id="10" name="Text 8"/>
          <p:cNvSpPr/>
          <p:nvPr/>
        </p:nvSpPr>
        <p:spPr>
          <a:xfrm>
            <a:off x="859536" y="1051560"/>
            <a:ext cx="34015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(a) Plot pattern</a:t>
            </a:r>
            <a:endParaRPr lang="en-US" sz="1250" dirty="0"/>
          </a:p>
        </p:txBody>
      </p:sp>
      <p:sp>
        <p:nvSpPr>
          <p:cNvPr id="11" name="Text 9"/>
          <p:cNvSpPr/>
          <p:nvPr/>
        </p:nvSpPr>
        <p:spPr>
          <a:xfrm>
            <a:off x="859536" y="1307592"/>
            <a:ext cx="3401568" cy="978408"/>
          </a:xfrm>
          <a:prstGeom prst="rect">
            <a:avLst/>
          </a:prstGeom>
          <a:noFill/>
          <a:ln/>
        </p:spPr>
        <p:txBody>
          <a:bodyPr wrap="square" lIns="0" tIns="0" rIns="0" bIns="0" rtlCol="0" anchor="t"/>
          <a:lstStyle/>
          <a:p>
            <a:pPr indent="0" marL="0">
              <a:buNone/>
            </a:pPr>
            <a:r>
              <a:rPr lang="en-US" sz="1090" dirty="0">
                <a:solidFill>
                  <a:srgbClr val="20242C"/>
                </a:solidFill>
                <a:latin typeface="Verdana" pitchFamily="34" charset="0"/>
                <a:ea typeface="Verdana" pitchFamily="34" charset="-122"/>
                <a:cs typeface="Verdana" pitchFamily="34" charset="-120"/>
              </a:rPr>
              <a:t>Inflation is high and volatile in the 1970s/early 1980s, then lower and more stable. Unemployment is cyclical, and the contemporaneous relationship is not stable.</a:t>
            </a:r>
            <a:endParaRPr lang="en-US" sz="1090" dirty="0"/>
          </a:p>
        </p:txBody>
      </p:sp>
      <p:sp>
        <p:nvSpPr>
          <p:cNvPr id="12" name="Shape 10"/>
          <p:cNvSpPr/>
          <p:nvPr/>
        </p:nvSpPr>
        <p:spPr>
          <a:xfrm>
            <a:off x="4617720" y="960120"/>
            <a:ext cx="3657600" cy="1417320"/>
          </a:xfrm>
          <a:prstGeom prst="roundRect">
            <a:avLst/>
          </a:prstGeom>
          <a:solidFill>
            <a:srgbClr val="FFFFFF"/>
          </a:solidFill>
          <a:ln w="12700">
            <a:solidFill>
              <a:srgbClr val="BFC7D3"/>
            </a:solidFill>
            <a:prstDash val="solid"/>
          </a:ln>
        </p:spPr>
      </p:sp>
      <p:sp>
        <p:nvSpPr>
          <p:cNvPr id="13" name="Text 11"/>
          <p:cNvSpPr/>
          <p:nvPr/>
        </p:nvSpPr>
        <p:spPr>
          <a:xfrm>
            <a:off x="4745736" y="1051560"/>
            <a:ext cx="34015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(b) AR selection</a:t>
            </a:r>
            <a:endParaRPr lang="en-US" sz="1250" dirty="0"/>
          </a:p>
        </p:txBody>
      </p:sp>
      <p:sp>
        <p:nvSpPr>
          <p:cNvPr id="14" name="Text 12"/>
          <p:cNvSpPr/>
          <p:nvPr/>
        </p:nvSpPr>
        <p:spPr>
          <a:xfrm>
            <a:off x="4745736" y="1307592"/>
            <a:ext cx="3401568" cy="978408"/>
          </a:xfrm>
          <a:prstGeom prst="rect">
            <a:avLst/>
          </a:prstGeom>
          <a:noFill/>
          <a:ln/>
        </p:spPr>
        <p:txBody>
          <a:bodyPr wrap="square" lIns="0" tIns="0" rIns="0" bIns="0" rtlCol="0" anchor="t"/>
          <a:lstStyle/>
          <a:p>
            <a:pPr indent="0" marL="0">
              <a:buNone/>
            </a:pPr>
            <a:r>
              <a:rPr lang="en-US" sz="1320" dirty="0">
                <a:solidFill>
                  <a:srgbClr val="20242C"/>
                </a:solidFill>
                <a:latin typeface="Verdana" pitchFamily="34" charset="0"/>
                <a:ea typeface="Verdana" pitchFamily="34" charset="-122"/>
                <a:cs typeface="Verdana" pitchFamily="34" charset="-120"/>
              </a:rPr>
              <a:t>Both AIC and BIC choose AR(3).</a:t>
            </a:r>
            <a:endParaRPr lang="en-US" sz="1320" dirty="0"/>
          </a:p>
        </p:txBody>
      </p:sp>
      <p:sp>
        <p:nvSpPr>
          <p:cNvPr id="15" name="Shape 13"/>
          <p:cNvSpPr/>
          <p:nvPr/>
        </p:nvSpPr>
        <p:spPr>
          <a:xfrm>
            <a:off x="731520" y="2697480"/>
            <a:ext cx="3657600" cy="1417320"/>
          </a:xfrm>
          <a:prstGeom prst="roundRect">
            <a:avLst/>
          </a:prstGeom>
          <a:solidFill>
            <a:srgbClr val="FFFFFF"/>
          </a:solidFill>
          <a:ln w="12700">
            <a:solidFill>
              <a:srgbClr val="BFC7D3"/>
            </a:solidFill>
            <a:prstDash val="solid"/>
          </a:ln>
        </p:spPr>
      </p:sp>
      <p:sp>
        <p:nvSpPr>
          <p:cNvPr id="16" name="Text 14"/>
          <p:cNvSpPr/>
          <p:nvPr/>
        </p:nvSpPr>
        <p:spPr>
          <a:xfrm>
            <a:off x="859536" y="2788920"/>
            <a:ext cx="34015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(c) ADL selection</a:t>
            </a:r>
            <a:endParaRPr lang="en-US" sz="1250" dirty="0"/>
          </a:p>
        </p:txBody>
      </p:sp>
      <p:sp>
        <p:nvSpPr>
          <p:cNvPr id="17" name="Text 15"/>
          <p:cNvSpPr/>
          <p:nvPr/>
        </p:nvSpPr>
        <p:spPr>
          <a:xfrm>
            <a:off x="859536" y="3044952"/>
            <a:ext cx="3401568" cy="978408"/>
          </a:xfrm>
          <a:prstGeom prst="rect">
            <a:avLst/>
          </a:prstGeom>
          <a:noFill/>
          <a:ln/>
        </p:spPr>
        <p:txBody>
          <a:bodyPr wrap="square" lIns="0" tIns="0" rIns="0" bIns="0" rtlCol="0" anchor="t"/>
          <a:lstStyle/>
          <a:p>
            <a:pPr indent="0" marL="0">
              <a:buNone/>
            </a:pPr>
            <a:r>
              <a:rPr lang="en-US" sz="1090" dirty="0">
                <a:solidFill>
                  <a:srgbClr val="20242C"/>
                </a:solidFill>
                <a:latin typeface="Verdana" pitchFamily="34" charset="0"/>
                <a:ea typeface="Verdana" pitchFamily="34" charset="-122"/>
                <a:cs typeface="Verdana" pitchFamily="34" charset="-120"/>
              </a:rPr>
              <a:t>BIC chooses ADL(3,1), while AIC chooses ADL(3,3). Yes, this is consistent with the idea that AIC tends to choose a more complex model.</a:t>
            </a:r>
            <a:endParaRPr lang="en-US" sz="1090" dirty="0"/>
          </a:p>
        </p:txBody>
      </p:sp>
      <p:sp>
        <p:nvSpPr>
          <p:cNvPr id="18" name="Shape 16"/>
          <p:cNvSpPr/>
          <p:nvPr/>
        </p:nvSpPr>
        <p:spPr>
          <a:xfrm>
            <a:off x="4617720" y="2697480"/>
            <a:ext cx="3657600" cy="1417320"/>
          </a:xfrm>
          <a:prstGeom prst="roundRect">
            <a:avLst/>
          </a:prstGeom>
          <a:solidFill>
            <a:srgbClr val="DAEDEF"/>
          </a:solidFill>
          <a:ln w="12700">
            <a:solidFill>
              <a:srgbClr val="BFC7D3"/>
            </a:solidFill>
            <a:prstDash val="solid"/>
          </a:ln>
        </p:spPr>
      </p:sp>
      <p:sp>
        <p:nvSpPr>
          <p:cNvPr id="19" name="Text 17"/>
          <p:cNvSpPr/>
          <p:nvPr/>
        </p:nvSpPr>
        <p:spPr>
          <a:xfrm>
            <a:off x="4745736" y="2788920"/>
            <a:ext cx="340156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(d) Granger causality</a:t>
            </a:r>
            <a:endParaRPr lang="en-US" sz="1250" dirty="0"/>
          </a:p>
        </p:txBody>
      </p:sp>
      <p:sp>
        <p:nvSpPr>
          <p:cNvPr id="20" name="Text 18"/>
          <p:cNvSpPr/>
          <p:nvPr/>
        </p:nvSpPr>
        <p:spPr>
          <a:xfrm>
            <a:off x="4745736" y="3044952"/>
            <a:ext cx="3401568" cy="978408"/>
          </a:xfrm>
          <a:prstGeom prst="rect">
            <a:avLst/>
          </a:prstGeom>
          <a:noFill/>
          <a:ln/>
        </p:spPr>
        <p:txBody>
          <a:bodyPr wrap="square" lIns="0" tIns="0" rIns="0" bIns="0" rtlCol="0" anchor="t"/>
          <a:lstStyle/>
          <a:p>
            <a:pPr indent="0" marL="0">
              <a:buNone/>
            </a:pPr>
            <a:r>
              <a:rPr lang="en-US" sz="1180" dirty="0">
                <a:solidFill>
                  <a:srgbClr val="20242C"/>
                </a:solidFill>
                <a:latin typeface="Verdana" pitchFamily="34" charset="0"/>
                <a:ea typeface="Verdana" pitchFamily="34" charset="-122"/>
                <a:cs typeface="Verdana" pitchFamily="34" charset="-120"/>
              </a:rPr>
              <a:t>Yes. In ADL(3,3), we reject H0 that the lagged unemployment terms are jointly zero.</a:t>
            </a:r>
            <a:endParaRPr lang="en-US" sz="1180" dirty="0"/>
          </a:p>
        </p:txBody>
      </p:sp>
      <p:sp>
        <p:nvSpPr>
          <p:cNvPr id="21" name="Shape 19"/>
          <p:cNvSpPr/>
          <p:nvPr/>
        </p:nvSpPr>
        <p:spPr>
          <a:xfrm>
            <a:off x="1005840" y="4617720"/>
            <a:ext cx="7132320" cy="777240"/>
          </a:xfrm>
          <a:prstGeom prst="roundRect">
            <a:avLst/>
          </a:prstGeom>
          <a:solidFill>
            <a:srgbClr val="FFFFFF"/>
          </a:solidFill>
          <a:ln w="12700">
            <a:solidFill>
              <a:srgbClr val="BFC7D3"/>
            </a:solidFill>
            <a:prstDash val="solid"/>
          </a:ln>
        </p:spPr>
      </p:sp>
      <p:sp>
        <p:nvSpPr>
          <p:cNvPr id="22" name="Text 20"/>
          <p:cNvSpPr/>
          <p:nvPr/>
        </p:nvSpPr>
        <p:spPr>
          <a:xfrm>
            <a:off x="1133856" y="4709160"/>
            <a:ext cx="68762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One-sentence takeaway</a:t>
            </a:r>
            <a:endParaRPr lang="en-US" sz="1250" dirty="0"/>
          </a:p>
        </p:txBody>
      </p:sp>
      <p:sp>
        <p:nvSpPr>
          <p:cNvPr id="23" name="Text 21"/>
          <p:cNvSpPr/>
          <p:nvPr/>
        </p:nvSpPr>
        <p:spPr>
          <a:xfrm>
            <a:off x="1133856" y="4965192"/>
            <a:ext cx="6876288" cy="338328"/>
          </a:xfrm>
          <a:prstGeom prst="rect">
            <a:avLst/>
          </a:prstGeom>
          <a:noFill/>
          <a:ln/>
        </p:spPr>
        <p:txBody>
          <a:bodyPr wrap="square" lIns="0" tIns="0" rIns="0" bIns="0" rtlCol="0" anchor="t"/>
          <a:lstStyle/>
          <a:p>
            <a:pPr indent="0" marL="0">
              <a:buNone/>
            </a:pPr>
            <a:r>
              <a:rPr lang="en-US" sz="1120" dirty="0">
                <a:solidFill>
                  <a:srgbClr val="20242C"/>
                </a:solidFill>
                <a:latin typeface="Verdana" pitchFamily="34" charset="0"/>
                <a:ea typeface="Verdana" pitchFamily="34" charset="-122"/>
                <a:cs typeface="Verdana" pitchFamily="34" charset="-120"/>
              </a:rPr>
              <a:t>Inflation is persistent, unemployment adds delayed predictive content, and model selection becomes more conservative under BIC than under AIC.</a:t>
            </a:r>
            <a:endParaRPr lang="en-US" sz="11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Reference List</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References</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16</a:t>
            </a:r>
            <a:endParaRPr lang="en-US" sz="900" dirty="0"/>
          </a:p>
        </p:txBody>
      </p:sp>
      <p:sp>
        <p:nvSpPr>
          <p:cNvPr id="9" name="Text 7"/>
          <p:cNvSpPr/>
          <p:nvPr/>
        </p:nvSpPr>
        <p:spPr>
          <a:xfrm>
            <a:off x="822960" y="1051560"/>
            <a:ext cx="7406640" cy="3703320"/>
          </a:xfrm>
          <a:prstGeom prst="rect">
            <a:avLst/>
          </a:prstGeom>
          <a:noFill/>
          <a:ln/>
        </p:spPr>
        <p:txBody>
          <a:bodyPr wrap="square" lIns="0" tIns="0" rIns="0" bIns="0" rtlCol="0" anchor="t"/>
          <a:lstStyle/>
          <a:p>
            <a:pPr marL="152400" indent="-152400">
              <a:buSzPct val="100000"/>
              <a:buChar char="•"/>
            </a:pPr>
            <a:r>
              <a:rPr lang="en-US" sz="1120" dirty="0">
                <a:solidFill>
                  <a:srgbClr val="20242C"/>
                </a:solidFill>
                <a:latin typeface="Verdana" pitchFamily="34" charset="0"/>
                <a:ea typeface="Verdana" pitchFamily="34" charset="-122"/>
                <a:cs typeface="Verdana" pitchFamily="34" charset="-120"/>
              </a:rPr>
              <a:t>Akaike, H. (1974) A new look at the statistical model identification.</a:t>
            </a:r>
            <a:endParaRPr lang="en-US" sz="1120" dirty="0"/>
          </a:p>
          <a:p>
            <a:pPr marL="152400" indent="-152400">
              <a:buSzPct val="100000"/>
              <a:buChar char="•"/>
            </a:pPr>
            <a:r>
              <a:rPr lang="en-US" sz="1120" dirty="0">
                <a:solidFill>
                  <a:srgbClr val="20242C"/>
                </a:solidFill>
                <a:latin typeface="Verdana" pitchFamily="34" charset="0"/>
                <a:ea typeface="Verdana" pitchFamily="34" charset="-122"/>
                <a:cs typeface="Verdana" pitchFamily="34" charset="-120"/>
              </a:rPr>
              <a:t>Schwarz, G. (1978) Estimating the dimension of a model.</a:t>
            </a:r>
            <a:endParaRPr lang="en-US" sz="1120" dirty="0"/>
          </a:p>
          <a:p>
            <a:pPr marL="152400" indent="-152400">
              <a:buSzPct val="100000"/>
              <a:buChar char="•"/>
            </a:pPr>
            <a:r>
              <a:rPr lang="en-US" sz="1120" dirty="0">
                <a:solidFill>
                  <a:srgbClr val="20242C"/>
                </a:solidFill>
                <a:latin typeface="Verdana" pitchFamily="34" charset="0"/>
                <a:ea typeface="Verdana" pitchFamily="34" charset="-122"/>
                <a:cs typeface="Verdana" pitchFamily="34" charset="-120"/>
              </a:rPr>
              <a:t>Granger, C.W.J. (1969) Investigating causal relations by econometric models and cross-spectral methods.</a:t>
            </a:r>
            <a:endParaRPr lang="en-US" sz="1120" dirty="0"/>
          </a:p>
          <a:p>
            <a:pPr marL="152400" indent="-152400">
              <a:buSzPct val="100000"/>
              <a:buChar char="•"/>
            </a:pPr>
            <a:r>
              <a:rPr lang="en-US" sz="1120" dirty="0">
                <a:solidFill>
                  <a:srgbClr val="20242C"/>
                </a:solidFill>
                <a:latin typeface="Verdana" pitchFamily="34" charset="0"/>
                <a:ea typeface="Verdana" pitchFamily="34" charset="-122"/>
                <a:cs typeface="Verdana" pitchFamily="34" charset="-120"/>
              </a:rPr>
              <a:t>Stock, J.H. and Watson, M.W. Introductory Econometrics / course materials on dynamic models and forecasting.</a:t>
            </a:r>
            <a:endParaRPr lang="en-US" sz="1120" dirty="0"/>
          </a:p>
          <a:p>
            <a:pPr marL="152400" indent="-152400">
              <a:buSzPct val="100000"/>
              <a:buChar char="•"/>
            </a:pPr>
            <a:r>
              <a:rPr lang="en-US" sz="1120" dirty="0">
                <a:solidFill>
                  <a:srgbClr val="20242C"/>
                </a:solidFill>
                <a:latin typeface="Verdana" pitchFamily="34" charset="0"/>
                <a:ea typeface="Verdana" pitchFamily="34" charset="-122"/>
                <a:cs typeface="Verdana" pitchFamily="34" charset="-120"/>
              </a:rPr>
              <a:t>FRED data series used in fredgraph.dta: CPIAUCSL and UNRATE.</a:t>
            </a:r>
            <a:endParaRPr lang="en-US" sz="1120" dirty="0"/>
          </a:p>
        </p:txBody>
      </p:sp>
      <p:sp>
        <p:nvSpPr>
          <p:cNvPr id="10" name="Shape 8"/>
          <p:cNvSpPr/>
          <p:nvPr/>
        </p:nvSpPr>
        <p:spPr>
          <a:xfrm>
            <a:off x="1005840" y="4846320"/>
            <a:ext cx="7132320" cy="713232"/>
          </a:xfrm>
          <a:prstGeom prst="roundRect">
            <a:avLst/>
          </a:prstGeom>
          <a:solidFill>
            <a:srgbClr val="FFFFFF"/>
          </a:solidFill>
          <a:ln w="12700">
            <a:solidFill>
              <a:srgbClr val="BFC7D3"/>
            </a:solidFill>
            <a:prstDash val="solid"/>
          </a:ln>
        </p:spPr>
      </p:sp>
      <p:sp>
        <p:nvSpPr>
          <p:cNvPr id="11" name="Text 9"/>
          <p:cNvSpPr/>
          <p:nvPr/>
        </p:nvSpPr>
        <p:spPr>
          <a:xfrm>
            <a:off x="1133856" y="4937760"/>
            <a:ext cx="6876288" cy="219456"/>
          </a:xfrm>
          <a:prstGeom prst="rect">
            <a:avLst/>
          </a:prstGeom>
          <a:noFill/>
          <a:ln/>
        </p:spPr>
        <p:txBody>
          <a:bodyPr wrap="square" lIns="0" tIns="0" rIns="0" bIns="0" rtlCol="0" anchor="ctr"/>
          <a:lstStyle/>
          <a:p>
            <a:pPr indent="0" marL="0">
              <a:buNone/>
            </a:pPr>
            <a:r>
              <a:rPr lang="en-US" sz="1250" b="1" dirty="0">
                <a:solidFill>
                  <a:srgbClr val="333399"/>
                </a:solidFill>
                <a:latin typeface="Verdana" pitchFamily="34" charset="0"/>
                <a:ea typeface="Verdana" pitchFamily="34" charset="-122"/>
                <a:cs typeface="Verdana" pitchFamily="34" charset="-120"/>
              </a:rPr>
              <a:t>Note</a:t>
            </a:r>
            <a:endParaRPr lang="en-US" sz="1250" dirty="0"/>
          </a:p>
        </p:txBody>
      </p:sp>
      <p:sp>
        <p:nvSpPr>
          <p:cNvPr id="12" name="Text 10"/>
          <p:cNvSpPr/>
          <p:nvPr/>
        </p:nvSpPr>
        <p:spPr>
          <a:xfrm>
            <a:off x="1133856" y="5193792"/>
            <a:ext cx="6876288" cy="274320"/>
          </a:xfrm>
          <a:prstGeom prst="rect">
            <a:avLst/>
          </a:prstGeom>
          <a:noFill/>
          <a:ln/>
        </p:spPr>
        <p:txBody>
          <a:bodyPr wrap="square" lIns="0" tIns="0" rIns="0" bIns="0" rtlCol="0" anchor="t"/>
          <a:lstStyle/>
          <a:p>
            <a:pPr indent="0" marL="0">
              <a:buNone/>
            </a:pPr>
            <a:r>
              <a:rPr lang="en-US" sz="1090" dirty="0">
                <a:solidFill>
                  <a:srgbClr val="20242C"/>
                </a:solidFill>
                <a:latin typeface="Verdana" pitchFamily="34" charset="0"/>
                <a:ea typeface="Verdana" pitchFamily="34" charset="-122"/>
                <a:cs typeface="Verdana" pitchFamily="34" charset="-120"/>
              </a:rPr>
              <a:t>The empirical results in this deck were reproduced in StataSE using the do-file prepared for the assignment.</a:t>
            </a:r>
            <a:endParaRPr lang="en-US" sz="109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Appendix: Core Stata Code</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Appendix</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17</a:t>
            </a:r>
            <a:endParaRPr lang="en-US" sz="900" dirty="0"/>
          </a:p>
        </p:txBody>
      </p:sp>
      <p:sp>
        <p:nvSpPr>
          <p:cNvPr id="9" name="Shape 7"/>
          <p:cNvSpPr/>
          <p:nvPr/>
        </p:nvSpPr>
        <p:spPr>
          <a:xfrm>
            <a:off x="658368" y="987552"/>
            <a:ext cx="3840480" cy="4297680"/>
          </a:xfrm>
          <a:prstGeom prst="roundRect">
            <a:avLst/>
          </a:prstGeom>
          <a:solidFill>
            <a:srgbClr val="F3F6FB"/>
          </a:solidFill>
          <a:ln w="12700">
            <a:solidFill>
              <a:srgbClr val="BFC7D3"/>
            </a:solidFill>
            <a:prstDash val="solid"/>
          </a:ln>
        </p:spPr>
      </p:sp>
      <p:sp>
        <p:nvSpPr>
          <p:cNvPr id="10" name="Text 8"/>
          <p:cNvSpPr/>
          <p:nvPr/>
        </p:nvSpPr>
        <p:spPr>
          <a:xfrm>
            <a:off x="786384" y="1060704"/>
            <a:ext cx="3584448" cy="182880"/>
          </a:xfrm>
          <a:prstGeom prst="rect">
            <a:avLst/>
          </a:prstGeom>
          <a:noFill/>
          <a:ln/>
        </p:spPr>
        <p:txBody>
          <a:bodyPr wrap="square" lIns="0" tIns="0" rIns="0" bIns="0" rtlCol="0" anchor="ctr"/>
          <a:lstStyle/>
          <a:p>
            <a:pPr indent="0" marL="0">
              <a:buNone/>
            </a:pPr>
            <a:r>
              <a:rPr lang="en-US" sz="1100" b="1" dirty="0">
                <a:solidFill>
                  <a:srgbClr val="333399"/>
                </a:solidFill>
                <a:latin typeface="Verdana" pitchFamily="34" charset="0"/>
                <a:ea typeface="Verdana" pitchFamily="34" charset="-122"/>
                <a:cs typeface="Verdana" pitchFamily="34" charset="-120"/>
              </a:rPr>
              <a:t>Lag construction and sample definition</a:t>
            </a:r>
            <a:endParaRPr lang="en-US" sz="1100" dirty="0"/>
          </a:p>
        </p:txBody>
      </p:sp>
      <p:sp>
        <p:nvSpPr>
          <p:cNvPr id="11" name="Text 9"/>
          <p:cNvSpPr/>
          <p:nvPr/>
        </p:nvSpPr>
        <p:spPr>
          <a:xfrm>
            <a:off x="786384" y="1298448"/>
            <a:ext cx="3584448" cy="3913632"/>
          </a:xfrm>
          <a:prstGeom prst="rect">
            <a:avLst/>
          </a:prstGeom>
          <a:noFill/>
          <a:ln/>
        </p:spPr>
        <p:txBody>
          <a:bodyPr wrap="square" lIns="0" tIns="0" rIns="0" bIns="0" rtlCol="0" anchor="t"/>
          <a:lstStyle/>
          <a:p>
            <a:pPr indent="0" marL="0">
              <a:buNone/>
            </a:pPr>
            <a:r>
              <a:rPr lang="en-US" sz="1000" dirty="0">
                <a:solidFill>
                  <a:srgbClr val="20242C"/>
                </a:solidFill>
                <a:latin typeface="Menlo" pitchFamily="34" charset="0"/>
                <a:ea typeface="Menlo" pitchFamily="34" charset="-122"/>
                <a:cs typeface="Menlo" pitchFamily="34" charset="-120"/>
              </a:rPr>
              <a:t>gen infl = (ln(cpiaucsl) - ln(L.cpiaucsl)) * 400</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forvalues i = 1/4 {</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    gen infl_lag`i' = L`i'.infl</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    gen unrate_lag`i' = L`i'.unrate</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keep if tin(1970q1, 2019q4)</a:t>
            </a:r>
            <a:endParaRPr lang="en-US" sz="1000" dirty="0"/>
          </a:p>
          <a:p>
            <a:pPr indent="0" marL="0">
              <a:buNone/>
            </a:pP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forvalues p = 0/4 {</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    regress infl infl_lag1 ... infl_lag`p'</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    estat ic</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a:t>
            </a:r>
            <a:endParaRPr lang="en-US" sz="1000" dirty="0"/>
          </a:p>
        </p:txBody>
      </p:sp>
      <p:sp>
        <p:nvSpPr>
          <p:cNvPr id="12" name="Shape 10"/>
          <p:cNvSpPr/>
          <p:nvPr/>
        </p:nvSpPr>
        <p:spPr>
          <a:xfrm>
            <a:off x="4645152" y="987552"/>
            <a:ext cx="3840480" cy="4297680"/>
          </a:xfrm>
          <a:prstGeom prst="roundRect">
            <a:avLst/>
          </a:prstGeom>
          <a:solidFill>
            <a:srgbClr val="F3F6FB"/>
          </a:solidFill>
          <a:ln w="12700">
            <a:solidFill>
              <a:srgbClr val="BFC7D3"/>
            </a:solidFill>
            <a:prstDash val="solid"/>
          </a:ln>
        </p:spPr>
      </p:sp>
      <p:sp>
        <p:nvSpPr>
          <p:cNvPr id="13" name="Text 11"/>
          <p:cNvSpPr/>
          <p:nvPr/>
        </p:nvSpPr>
        <p:spPr>
          <a:xfrm>
            <a:off x="4773168" y="1060704"/>
            <a:ext cx="3584448" cy="182880"/>
          </a:xfrm>
          <a:prstGeom prst="rect">
            <a:avLst/>
          </a:prstGeom>
          <a:noFill/>
          <a:ln/>
        </p:spPr>
        <p:txBody>
          <a:bodyPr wrap="square" lIns="0" tIns="0" rIns="0" bIns="0" rtlCol="0" anchor="ctr"/>
          <a:lstStyle/>
          <a:p>
            <a:pPr indent="0" marL="0">
              <a:buNone/>
            </a:pPr>
            <a:r>
              <a:rPr lang="en-US" sz="1100" b="1" dirty="0">
                <a:solidFill>
                  <a:srgbClr val="333399"/>
                </a:solidFill>
                <a:latin typeface="Verdana" pitchFamily="34" charset="0"/>
                <a:ea typeface="Verdana" pitchFamily="34" charset="-122"/>
                <a:cs typeface="Verdana" pitchFamily="34" charset="-120"/>
              </a:rPr>
              <a:t>ADL estimation and Granger test</a:t>
            </a:r>
            <a:endParaRPr lang="en-US" sz="1100" dirty="0"/>
          </a:p>
        </p:txBody>
      </p:sp>
      <p:sp>
        <p:nvSpPr>
          <p:cNvPr id="14" name="Text 12"/>
          <p:cNvSpPr/>
          <p:nvPr/>
        </p:nvSpPr>
        <p:spPr>
          <a:xfrm>
            <a:off x="4773168" y="1298448"/>
            <a:ext cx="3584448" cy="3913632"/>
          </a:xfrm>
          <a:prstGeom prst="rect">
            <a:avLst/>
          </a:prstGeom>
          <a:noFill/>
          <a:ln/>
        </p:spPr>
        <p:txBody>
          <a:bodyPr wrap="square" lIns="0" tIns="0" rIns="0" bIns="0" rtlCol="0" anchor="t"/>
          <a:lstStyle/>
          <a:p>
            <a:pPr indent="0" marL="0">
              <a:buNone/>
            </a:pPr>
            <a:r>
              <a:rPr lang="en-US" sz="1000" dirty="0">
                <a:solidFill>
                  <a:srgbClr val="20242C"/>
                </a:solidFill>
                <a:latin typeface="Menlo" pitchFamily="34" charset="0"/>
                <a:ea typeface="Menlo" pitchFamily="34" charset="-122"/>
                <a:cs typeface="Menlo" pitchFamily="34" charset="-120"/>
              </a:rPr>
              <a:t>forvalues p = 0/4 {</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    forvalues q = 0/4 {</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        regress infl infl_lag* unrate unrate_lag*</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        estat ic</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    }</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a:t>
            </a:r>
            <a:endParaRPr lang="en-US" sz="1000" dirty="0"/>
          </a:p>
          <a:p>
            <a:pPr indent="0" marL="0">
              <a:buNone/>
            </a:pP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regress infl infl_lag1 infl_lag2 infl_lag3 \</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       unrate unrate_lag1 unrate_lag2 unrate_lag3</a:t>
            </a:r>
            <a:endParaRPr lang="en-US" sz="1000" dirty="0"/>
          </a:p>
          <a:p>
            <a:pPr indent="0" marL="0">
              <a:buNone/>
            </a:pPr>
            <a:r>
              <a:rPr lang="en-US" sz="1000" dirty="0">
                <a:solidFill>
                  <a:srgbClr val="20242C"/>
                </a:solidFill>
                <a:latin typeface="Menlo" pitchFamily="34" charset="0"/>
                <a:ea typeface="Menlo" pitchFamily="34" charset="-122"/>
                <a:cs typeface="Menlo" pitchFamily="34" charset="-120"/>
              </a:rPr>
              <a:t>test unrate_lag1 unrate_lag2 unrate_lag3</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333399"/>
          </a:solidFill>
          <a:ln w="12700">
            <a:solidFill>
              <a:srgbClr val="333399"/>
            </a:solidFill>
            <a:prstDash val="solid"/>
          </a:ln>
        </p:spPr>
      </p:sp>
      <p:sp>
        <p:nvSpPr>
          <p:cNvPr id="3" name="Shape 1"/>
          <p:cNvSpPr/>
          <p:nvPr/>
        </p:nvSpPr>
        <p:spPr>
          <a:xfrm>
            <a:off x="0" y="530352"/>
            <a:ext cx="9144000" cy="73152"/>
          </a:xfrm>
          <a:prstGeom prst="rect">
            <a:avLst/>
          </a:prstGeom>
          <a:solidFill>
            <a:srgbClr val="BBE0E3"/>
          </a:solidFill>
          <a:ln w="12700">
            <a:solidFill>
              <a:srgbClr val="BBE0E3"/>
            </a:solidFill>
            <a:prstDash val="solid"/>
          </a:ln>
        </p:spPr>
      </p:sp>
      <p:sp>
        <p:nvSpPr>
          <p:cNvPr id="4" name="Text 2"/>
          <p:cNvSpPr/>
          <p:nvPr/>
        </p:nvSpPr>
        <p:spPr>
          <a:xfrm>
            <a:off x="411480" y="109728"/>
            <a:ext cx="6126480" cy="256032"/>
          </a:xfrm>
          <a:prstGeom prst="rect">
            <a:avLst/>
          </a:prstGeom>
          <a:noFill/>
          <a:ln/>
        </p:spPr>
        <p:txBody>
          <a:bodyPr wrap="square" lIns="0" tIns="0" rIns="0" bIns="0" rtlCol="0" anchor="ctr"/>
          <a:lstStyle/>
          <a:p>
            <a:pPr indent="0" marL="0">
              <a:buNone/>
            </a:pPr>
            <a:r>
              <a:rPr lang="en-US" sz="2200" b="1" dirty="0">
                <a:solidFill>
                  <a:srgbClr val="FFFFFF"/>
                </a:solidFill>
                <a:latin typeface="Verdana" pitchFamily="34" charset="0"/>
                <a:ea typeface="Verdana" pitchFamily="34" charset="-122"/>
                <a:cs typeface="Verdana" pitchFamily="34" charset="-120"/>
              </a:rPr>
              <a:t>Thanks</a:t>
            </a:r>
            <a:endParaRPr lang="en-US" sz="2200" dirty="0"/>
          </a:p>
        </p:txBody>
      </p:sp>
      <p:sp>
        <p:nvSpPr>
          <p:cNvPr id="5" name="Text 3"/>
          <p:cNvSpPr/>
          <p:nvPr/>
        </p:nvSpPr>
        <p:spPr>
          <a:xfrm>
            <a:off x="6583680" y="146304"/>
            <a:ext cx="2011680" cy="182880"/>
          </a:xfrm>
          <a:prstGeom prst="rect">
            <a:avLst/>
          </a:prstGeom>
          <a:noFill/>
          <a:ln/>
        </p:spPr>
        <p:txBody>
          <a:bodyPr wrap="square" lIns="0" tIns="0" rIns="0" bIns="0" rtlCol="0" anchor="ctr"/>
          <a:lstStyle/>
          <a:p>
            <a:pPr algn="r" indent="0" marL="0">
              <a:buNone/>
            </a:pPr>
            <a:r>
              <a:rPr lang="en-US" sz="950" dirty="0">
                <a:solidFill>
                  <a:srgbClr val="BBE0E3"/>
                </a:solidFill>
                <a:latin typeface="Verdana" pitchFamily="34" charset="0"/>
                <a:ea typeface="Verdana" pitchFamily="34" charset="-122"/>
                <a:cs typeface="Verdana" pitchFamily="34" charset="-120"/>
              </a:rPr>
              <a:t>Closing</a:t>
            </a:r>
            <a:endParaRPr lang="en-US" sz="950" dirty="0"/>
          </a:p>
        </p:txBody>
      </p:sp>
      <p:sp>
        <p:nvSpPr>
          <p:cNvPr id="6" name="Shape 4"/>
          <p:cNvSpPr/>
          <p:nvPr/>
        </p:nvSpPr>
        <p:spPr>
          <a:xfrm>
            <a:off x="411480" y="6455664"/>
            <a:ext cx="8321040" cy="0"/>
          </a:xfrm>
          <a:prstGeom prst="line">
            <a:avLst/>
          </a:prstGeom>
          <a:noFill/>
          <a:ln w="12700">
            <a:solidFill>
              <a:srgbClr val="BFC7D3"/>
            </a:solidFill>
            <a:prstDash val="solid"/>
          </a:ln>
        </p:spPr>
      </p:sp>
      <p:sp>
        <p:nvSpPr>
          <p:cNvPr id="7" name="Text 5"/>
          <p:cNvSpPr/>
          <p:nvPr/>
        </p:nvSpPr>
        <p:spPr>
          <a:xfrm>
            <a:off x="457200" y="6473952"/>
            <a:ext cx="2926080" cy="182880"/>
          </a:xfrm>
          <a:prstGeom prst="rect">
            <a:avLst/>
          </a:prstGeom>
          <a:noFill/>
          <a:ln/>
        </p:spPr>
        <p:txBody>
          <a:bodyPr wrap="square" lIns="0" tIns="0" rIns="0" bIns="0" rtlCol="0" anchor="ctr"/>
          <a:lstStyle/>
          <a:p>
            <a:pPr indent="0" marL="0">
              <a:buNone/>
            </a:pPr>
            <a:r>
              <a:rPr lang="en-US" sz="850" dirty="0">
                <a:solidFill>
                  <a:srgbClr val="5B6571"/>
                </a:solidFill>
                <a:latin typeface="Verdana" pitchFamily="34" charset="0"/>
                <a:ea typeface="Verdana" pitchFamily="34" charset="-122"/>
                <a:cs typeface="Verdana" pitchFamily="34" charset="-120"/>
              </a:rPr>
              <a:t>ECO214 | Assignment 2B</a:t>
            </a:r>
            <a:endParaRPr lang="en-US" sz="850" dirty="0"/>
          </a:p>
        </p:txBody>
      </p:sp>
      <p:sp>
        <p:nvSpPr>
          <p:cNvPr id="8" name="Text 6"/>
          <p:cNvSpPr/>
          <p:nvPr/>
        </p:nvSpPr>
        <p:spPr>
          <a:xfrm>
            <a:off x="8275320" y="6437376"/>
            <a:ext cx="365760" cy="219456"/>
          </a:xfrm>
          <a:prstGeom prst="rect">
            <a:avLst/>
          </a:prstGeom>
          <a:noFill/>
          <a:ln/>
        </p:spPr>
        <p:txBody>
          <a:bodyPr wrap="square" lIns="0" tIns="0" rIns="0" bIns="0" rtlCol="0" anchor="ctr"/>
          <a:lstStyle/>
          <a:p>
            <a:pPr algn="r" indent="0" marL="0">
              <a:buNone/>
            </a:pPr>
            <a:r>
              <a:rPr lang="en-US" sz="900" b="1" dirty="0">
                <a:solidFill>
                  <a:srgbClr val="333399"/>
                </a:solidFill>
                <a:latin typeface="Verdana" pitchFamily="34" charset="0"/>
                <a:ea typeface="Verdana" pitchFamily="34" charset="-122"/>
                <a:cs typeface="Verdana" pitchFamily="34" charset="-120"/>
              </a:rPr>
              <a:t>18</a:t>
            </a:r>
            <a:endParaRPr lang="en-US" sz="900" dirty="0"/>
          </a:p>
        </p:txBody>
      </p:sp>
      <p:sp>
        <p:nvSpPr>
          <p:cNvPr id="9" name="Shape 7"/>
          <p:cNvSpPr/>
          <p:nvPr/>
        </p:nvSpPr>
        <p:spPr>
          <a:xfrm>
            <a:off x="1417320" y="1417320"/>
            <a:ext cx="6355080" cy="3017520"/>
          </a:xfrm>
          <a:prstGeom prst="roundRect">
            <a:avLst/>
          </a:prstGeom>
          <a:solidFill>
            <a:srgbClr val="DAEDEF"/>
          </a:solidFill>
          <a:ln w="12700">
            <a:solidFill>
              <a:srgbClr val="DAEDEF"/>
            </a:solidFill>
            <a:prstDash val="solid"/>
          </a:ln>
        </p:spPr>
      </p:sp>
      <p:sp>
        <p:nvSpPr>
          <p:cNvPr id="10" name="Text 8"/>
          <p:cNvSpPr/>
          <p:nvPr/>
        </p:nvSpPr>
        <p:spPr>
          <a:xfrm>
            <a:off x="2011680" y="2011680"/>
            <a:ext cx="5120640" cy="640080"/>
          </a:xfrm>
          <a:prstGeom prst="rect">
            <a:avLst/>
          </a:prstGeom>
          <a:noFill/>
          <a:ln/>
        </p:spPr>
        <p:txBody>
          <a:bodyPr wrap="square" lIns="0" tIns="0" rIns="0" bIns="0" rtlCol="0" anchor="ctr"/>
          <a:lstStyle/>
          <a:p>
            <a:pPr algn="ctr" indent="0" marL="0">
              <a:buNone/>
            </a:pPr>
            <a:r>
              <a:rPr lang="en-US" sz="2800" b="1" dirty="0">
                <a:solidFill>
                  <a:srgbClr val="2D2D8A"/>
                </a:solidFill>
                <a:latin typeface="Verdana" pitchFamily="34" charset="0"/>
                <a:ea typeface="Verdana" pitchFamily="34" charset="-122"/>
                <a:cs typeface="Verdana" pitchFamily="34" charset="-120"/>
              </a:rPr>
              <a:t>Thank you</a:t>
            </a:r>
            <a:endParaRPr lang="en-US" sz="2800" dirty="0"/>
          </a:p>
        </p:txBody>
      </p:sp>
      <p:sp>
        <p:nvSpPr>
          <p:cNvPr id="11" name="Text 9"/>
          <p:cNvSpPr/>
          <p:nvPr/>
        </p:nvSpPr>
        <p:spPr>
          <a:xfrm>
            <a:off x="1920240" y="2880360"/>
            <a:ext cx="5303520" cy="320040"/>
          </a:xfrm>
          <a:prstGeom prst="rect">
            <a:avLst/>
          </a:prstGeom>
          <a:noFill/>
          <a:ln/>
        </p:spPr>
        <p:txBody>
          <a:bodyPr wrap="square" lIns="0" tIns="0" rIns="0" bIns="0" rtlCol="0" anchor="ctr"/>
          <a:lstStyle/>
          <a:p>
            <a:pPr algn="ctr" indent="0" marL="0">
              <a:buNone/>
            </a:pPr>
            <a:r>
              <a:rPr lang="en-US" sz="1400" dirty="0">
                <a:solidFill>
                  <a:srgbClr val="20242C"/>
                </a:solidFill>
                <a:latin typeface="Verdana" pitchFamily="34" charset="0"/>
                <a:ea typeface="Verdana" pitchFamily="34" charset="-122"/>
                <a:cs typeface="Verdana" pitchFamily="34" charset="-120"/>
              </a:rPr>
              <a:t>Questions and suggestions are welcome.</a:t>
            </a:r>
            <a:endParaRPr lang="en-US" sz="1400" dirty="0"/>
          </a:p>
        </p:txBody>
      </p:sp>
      <p:sp>
        <p:nvSpPr>
          <p:cNvPr id="12" name="Text 10"/>
          <p:cNvSpPr/>
          <p:nvPr/>
        </p:nvSpPr>
        <p:spPr>
          <a:xfrm>
            <a:off x="1783080" y="3657600"/>
            <a:ext cx="5623560" cy="320040"/>
          </a:xfrm>
          <a:prstGeom prst="rect">
            <a:avLst/>
          </a:prstGeom>
          <a:noFill/>
          <a:ln/>
        </p:spPr>
        <p:txBody>
          <a:bodyPr wrap="square" lIns="0" tIns="0" rIns="0" bIns="0" rtlCol="0" anchor="ctr"/>
          <a:lstStyle/>
          <a:p>
            <a:pPr algn="ctr" indent="0" marL="0">
              <a:buNone/>
            </a:pPr>
            <a:r>
              <a:rPr lang="en-US" sz="1080" dirty="0">
                <a:solidFill>
                  <a:srgbClr val="5B6571"/>
                </a:solidFill>
                <a:latin typeface="Verdana" pitchFamily="34" charset="0"/>
                <a:ea typeface="Verdana" pitchFamily="34" charset="-122"/>
                <a:cs typeface="Verdana" pitchFamily="34" charset="-120"/>
              </a:rPr>
              <a:t>You can replace the placeholders with your group names and date before presenting.</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Verdan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erdan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XJTLU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2B: ADL Model and Information Criteria</dc:title>
  <dc:subject>ECO214 Assignment 2B</dc:subject>
  <dc:creator>OpenAI Codex</dc:creator>
  <cp:lastModifiedBy>OpenAI Codex</cp:lastModifiedBy>
  <cp:revision>1</cp:revision>
  <dcterms:created xsi:type="dcterms:W3CDTF">2026-03-19T15:35:12Z</dcterms:created>
  <dcterms:modified xsi:type="dcterms:W3CDTF">2026-03-19T15:35:12Z</dcterms:modified>
</cp:coreProperties>
</file>