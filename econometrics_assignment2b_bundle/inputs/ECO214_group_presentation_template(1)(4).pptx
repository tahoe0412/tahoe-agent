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0"/>
  </p:notesMasterIdLst>
  <p:handoutMasterIdLst>
    <p:handoutMasterId r:id="rId31"/>
  </p:handoutMasterIdLst>
  <p:sldIdLst>
    <p:sldId id="389" r:id="rId2"/>
    <p:sldId id="427" r:id="rId3"/>
    <p:sldId id="392" r:id="rId4"/>
    <p:sldId id="429" r:id="rId5"/>
    <p:sldId id="428" r:id="rId6"/>
    <p:sldId id="394" r:id="rId7"/>
    <p:sldId id="451" r:id="rId8"/>
    <p:sldId id="399" r:id="rId9"/>
    <p:sldId id="430" r:id="rId10"/>
    <p:sldId id="432" r:id="rId11"/>
    <p:sldId id="433" r:id="rId12"/>
    <p:sldId id="435" r:id="rId13"/>
    <p:sldId id="431" r:id="rId14"/>
    <p:sldId id="436" r:id="rId15"/>
    <p:sldId id="438" r:id="rId16"/>
    <p:sldId id="439" r:id="rId17"/>
    <p:sldId id="440" r:id="rId18"/>
    <p:sldId id="441" r:id="rId19"/>
    <p:sldId id="442" r:id="rId20"/>
    <p:sldId id="443" r:id="rId21"/>
    <p:sldId id="444" r:id="rId22"/>
    <p:sldId id="445" r:id="rId23"/>
    <p:sldId id="446" r:id="rId24"/>
    <p:sldId id="447" r:id="rId25"/>
    <p:sldId id="448" r:id="rId26"/>
    <p:sldId id="419" r:id="rId27"/>
    <p:sldId id="449" r:id="rId28"/>
    <p:sldId id="450" r:id="rId29"/>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Verdana" panose="020B0804030504040204" pitchFamily="34" charset="0"/>
        <a:ea typeface="MS PGothic" panose="020B0600070205080204" pitchFamily="34" charset="-128"/>
        <a:cs typeface="+mn-cs"/>
      </a:defRPr>
    </a:lvl1pPr>
    <a:lvl2pPr marL="457200" algn="l" rtl="0" fontAlgn="base">
      <a:spcBef>
        <a:spcPct val="0"/>
      </a:spcBef>
      <a:spcAft>
        <a:spcPct val="0"/>
      </a:spcAft>
      <a:defRPr sz="2000" kern="1200">
        <a:solidFill>
          <a:schemeClr val="tx1"/>
        </a:solidFill>
        <a:latin typeface="Verdana" panose="020B0804030504040204" pitchFamily="34" charset="0"/>
        <a:ea typeface="MS PGothic" panose="020B0600070205080204" pitchFamily="34" charset="-128"/>
        <a:cs typeface="+mn-cs"/>
      </a:defRPr>
    </a:lvl2pPr>
    <a:lvl3pPr marL="914400" algn="l" rtl="0" fontAlgn="base">
      <a:spcBef>
        <a:spcPct val="0"/>
      </a:spcBef>
      <a:spcAft>
        <a:spcPct val="0"/>
      </a:spcAft>
      <a:defRPr sz="2000" kern="1200">
        <a:solidFill>
          <a:schemeClr val="tx1"/>
        </a:solidFill>
        <a:latin typeface="Verdana" panose="020B0804030504040204" pitchFamily="34" charset="0"/>
        <a:ea typeface="MS PGothic" panose="020B0600070205080204" pitchFamily="34" charset="-128"/>
        <a:cs typeface="+mn-cs"/>
      </a:defRPr>
    </a:lvl3pPr>
    <a:lvl4pPr marL="1371600" algn="l" rtl="0" fontAlgn="base">
      <a:spcBef>
        <a:spcPct val="0"/>
      </a:spcBef>
      <a:spcAft>
        <a:spcPct val="0"/>
      </a:spcAft>
      <a:defRPr sz="2000" kern="1200">
        <a:solidFill>
          <a:schemeClr val="tx1"/>
        </a:solidFill>
        <a:latin typeface="Verdana" panose="020B0804030504040204" pitchFamily="34" charset="0"/>
        <a:ea typeface="MS PGothic" panose="020B0600070205080204" pitchFamily="34" charset="-128"/>
        <a:cs typeface="+mn-cs"/>
      </a:defRPr>
    </a:lvl4pPr>
    <a:lvl5pPr marL="1828800" algn="l" rtl="0" fontAlgn="base">
      <a:spcBef>
        <a:spcPct val="0"/>
      </a:spcBef>
      <a:spcAft>
        <a:spcPct val="0"/>
      </a:spcAft>
      <a:defRPr sz="2000" kern="1200">
        <a:solidFill>
          <a:schemeClr val="tx1"/>
        </a:solidFill>
        <a:latin typeface="Verdana" panose="020B0804030504040204" pitchFamily="34" charset="0"/>
        <a:ea typeface="MS PGothic" panose="020B0600070205080204" pitchFamily="34" charset="-128"/>
        <a:cs typeface="+mn-cs"/>
      </a:defRPr>
    </a:lvl5pPr>
    <a:lvl6pPr marL="2286000" algn="l" defTabSz="914400" rtl="0" eaLnBrk="1" latinLnBrk="0" hangingPunct="1">
      <a:defRPr sz="2000" kern="1200">
        <a:solidFill>
          <a:schemeClr val="tx1"/>
        </a:solidFill>
        <a:latin typeface="Verdana" panose="020B0804030504040204" pitchFamily="34" charset="0"/>
        <a:ea typeface="MS PGothic" panose="020B0600070205080204" pitchFamily="34" charset="-128"/>
        <a:cs typeface="+mn-cs"/>
      </a:defRPr>
    </a:lvl6pPr>
    <a:lvl7pPr marL="2743200" algn="l" defTabSz="914400" rtl="0" eaLnBrk="1" latinLnBrk="0" hangingPunct="1">
      <a:defRPr sz="2000" kern="1200">
        <a:solidFill>
          <a:schemeClr val="tx1"/>
        </a:solidFill>
        <a:latin typeface="Verdana" panose="020B0804030504040204" pitchFamily="34" charset="0"/>
        <a:ea typeface="MS PGothic" panose="020B0600070205080204" pitchFamily="34" charset="-128"/>
        <a:cs typeface="+mn-cs"/>
      </a:defRPr>
    </a:lvl7pPr>
    <a:lvl8pPr marL="3200400" algn="l" defTabSz="914400" rtl="0" eaLnBrk="1" latinLnBrk="0" hangingPunct="1">
      <a:defRPr sz="2000" kern="1200">
        <a:solidFill>
          <a:schemeClr val="tx1"/>
        </a:solidFill>
        <a:latin typeface="Verdana" panose="020B0804030504040204" pitchFamily="34" charset="0"/>
        <a:ea typeface="MS PGothic" panose="020B0600070205080204" pitchFamily="34" charset="-128"/>
        <a:cs typeface="+mn-cs"/>
      </a:defRPr>
    </a:lvl8pPr>
    <a:lvl9pPr marL="3657600" algn="l" defTabSz="914400" rtl="0" eaLnBrk="1" latinLnBrk="0" hangingPunct="1">
      <a:defRPr sz="2000" kern="1200">
        <a:solidFill>
          <a:schemeClr val="tx1"/>
        </a:solidFill>
        <a:latin typeface="Verdana" panose="020B08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409"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80"/>
    <a:srgbClr val="573435"/>
    <a:srgbClr val="D28026"/>
    <a:srgbClr val="B85826"/>
    <a:srgbClr val="B83A26"/>
    <a:srgbClr val="FAEB61"/>
    <a:srgbClr val="00579C"/>
    <a:srgbClr val="FFCC66"/>
    <a:srgbClr val="6D7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82" autoAdjust="0"/>
    <p:restoredTop sz="94660"/>
  </p:normalViewPr>
  <p:slideViewPr>
    <p:cSldViewPr showGuides="1">
      <p:cViewPr varScale="1">
        <p:scale>
          <a:sx n="96" d="100"/>
          <a:sy n="96" d="100"/>
        </p:scale>
        <p:origin x="845" y="62"/>
      </p:cViewPr>
      <p:guideLst>
        <p:guide orient="horz" pos="2409"/>
        <p:guide pos="286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Verdana" panose="020B0804030504040204" pitchFamily="34" charset="0"/>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0" hangingPunct="0">
              <a:defRPr sz="1200">
                <a:latin typeface="Verdana" panose="020B0804030504040204" pitchFamily="34" charset="0"/>
                <a:ea typeface="+mn-ea"/>
                <a:cs typeface="+mn-cs"/>
              </a:defRPr>
            </a:lvl1pPr>
          </a:lstStyle>
          <a:p>
            <a:pPr>
              <a:defRPr/>
            </a:pPr>
            <a:fld id="{B01D7386-B720-44C2-B595-D0AAAB5A643A}" type="datetime1">
              <a:rPr lang="en-US"/>
              <a:t>4/27/2025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latin typeface="Verdana" panose="020B0804030504040204" pitchFamily="34"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Verdana" panose="020B0804030504040204" pitchFamily="34" charset="0"/>
                <a:ea typeface="+mn-ea"/>
                <a:cs typeface="+mn-cs"/>
              </a:defRPr>
            </a:lvl1pPr>
          </a:lstStyle>
          <a:p>
            <a:pPr>
              <a:defRPr/>
            </a:pPr>
            <a:fld id="{E57F43C4-BEE9-4DA5-84AE-77CDA69BE294}" type="slidenum">
              <a:rPr lang="en-US"/>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Verdana" panose="020B0804030504040204" pitchFamily="34" charset="0"/>
                <a:ea typeface="+mn-ea"/>
                <a:cs typeface="+mn-cs"/>
              </a:defRPr>
            </a:lvl1pPr>
          </a:lstStyle>
          <a:p>
            <a:pPr>
              <a:defRPr/>
            </a:pPr>
            <a:endParaRPr lang="en-US"/>
          </a:p>
        </p:txBody>
      </p:sp>
      <p:sp>
        <p:nvSpPr>
          <p:cNvPr id="522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Verdana" panose="020B0804030504040204" pitchFamily="34" charset="0"/>
                <a:ea typeface="+mn-ea"/>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5222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Verdana" panose="020B0804030504040204" pitchFamily="34" charset="0"/>
                <a:ea typeface="+mn-ea"/>
                <a:cs typeface="+mn-cs"/>
              </a:defRPr>
            </a:lvl1pPr>
          </a:lstStyle>
          <a:p>
            <a:pPr>
              <a:defRPr/>
            </a:pPr>
            <a:endParaRPr lang="en-US"/>
          </a:p>
        </p:txBody>
      </p:sp>
      <p:sp>
        <p:nvSpPr>
          <p:cNvPr id="522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Verdana" panose="020B0804030504040204" pitchFamily="34" charset="0"/>
                <a:ea typeface="+mn-ea"/>
                <a:cs typeface="+mn-cs"/>
              </a:defRPr>
            </a:lvl1pPr>
          </a:lstStyle>
          <a:p>
            <a:pPr>
              <a:defRPr/>
            </a:pPr>
            <a:fld id="{D3BEEFFC-2222-4709-BD40-8E6C041A4377}" type="slidenum">
              <a:rPr lang="en-US"/>
              <a:t>‹#›</a:t>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Verdana" panose="020B0804030504040204" pitchFamily="34"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Verdana" panose="020B0804030504040204" pitchFamily="34"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Verdana" panose="020B0804030504040204" pitchFamily="34"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Verdana" panose="020B0804030504040204" pitchFamily="34"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Verdana" panose="020B0804030504040204" pitchFamily="34"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328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107504" y="1268760"/>
            <a:ext cx="8856984" cy="5112568"/>
          </a:xfrm>
        </p:spPr>
        <p:txBody>
          <a:bodyPr/>
          <a:lstStyle>
            <a:lvl1pPr>
              <a:defRPr sz="2400"/>
            </a:lvl1pPr>
            <a:lvl2pPr>
              <a:defRPr sz="2200"/>
            </a:lvl2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7504" y="228600"/>
            <a:ext cx="8868444" cy="992187"/>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Rectangle 3"/>
          <p:cNvSpPr>
            <a:spLocks noGrp="1" noChangeArrowheads="1"/>
          </p:cNvSpPr>
          <p:nvPr>
            <p:ph type="body" idx="1"/>
          </p:nvPr>
        </p:nvSpPr>
        <p:spPr bwMode="auto">
          <a:xfrm>
            <a:off x="107504" y="1268760"/>
            <a:ext cx="8884096" cy="5112568"/>
          </a:xfrm>
          <a:prstGeom prst="rect">
            <a:avLst/>
          </a:prstGeom>
          <a:noFill/>
          <a:ln w="9525">
            <a:noFill/>
            <a:miter lim="800000"/>
          </a:ln>
        </p:spPr>
        <p:txBody>
          <a:bodyPr vert="horz" wrap="square" lIns="91440" tIns="45720" rIns="0" bIns="45720" numCol="1" anchor="t" anchorCtr="0" compatLnSpc="1"/>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9867" name="Rectangle 11"/>
          <p:cNvSpPr>
            <a:spLocks noChangeArrowheads="1"/>
          </p:cNvSpPr>
          <p:nvPr/>
        </p:nvSpPr>
        <p:spPr bwMode="auto">
          <a:xfrm flipH="1">
            <a:off x="8460432" y="6391064"/>
            <a:ext cx="683568" cy="466936"/>
          </a:xfrm>
          <a:prstGeom prst="rect">
            <a:avLst/>
          </a:prstGeom>
          <a:solidFill>
            <a:srgbClr val="003280"/>
          </a:solidFill>
          <a:ln w="9525">
            <a:noFill/>
            <a:miter lim="800000"/>
          </a:ln>
        </p:spPr>
        <p:txBody>
          <a:bodyPr wrap="none" anchor="ctr"/>
          <a:lstStyle/>
          <a:p>
            <a:pPr algn="ctr">
              <a:defRPr/>
            </a:pPr>
            <a:endParaRPr lang="en-US" sz="2400">
              <a:latin typeface="Verdana" panose="020B0804030504040204" pitchFamily="34" charset="0"/>
              <a:ea typeface="+mn-ea"/>
            </a:endParaRPr>
          </a:p>
        </p:txBody>
      </p:sp>
      <p:sp>
        <p:nvSpPr>
          <p:cNvPr id="166921" name="Rectangle 9"/>
          <p:cNvSpPr>
            <a:spLocks noChangeArrowheads="1"/>
          </p:cNvSpPr>
          <p:nvPr/>
        </p:nvSpPr>
        <p:spPr bwMode="auto">
          <a:xfrm>
            <a:off x="0" y="0"/>
            <a:ext cx="9144000" cy="228600"/>
          </a:xfrm>
          <a:prstGeom prst="rect">
            <a:avLst/>
          </a:prstGeom>
          <a:solidFill>
            <a:srgbClr val="003280"/>
          </a:solidFill>
          <a:ln w="9525">
            <a:noFill/>
            <a:miter lim="800000"/>
          </a:ln>
          <a:effectLst/>
        </p:spPr>
        <p:txBody>
          <a:bodyPr wrap="none" anchor="ctr"/>
          <a:lstStyle/>
          <a:p>
            <a:pPr eaLnBrk="0" hangingPunct="0">
              <a:defRPr/>
            </a:pPr>
            <a:endParaRPr lang="en-US" sz="1800">
              <a:latin typeface="Verdana" panose="020B0804030504040204" pitchFamily="34" charset="0"/>
              <a:ea typeface="+mn-ea"/>
            </a:endParaRPr>
          </a:p>
        </p:txBody>
      </p:sp>
      <p:sp>
        <p:nvSpPr>
          <p:cNvPr id="166922" name="Rectangle 10"/>
          <p:cNvSpPr>
            <a:spLocks noChangeArrowheads="1"/>
          </p:cNvSpPr>
          <p:nvPr/>
        </p:nvSpPr>
        <p:spPr bwMode="auto">
          <a:xfrm>
            <a:off x="8991600" y="0"/>
            <a:ext cx="152400" cy="6705600"/>
          </a:xfrm>
          <a:prstGeom prst="rect">
            <a:avLst/>
          </a:prstGeom>
          <a:solidFill>
            <a:srgbClr val="003280"/>
          </a:solidFill>
          <a:ln w="9525">
            <a:noFill/>
            <a:miter lim="800000"/>
          </a:ln>
          <a:effectLst/>
        </p:spPr>
        <p:txBody>
          <a:bodyPr wrap="none" anchor="ctr"/>
          <a:lstStyle/>
          <a:p>
            <a:pPr eaLnBrk="0" hangingPunct="0">
              <a:defRPr/>
            </a:pPr>
            <a:endParaRPr lang="en-US" sz="1800">
              <a:latin typeface="Verdana" panose="020B0804030504040204" pitchFamily="34" charset="0"/>
              <a:ea typeface="+mn-ea"/>
            </a:endParaRPr>
          </a:p>
        </p:txBody>
      </p:sp>
      <p:sp>
        <p:nvSpPr>
          <p:cNvPr id="166919" name="Rectangle 7"/>
          <p:cNvSpPr>
            <a:spLocks noChangeArrowheads="1"/>
          </p:cNvSpPr>
          <p:nvPr/>
        </p:nvSpPr>
        <p:spPr bwMode="auto">
          <a:xfrm>
            <a:off x="8421216" y="6391064"/>
            <a:ext cx="762000" cy="457200"/>
          </a:xfrm>
          <a:prstGeom prst="rect">
            <a:avLst/>
          </a:prstGeom>
          <a:noFill/>
          <a:ln w="9525">
            <a:noFill/>
            <a:miter lim="800000"/>
          </a:ln>
        </p:spPr>
        <p:txBody>
          <a:bodyPr wrap="none" anchor="ctr"/>
          <a:lstStyle/>
          <a:p>
            <a:pPr algn="ctr">
              <a:defRPr/>
            </a:pPr>
            <a:fld id="{ACEC3CE1-3F18-4884-A765-BFDE4519616C}" type="slidenum">
              <a:rPr lang="en-US" sz="1400" b="1" smtClean="0">
                <a:solidFill>
                  <a:schemeClr val="bg1"/>
                </a:solidFill>
                <a:latin typeface="Verdana" panose="020B0804030504040204" pitchFamily="34" charset="0"/>
                <a:ea typeface="MS PGothic" panose="020B0600070205080204" pitchFamily="34" charset="-128"/>
                <a:cs typeface="MS PGothic" panose="020B0600070205080204" pitchFamily="34" charset="-128"/>
              </a:rPr>
              <a:t>‹#›</a:t>
            </a:fld>
            <a:endParaRPr lang="en-US" sz="1400" b="1" dirty="0">
              <a:solidFill>
                <a:schemeClr val="bg1"/>
              </a:solidFill>
              <a:latin typeface="Verdana" panose="020B0804030504040204" pitchFamily="34" charset="0"/>
              <a:ea typeface="MS PGothic" panose="020B0600070205080204" pitchFamily="34" charset="-128"/>
              <a:cs typeface="MS PGothic" panose="020B0600070205080204" pitchFamily="34" charset="-128"/>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0" fontAlgn="base" hangingPunct="0">
        <a:spcBef>
          <a:spcPct val="0"/>
        </a:spcBef>
        <a:spcAft>
          <a:spcPct val="0"/>
        </a:spcAft>
        <a:defRPr sz="2800" b="1">
          <a:solidFill>
            <a:schemeClr val="tx1"/>
          </a:solidFill>
          <a:latin typeface="+mj-lt"/>
          <a:ea typeface="MS PGothic" panose="020B0600070205080204" pitchFamily="34" charset="-128"/>
          <a:cs typeface="MS PGothic" panose="020B0600070205080204" pitchFamily="34" charset="-128"/>
        </a:defRPr>
      </a:lvl1pPr>
      <a:lvl2pPr algn="l" rtl="0" eaLnBrk="0" fontAlgn="base" hangingPunct="0">
        <a:spcBef>
          <a:spcPct val="0"/>
        </a:spcBef>
        <a:spcAft>
          <a:spcPct val="0"/>
        </a:spcAft>
        <a:defRPr sz="2800" b="1">
          <a:solidFill>
            <a:schemeClr val="tx1"/>
          </a:solidFill>
          <a:latin typeface="Verdana" panose="020B0804030504040204" pitchFamily="34" charset="0"/>
          <a:ea typeface="MS PGothic" panose="020B0600070205080204" pitchFamily="34" charset="-128"/>
          <a:cs typeface="MS PGothic" panose="020B0600070205080204" pitchFamily="34" charset="-128"/>
        </a:defRPr>
      </a:lvl2pPr>
      <a:lvl3pPr algn="l" rtl="0" eaLnBrk="0" fontAlgn="base" hangingPunct="0">
        <a:spcBef>
          <a:spcPct val="0"/>
        </a:spcBef>
        <a:spcAft>
          <a:spcPct val="0"/>
        </a:spcAft>
        <a:defRPr sz="2800" b="1">
          <a:solidFill>
            <a:schemeClr val="tx1"/>
          </a:solidFill>
          <a:latin typeface="Verdana" panose="020B0804030504040204" pitchFamily="34" charset="0"/>
          <a:ea typeface="MS PGothic" panose="020B0600070205080204" pitchFamily="34" charset="-128"/>
          <a:cs typeface="MS PGothic" panose="020B0600070205080204" pitchFamily="34" charset="-128"/>
        </a:defRPr>
      </a:lvl3pPr>
      <a:lvl4pPr algn="l" rtl="0" eaLnBrk="0" fontAlgn="base" hangingPunct="0">
        <a:spcBef>
          <a:spcPct val="0"/>
        </a:spcBef>
        <a:spcAft>
          <a:spcPct val="0"/>
        </a:spcAft>
        <a:defRPr sz="2800" b="1">
          <a:solidFill>
            <a:schemeClr val="tx1"/>
          </a:solidFill>
          <a:latin typeface="Verdana" panose="020B0804030504040204" pitchFamily="34" charset="0"/>
          <a:ea typeface="MS PGothic" panose="020B0600070205080204" pitchFamily="34" charset="-128"/>
          <a:cs typeface="MS PGothic" panose="020B0600070205080204" pitchFamily="34" charset="-128"/>
        </a:defRPr>
      </a:lvl4pPr>
      <a:lvl5pPr algn="l" rtl="0" eaLnBrk="0" fontAlgn="base" hangingPunct="0">
        <a:spcBef>
          <a:spcPct val="0"/>
        </a:spcBef>
        <a:spcAft>
          <a:spcPct val="0"/>
        </a:spcAft>
        <a:defRPr sz="2800" b="1">
          <a:solidFill>
            <a:schemeClr val="tx1"/>
          </a:solidFill>
          <a:latin typeface="Verdana" panose="020B0804030504040204" pitchFamily="34" charset="0"/>
          <a:ea typeface="MS PGothic" panose="020B0600070205080204" pitchFamily="34" charset="-128"/>
          <a:cs typeface="MS PGothic" panose="020B0600070205080204" pitchFamily="34" charset="-128"/>
        </a:defRPr>
      </a:lvl5pPr>
      <a:lvl6pPr marL="457200" algn="l" rtl="0" fontAlgn="base">
        <a:spcBef>
          <a:spcPct val="0"/>
        </a:spcBef>
        <a:spcAft>
          <a:spcPct val="0"/>
        </a:spcAft>
        <a:defRPr sz="2800" b="1">
          <a:solidFill>
            <a:schemeClr val="tx1"/>
          </a:solidFill>
          <a:latin typeface="Verdana" panose="020B0804030504040204" pitchFamily="34" charset="0"/>
        </a:defRPr>
      </a:lvl6pPr>
      <a:lvl7pPr marL="914400" algn="l" rtl="0" fontAlgn="base">
        <a:spcBef>
          <a:spcPct val="0"/>
        </a:spcBef>
        <a:spcAft>
          <a:spcPct val="0"/>
        </a:spcAft>
        <a:defRPr sz="2800" b="1">
          <a:solidFill>
            <a:schemeClr val="tx1"/>
          </a:solidFill>
          <a:latin typeface="Verdana" panose="020B0804030504040204" pitchFamily="34" charset="0"/>
        </a:defRPr>
      </a:lvl7pPr>
      <a:lvl8pPr marL="1371600" algn="l" rtl="0" fontAlgn="base">
        <a:spcBef>
          <a:spcPct val="0"/>
        </a:spcBef>
        <a:spcAft>
          <a:spcPct val="0"/>
        </a:spcAft>
        <a:defRPr sz="2800" b="1">
          <a:solidFill>
            <a:schemeClr val="tx1"/>
          </a:solidFill>
          <a:latin typeface="Verdana" panose="020B0804030504040204" pitchFamily="34" charset="0"/>
        </a:defRPr>
      </a:lvl8pPr>
      <a:lvl9pPr marL="1828800" algn="l" rtl="0" fontAlgn="base">
        <a:spcBef>
          <a:spcPct val="0"/>
        </a:spcBef>
        <a:spcAft>
          <a:spcPct val="0"/>
        </a:spcAft>
        <a:defRPr sz="2800" b="1">
          <a:solidFill>
            <a:schemeClr val="tx1"/>
          </a:solidFill>
          <a:latin typeface="Verdana" panose="020B0804030504040204" pitchFamily="34" charset="0"/>
        </a:defRPr>
      </a:lvl9pPr>
    </p:titleStyle>
    <p:bodyStyle>
      <a:lvl1pPr marL="342900" indent="-342900" algn="l" rtl="0" eaLnBrk="0" fontAlgn="base" hangingPunct="0">
        <a:spcBef>
          <a:spcPts val="600"/>
        </a:spcBef>
        <a:spcAft>
          <a:spcPct val="0"/>
        </a:spcAft>
        <a:buChar char="•"/>
        <a:defRPr sz="28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ts val="600"/>
        </a:spcBef>
        <a:spcAft>
          <a:spcPct val="0"/>
        </a:spcAft>
        <a:buChar char="–"/>
        <a:defRPr sz="24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a:solidFill>
            <a:schemeClr val="tx1"/>
          </a:solidFill>
          <a:latin typeface="+mn-lt"/>
          <a:ea typeface="MS PGothic" panose="020B0600070205080204" pitchFamily="34" charset="-128"/>
        </a:defRPr>
      </a:lvl6pPr>
      <a:lvl7pPr marL="2971800" indent="-228600" algn="l" rtl="0" fontAlgn="base">
        <a:spcBef>
          <a:spcPct val="20000"/>
        </a:spcBef>
        <a:spcAft>
          <a:spcPct val="0"/>
        </a:spcAft>
        <a:buChar char="»"/>
        <a:defRPr>
          <a:solidFill>
            <a:schemeClr val="tx1"/>
          </a:solidFill>
          <a:latin typeface="+mn-lt"/>
          <a:ea typeface="MS PGothic" panose="020B0600070205080204" pitchFamily="34" charset="-128"/>
        </a:defRPr>
      </a:lvl7pPr>
      <a:lvl8pPr marL="3429000" indent="-228600" algn="l" rtl="0" fontAlgn="base">
        <a:spcBef>
          <a:spcPct val="20000"/>
        </a:spcBef>
        <a:spcAft>
          <a:spcPct val="0"/>
        </a:spcAft>
        <a:buChar char="»"/>
        <a:defRPr>
          <a:solidFill>
            <a:schemeClr val="tx1"/>
          </a:solidFill>
          <a:latin typeface="+mn-lt"/>
          <a:ea typeface="MS PGothic" panose="020B0600070205080204" pitchFamily="34" charset="-128"/>
        </a:defRPr>
      </a:lvl8pPr>
      <a:lvl9pPr marL="3886200" indent="-228600" algn="l" rtl="0" fontAlgn="base">
        <a:spcBef>
          <a:spcPct val="20000"/>
        </a:spcBef>
        <a:spcAft>
          <a:spcPct val="0"/>
        </a:spcAft>
        <a:buChar char="»"/>
        <a:defRPr>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Logo With Chinese White Mi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5300663"/>
            <a:ext cx="3486150"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a:spLocks noChangeArrowheads="1"/>
          </p:cNvSpPr>
          <p:nvPr/>
        </p:nvSpPr>
        <p:spPr bwMode="auto">
          <a:xfrm>
            <a:off x="107950" y="609600"/>
            <a:ext cx="89281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dirty="0">
                <a:solidFill>
                  <a:schemeClr val="bg1"/>
                </a:solidFill>
                <a:latin typeface="Berlin Sans FB Demi" panose="020E0802020502020306" pitchFamily="34" charset="0"/>
              </a:rPr>
              <a:t> </a:t>
            </a:r>
            <a:r>
              <a:rPr lang="en-US" altLang="zh-CN" sz="3200" dirty="0">
                <a:solidFill>
                  <a:schemeClr val="bg1"/>
                </a:solidFill>
                <a:latin typeface="+mj-lt"/>
                <a:ea typeface="Verdana" panose="020B0804030504040204" pitchFamily="34" charset="0"/>
                <a:cs typeface="Verdana" panose="020B0804030504040204" pitchFamily="34" charset="0"/>
              </a:rPr>
              <a:t>Assignment 6A: VAR model and multiperiod forecast  </a:t>
            </a:r>
          </a:p>
        </p:txBody>
      </p:sp>
      <p:sp>
        <p:nvSpPr>
          <p:cNvPr id="5" name="Rectangle 3"/>
          <p:cNvSpPr txBox="1">
            <a:spLocks noChangeArrowheads="1"/>
          </p:cNvSpPr>
          <p:nvPr/>
        </p:nvSpPr>
        <p:spPr>
          <a:xfrm>
            <a:off x="1752600" y="3124200"/>
            <a:ext cx="5638800" cy="1752600"/>
          </a:xfrm>
          <a:prstGeom prst="rect">
            <a:avLst/>
          </a:prstGeom>
        </p:spPr>
        <p:txBody>
          <a:bodyPr/>
          <a:lstStyle>
            <a:lvl1pPr marL="342900" indent="-342900" algn="l" rtl="0" eaLnBrk="0" fontAlgn="base" hangingPunct="0">
              <a:spcBef>
                <a:spcPct val="20000"/>
              </a:spcBef>
              <a:spcAft>
                <a:spcPct val="0"/>
              </a:spcAft>
              <a:buChar char="•"/>
              <a:defRPr sz="28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a:solidFill>
                  <a:schemeClr val="tx1"/>
                </a:solidFill>
                <a:latin typeface="+mn-lt"/>
                <a:ea typeface="MS PGothic" panose="020B0600070205080204" pitchFamily="34" charset="-128"/>
              </a:defRPr>
            </a:lvl6pPr>
            <a:lvl7pPr marL="2971800" indent="-228600" algn="l" rtl="0" fontAlgn="base">
              <a:spcBef>
                <a:spcPct val="20000"/>
              </a:spcBef>
              <a:spcAft>
                <a:spcPct val="0"/>
              </a:spcAft>
              <a:buChar char="»"/>
              <a:defRPr>
                <a:solidFill>
                  <a:schemeClr val="tx1"/>
                </a:solidFill>
                <a:latin typeface="+mn-lt"/>
                <a:ea typeface="MS PGothic" panose="020B0600070205080204" pitchFamily="34" charset="-128"/>
              </a:defRPr>
            </a:lvl7pPr>
            <a:lvl8pPr marL="3429000" indent="-228600" algn="l" rtl="0" fontAlgn="base">
              <a:spcBef>
                <a:spcPct val="20000"/>
              </a:spcBef>
              <a:spcAft>
                <a:spcPct val="0"/>
              </a:spcAft>
              <a:buChar char="»"/>
              <a:defRPr>
                <a:solidFill>
                  <a:schemeClr val="tx1"/>
                </a:solidFill>
                <a:latin typeface="+mn-lt"/>
                <a:ea typeface="MS PGothic" panose="020B0600070205080204" pitchFamily="34" charset="-128"/>
              </a:defRPr>
            </a:lvl8pPr>
            <a:lvl9pPr marL="3886200" indent="-228600" algn="l" rtl="0" fontAlgn="base">
              <a:spcBef>
                <a:spcPct val="20000"/>
              </a:spcBef>
              <a:spcAft>
                <a:spcPct val="0"/>
              </a:spcAft>
              <a:buChar char="»"/>
              <a:defRPr>
                <a:solidFill>
                  <a:schemeClr val="tx1"/>
                </a:solidFill>
                <a:latin typeface="+mn-lt"/>
                <a:ea typeface="MS PGothic" panose="020B0600070205080204" pitchFamily="34" charset="-128"/>
              </a:defRPr>
            </a:lvl9pPr>
          </a:lstStyle>
          <a:p>
            <a:pPr marL="0" indent="0" algn="ctr" eaLnBrk="1" hangingPunct="1">
              <a:lnSpc>
                <a:spcPct val="110000"/>
              </a:lnSpc>
              <a:spcBef>
                <a:spcPct val="0"/>
              </a:spcBef>
              <a:buNone/>
            </a:pPr>
            <a:r>
              <a:rPr lang="en-US" altLang="zh-CN" sz="2400">
                <a:solidFill>
                  <a:schemeClr val="bg1"/>
                </a:solidFill>
                <a:latin typeface="Verdana" panose="020B0804030504040204" pitchFamily="34" charset="0"/>
                <a:ea typeface="Verdana" panose="020B0804030504040204" pitchFamily="34" charset="0"/>
                <a:cs typeface="Verdana" panose="020B0804030504040204" pitchFamily="34" charset="0"/>
                <a:sym typeface="+mn-ea"/>
              </a:rPr>
              <a:t>Chengyu.Wang(2253811)</a:t>
            </a:r>
            <a:endParaRPr lang="en-US" altLang="zh-CN" sz="2400" dirty="0">
              <a:solidFill>
                <a:schemeClr val="bg1"/>
              </a:solidFill>
              <a:ea typeface="+mn-ea"/>
            </a:endParaRPr>
          </a:p>
          <a:p>
            <a:pPr marL="0" indent="0" algn="ctr" eaLnBrk="1" hangingPunct="1">
              <a:lnSpc>
                <a:spcPct val="110000"/>
              </a:lnSpc>
              <a:spcBef>
                <a:spcPct val="0"/>
              </a:spcBef>
              <a:buNone/>
            </a:pPr>
            <a:r>
              <a:rPr lang="en-US" altLang="zh-CN" sz="2400" dirty="0">
                <a:solidFill>
                  <a:schemeClr val="bg1"/>
                </a:solidFill>
                <a:ea typeface="+mn-ea"/>
              </a:rPr>
              <a:t>Sheng.Bi (2254760)</a:t>
            </a:r>
          </a:p>
          <a:p>
            <a:pPr marL="0" indent="0" algn="ctr" eaLnBrk="1" hangingPunct="1">
              <a:lnSpc>
                <a:spcPct val="110000"/>
              </a:lnSpc>
              <a:spcBef>
                <a:spcPct val="0"/>
              </a:spcBef>
              <a:buNone/>
            </a:pPr>
            <a:r>
              <a:rPr lang="en-US" altLang="zh-CN" sz="2400" dirty="0">
                <a:solidFill>
                  <a:schemeClr val="bg1"/>
                </a:solidFill>
                <a:latin typeface="Verdana" panose="020B0804030504040204" pitchFamily="34" charset="0"/>
                <a:ea typeface="Verdana" panose="020B0804030504040204" pitchFamily="34" charset="0"/>
                <a:cs typeface="Verdana" panose="020B0804030504040204" pitchFamily="34" charset="0"/>
                <a:sym typeface="+mn-ea"/>
              </a:rPr>
              <a:t>Jinfan.Zhang(2253970)</a:t>
            </a:r>
            <a:endParaRPr lang="en-US" altLang="zh-CN" sz="2400" dirty="0">
              <a:solidFill>
                <a:schemeClr val="bg1"/>
              </a:solidFill>
              <a:ea typeface="+mn-ea"/>
            </a:endParaRPr>
          </a:p>
          <a:p>
            <a:pPr marL="0" indent="0" algn="ctr" eaLnBrk="1" hangingPunct="1">
              <a:lnSpc>
                <a:spcPct val="110000"/>
              </a:lnSpc>
              <a:spcBef>
                <a:spcPct val="0"/>
              </a:spcBef>
              <a:buNone/>
            </a:pPr>
            <a:r>
              <a:rPr lang="en-US" altLang="zh-CN" sz="2400" dirty="0">
                <a:solidFill>
                  <a:schemeClr val="bg1"/>
                </a:solidFill>
                <a:latin typeface="Verdana" panose="020B0804030504040204" pitchFamily="34" charset="0"/>
                <a:ea typeface="Verdana" panose="020B0804030504040204" pitchFamily="34" charset="0"/>
                <a:cs typeface="Verdana" panose="020B0804030504040204" pitchFamily="34" charset="0"/>
              </a:rPr>
              <a:t>Zhuoran.Wang (2253847)</a:t>
            </a:r>
          </a:p>
          <a:p>
            <a:pPr marL="0" indent="0" algn="ctr" eaLnBrk="1" hangingPunct="1">
              <a:lnSpc>
                <a:spcPct val="110000"/>
              </a:lnSpc>
              <a:spcBef>
                <a:spcPct val="0"/>
              </a:spcBef>
              <a:buNone/>
            </a:pPr>
            <a:endParaRPr lang="en-US" altLang="zh-CN" sz="2400" dirty="0">
              <a:latin typeface="Verdana" panose="020B0804030504040204" pitchFamily="34" charset="0"/>
              <a:ea typeface="Verdana" panose="020B0804030504040204" pitchFamily="34" charset="0"/>
              <a:cs typeface="Verdana" panose="020B0804030504040204" pitchFamily="34" charset="0"/>
            </a:endParaRPr>
          </a:p>
        </p:txBody>
      </p:sp>
      <p:sp>
        <p:nvSpPr>
          <p:cNvPr id="6" name="Rectangle 3"/>
          <p:cNvSpPr txBox="1">
            <a:spLocks noChangeArrowheads="1"/>
          </p:cNvSpPr>
          <p:nvPr/>
        </p:nvSpPr>
        <p:spPr bwMode="auto">
          <a:xfrm>
            <a:off x="1447800" y="5410200"/>
            <a:ext cx="2895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MS PGothic" panose="020B0600070205080204" pitchFamily="34" charset="-128"/>
              </a:defRPr>
            </a:lvl1pPr>
            <a:lvl2pPr marL="742950" indent="-285750" eaLnBrk="0" hangingPunct="0">
              <a:defRPr>
                <a:solidFill>
                  <a:schemeClr val="tx1"/>
                </a:solidFill>
                <a:latin typeface="Arial" panose="020B0604020202090204" pitchFamily="34" charset="0"/>
                <a:ea typeface="MS PGothic" panose="020B0600070205080204" pitchFamily="34" charset="-128"/>
              </a:defRPr>
            </a:lvl2pPr>
            <a:lvl3pPr marL="1143000" indent="-228600" eaLnBrk="0" hangingPunct="0">
              <a:defRPr>
                <a:solidFill>
                  <a:schemeClr val="tx1"/>
                </a:solidFill>
                <a:latin typeface="Arial" panose="020B0604020202090204" pitchFamily="34" charset="0"/>
                <a:ea typeface="MS PGothic" panose="020B0600070205080204" pitchFamily="34" charset="-128"/>
              </a:defRPr>
            </a:lvl3pPr>
            <a:lvl4pPr marL="1600200" indent="-228600" eaLnBrk="0" hangingPunct="0">
              <a:defRPr>
                <a:solidFill>
                  <a:schemeClr val="tx1"/>
                </a:solidFill>
                <a:latin typeface="Arial" panose="020B0604020202090204" pitchFamily="34" charset="0"/>
                <a:ea typeface="MS PGothic" panose="020B0600070205080204" pitchFamily="34" charset="-128"/>
              </a:defRPr>
            </a:lvl4pPr>
            <a:lvl5pPr marL="2057400" indent="-228600" eaLnBrk="0" hangingPunct="0">
              <a:defRPr>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90204" pitchFamily="34" charset="0"/>
                <a:ea typeface="MS PGothic" panose="020B0600070205080204" pitchFamily="34" charset="-128"/>
              </a:defRPr>
            </a:lvl9pPr>
          </a:lstStyle>
          <a:p>
            <a:pPr eaLnBrk="1" hangingPunct="1">
              <a:lnSpc>
                <a:spcPct val="110000"/>
              </a:lnSpc>
            </a:pPr>
            <a:r>
              <a:rPr lang="en-US" altLang="zh-CN" dirty="0">
                <a:solidFill>
                  <a:schemeClr val="bg1"/>
                </a:solidFill>
                <a:latin typeface="+mn-lt"/>
                <a:ea typeface="楷体_GB2312" pitchFamily="49" charset="-122"/>
              </a:rPr>
              <a:t>2025.4.30</a:t>
            </a:r>
            <a:endParaRPr lang="en-US" altLang="zh-CN" sz="2400" b="1" dirty="0">
              <a:solidFill>
                <a:schemeClr val="bg1"/>
              </a:solidFill>
              <a:latin typeface="Garamond" panose="02020404030301010803" pitchFamily="18" charset="0"/>
              <a:ea typeface="楷体_GB2312" pitchFamily="49" charset="-122"/>
            </a:endParaRPr>
          </a:p>
          <a:p>
            <a:pPr eaLnBrk="1" hangingPunct="1">
              <a:lnSpc>
                <a:spcPct val="110000"/>
              </a:lnSpc>
              <a:spcBef>
                <a:spcPct val="20000"/>
              </a:spcBef>
            </a:pPr>
            <a:endParaRPr lang="en-US" altLang="zh-CN" sz="2400" b="1" dirty="0">
              <a:solidFill>
                <a:schemeClr val="bg1"/>
              </a:solidFill>
              <a:latin typeface="Garamond" panose="02020404030301010803" pitchFamily="18" charset="0"/>
              <a:ea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Presentation Content</a:t>
            </a:r>
            <a:br>
              <a:rPr lang="en-US" altLang="zh-CN" dirty="0"/>
            </a:br>
            <a:endParaRPr lang="en-US" altLang="zh-CN" dirty="0"/>
          </a:p>
        </p:txBody>
      </p:sp>
      <p:sp>
        <p:nvSpPr>
          <p:cNvPr id="3" name="Content Placeholder 2"/>
          <p:cNvSpPr>
            <a:spLocks noGrp="1"/>
          </p:cNvSpPr>
          <p:nvPr>
            <p:ph idx="1"/>
          </p:nvPr>
        </p:nvSpPr>
        <p:spPr>
          <a:xfrm>
            <a:off x="107315" y="1370965"/>
            <a:ext cx="8856980" cy="5082540"/>
          </a:xfrm>
        </p:spPr>
        <p:txBody>
          <a:bodyPr/>
          <a:lstStyle/>
          <a:p>
            <a:r>
              <a:rPr lang="en-US" altLang="zh-CN" sz="2400" dirty="0"/>
              <a:t>1.1  The definition of IRF</a:t>
            </a:r>
          </a:p>
          <a:p>
            <a:r>
              <a:rPr lang="en-US" altLang="zh-CN" sz="2400" dirty="0"/>
              <a:t>1.2  Interpretation of the IRF</a:t>
            </a:r>
          </a:p>
          <a:p>
            <a:r>
              <a:rPr lang="en-US" altLang="zh-CN" sz="2400" dirty="0"/>
              <a:t>1.3  Stata implementation of this analysis  </a:t>
            </a:r>
          </a:p>
          <a:p>
            <a:pPr marL="0" indent="0">
              <a:buNone/>
            </a:pPr>
            <a:r>
              <a:rPr lang="en-US" altLang="zh-CN" sz="2400" dirty="0"/>
              <a:t>          Introduce the relevant commands</a:t>
            </a:r>
          </a:p>
          <a:p>
            <a:r>
              <a:rPr lang="en-US" altLang="zh-CN" sz="2400" dirty="0"/>
              <a:t>2.1  Estimate a VAR(1) model</a:t>
            </a:r>
          </a:p>
          <a:p>
            <a:r>
              <a:rPr lang="en-US" altLang="zh-CN" sz="2400" dirty="0"/>
              <a:t>2.2  Plot the IRF function for 4 steps</a:t>
            </a:r>
          </a:p>
          <a:p>
            <a:r>
              <a:rPr lang="en-US" altLang="zh-CN" sz="2400" dirty="0"/>
              <a:t>2.3  Show the numeric values of this IRF function</a:t>
            </a:r>
          </a:p>
          <a:p>
            <a:r>
              <a:rPr lang="en-US" altLang="zh-CN" sz="2400" dirty="0"/>
              <a:t>3.1  Reproduce the numeric values of the IRF function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definition of IRF.</a:t>
            </a:r>
          </a:p>
        </p:txBody>
      </p:sp>
      <p:sp>
        <p:nvSpPr>
          <p:cNvPr id="3" name="Content Placeholder 2"/>
          <p:cNvSpPr>
            <a:spLocks noGrp="1"/>
          </p:cNvSpPr>
          <p:nvPr>
            <p:ph idx="1"/>
          </p:nvPr>
        </p:nvSpPr>
        <p:spPr>
          <a:xfrm>
            <a:off x="107504" y="1124615"/>
            <a:ext cx="8856984" cy="5112568"/>
          </a:xfrm>
        </p:spPr>
        <p:txBody>
          <a:bodyPr/>
          <a:lstStyle/>
          <a:p>
            <a:r>
              <a:rPr lang="en-US" altLang="zh-CN" sz="1800" dirty="0"/>
              <a:t>In the VAR model, the impulse response function measures: when a certain variable is subjected to a unit shock at a certain period, the magnitude and direction of the response of other variables to that shock in subsequent periods. It is often used to analyze the dynamic causal relationships among macroeconomic variables.</a:t>
            </a:r>
          </a:p>
          <a:p>
            <a:endParaRPr lang="en-US" altLang="zh-CN" sz="1800" dirty="0"/>
          </a:p>
          <a:p>
            <a:r>
              <a:rPr lang="en-US" altLang="zh-CN" sz="1800" b="1" dirty="0"/>
              <a:t>Impulse Response Function (IRF) in VAR(n) model：</a:t>
            </a:r>
          </a:p>
          <a:p>
            <a:endParaRPr lang="en-US" altLang="zh-CN" sz="1800" b="1" dirty="0"/>
          </a:p>
        </p:txBody>
      </p:sp>
      <p:sp>
        <p:nvSpPr>
          <p:cNvPr id="6" name="文本框 5"/>
          <p:cNvSpPr txBox="1"/>
          <p:nvPr/>
        </p:nvSpPr>
        <p:spPr>
          <a:xfrm>
            <a:off x="611505" y="4292600"/>
            <a:ext cx="8092440" cy="2258695"/>
          </a:xfrm>
          <a:prstGeom prst="rect">
            <a:avLst/>
          </a:prstGeom>
          <a:noFill/>
        </p:spPr>
        <p:txBody>
          <a:bodyPr wrap="square" rtlCol="0">
            <a:noAutofit/>
          </a:bodyPr>
          <a:lstStyle/>
          <a:p>
            <a:r>
              <a:rPr lang="en-US" altLang="zh-CN" b="1"/>
              <a:t>A</a:t>
            </a:r>
            <a:r>
              <a:rPr lang="en-US" altLang="zh-CN" b="1" baseline="-25000"/>
              <a:t>p </a:t>
            </a:r>
            <a:r>
              <a:rPr lang="en-US" altLang="zh-CN" b="1"/>
              <a:t>(k</a:t>
            </a:r>
            <a:r>
              <a:rPr lang="en-US" altLang="en-US" b="1"/>
              <a:t>×</a:t>
            </a:r>
            <a:r>
              <a:rPr lang="en-US" altLang="zh-CN" b="1"/>
              <a:t>k matrix):</a:t>
            </a:r>
            <a:r>
              <a:rPr lang="en-US" altLang="zh-CN"/>
              <a:t> The pth‐lag autoregressive coefficient matrix, captures how each variable at time t depends linearly on all variables at time t−p. </a:t>
            </a:r>
          </a:p>
          <a:p>
            <a:r>
              <a:rPr lang="en-US" altLang="zh-CN" b="1"/>
              <a:t>e (k</a:t>
            </a:r>
            <a:r>
              <a:rPr lang="en-US" altLang="en-US" b="1"/>
              <a:t>×</a:t>
            </a:r>
            <a:r>
              <a:rPr lang="en-US" altLang="zh-CN" b="1"/>
              <a:t>1 vector):</a:t>
            </a:r>
            <a:r>
              <a:rPr lang="en-US" altLang="zh-CN"/>
              <a:t> A unit structural shock, typically a basis vector that applies a “one‐unit” shock to one variable while holding all others at zero.</a:t>
            </a:r>
          </a:p>
        </p:txBody>
      </p:sp>
      <p:pic>
        <p:nvPicPr>
          <p:cNvPr id="4" name="图片 3" descr="截屏2025-04-25 16.09.57"/>
          <p:cNvPicPr>
            <a:picLocks noChangeAspect="1"/>
          </p:cNvPicPr>
          <p:nvPr/>
        </p:nvPicPr>
        <p:blipFill>
          <a:blip r:embed="rId2"/>
          <a:stretch>
            <a:fillRect/>
          </a:stretch>
        </p:blipFill>
        <p:spPr>
          <a:xfrm>
            <a:off x="1991360" y="3429000"/>
            <a:ext cx="5113020" cy="8007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definition of IRF.</a:t>
            </a:r>
          </a:p>
        </p:txBody>
      </p:sp>
      <p:sp>
        <p:nvSpPr>
          <p:cNvPr id="3" name="Content Placeholder 2"/>
          <p:cNvSpPr>
            <a:spLocks noGrp="1"/>
          </p:cNvSpPr>
          <p:nvPr>
            <p:ph idx="1"/>
          </p:nvPr>
        </p:nvSpPr>
        <p:spPr>
          <a:xfrm>
            <a:off x="395605" y="5001260"/>
            <a:ext cx="5431790" cy="1502410"/>
          </a:xfrm>
        </p:spPr>
        <p:txBody>
          <a:bodyPr/>
          <a:lstStyle/>
          <a:p>
            <a:pPr marL="0" indent="0">
              <a:buNone/>
            </a:pPr>
            <a:endParaRPr lang="en-US" altLang="zh-CN" baseline="-25000" dirty="0">
              <a:sym typeface="+mn-ea"/>
            </a:endParaRPr>
          </a:p>
          <a:p>
            <a:endParaRPr lang="en-US" altLang="zh-CN" baseline="-25000" dirty="0">
              <a:sym typeface="+mn-ea"/>
            </a:endParaRPr>
          </a:p>
          <a:p>
            <a:endParaRPr lang="en-US" altLang="zh-CN" baseline="-25000" dirty="0">
              <a:sym typeface="+mn-ea"/>
            </a:endParaRPr>
          </a:p>
          <a:p>
            <a:endParaRPr lang="en-US" altLang="zh-CN" baseline="-25000" dirty="0">
              <a:sym typeface="+mn-ea"/>
            </a:endParaRPr>
          </a:p>
          <a:p>
            <a:endParaRPr lang="en-US" altLang="zh-CN" baseline="-25000" dirty="0">
              <a:sym typeface="+mn-ea"/>
            </a:endParaRPr>
          </a:p>
          <a:p>
            <a:endParaRPr lang="en-US" altLang="zh-CN" baseline="-25000" dirty="0">
              <a:sym typeface="+mn-ea"/>
            </a:endParaRPr>
          </a:p>
          <a:p>
            <a:pPr marL="0" indent="0">
              <a:buNone/>
            </a:pPr>
            <a:endParaRPr lang="en-US" altLang="zh-CN" sz="2400" baseline="-25000" dirty="0"/>
          </a:p>
        </p:txBody>
      </p:sp>
      <p:sp>
        <p:nvSpPr>
          <p:cNvPr id="5" name="文本框 4"/>
          <p:cNvSpPr txBox="1"/>
          <p:nvPr/>
        </p:nvSpPr>
        <p:spPr>
          <a:xfrm>
            <a:off x="395605" y="1340485"/>
            <a:ext cx="8404860" cy="1036955"/>
          </a:xfrm>
          <a:prstGeom prst="rect">
            <a:avLst/>
          </a:prstGeom>
          <a:noFill/>
        </p:spPr>
        <p:txBody>
          <a:bodyPr wrap="square" rtlCol="0">
            <a:noAutofit/>
          </a:bodyPr>
          <a:lstStyle/>
          <a:p>
            <a:r>
              <a:rPr lang="en-US" altLang="zh-CN" b="1"/>
              <a:t>IRF(n) (k</a:t>
            </a:r>
            <a:r>
              <a:rPr lang="en-US" altLang="en-US" b="1"/>
              <a:t>×</a:t>
            </a:r>
            <a:r>
              <a:rPr lang="en-US" altLang="zh-CN" b="1"/>
              <a:t>1 vector):</a:t>
            </a:r>
            <a:r>
              <a:rPr lang="en-US" altLang="zh-CN"/>
              <a:t> The system’s response at horizon n to the initial shock e. Each element measures the deviation of a variable from its baseline path.</a:t>
            </a:r>
          </a:p>
        </p:txBody>
      </p:sp>
      <p:sp>
        <p:nvSpPr>
          <p:cNvPr id="6" name="文本框 5"/>
          <p:cNvSpPr txBox="1"/>
          <p:nvPr/>
        </p:nvSpPr>
        <p:spPr>
          <a:xfrm>
            <a:off x="395605" y="2497455"/>
            <a:ext cx="8301990" cy="812165"/>
          </a:xfrm>
          <a:prstGeom prst="rect">
            <a:avLst/>
          </a:prstGeom>
          <a:noFill/>
        </p:spPr>
        <p:txBody>
          <a:bodyPr wrap="square" rtlCol="0">
            <a:noAutofit/>
          </a:bodyPr>
          <a:lstStyle/>
          <a:p>
            <a:pPr algn="l"/>
            <a:r>
              <a:rPr lang="en-US" altLang="zh-CN" b="1">
                <a:latin typeface="Verdana Bold" panose="020B0804030504040204" charset="0"/>
                <a:cs typeface="Verdana Bold" panose="020B0804030504040204" charset="0"/>
              </a:rPr>
              <a:t>p:</a:t>
            </a:r>
            <a:r>
              <a:rPr lang="en-US" altLang="zh-CN"/>
              <a:t> The VAR’s lag order, indicating how many past periods’ effects are included in the propagation.</a:t>
            </a:r>
          </a:p>
          <a:p>
            <a:pPr algn="l"/>
            <a:endParaRPr lang="en-US" altLang="zh-CN"/>
          </a:p>
          <a:p>
            <a:pPr algn="l"/>
            <a:endParaRPr lang="en-US" altLang="zh-CN"/>
          </a:p>
          <a:p>
            <a:endParaRPr lang="en-US" altLang="zh-CN"/>
          </a:p>
          <a:p>
            <a:endParaRPr lang="zh-CN" altLang="en-US"/>
          </a:p>
        </p:txBody>
      </p:sp>
      <p:sp>
        <p:nvSpPr>
          <p:cNvPr id="4" name="文本框 3"/>
          <p:cNvSpPr txBox="1"/>
          <p:nvPr/>
        </p:nvSpPr>
        <p:spPr>
          <a:xfrm>
            <a:off x="394970" y="3475990"/>
            <a:ext cx="8415020" cy="3030220"/>
          </a:xfrm>
          <a:prstGeom prst="rect">
            <a:avLst/>
          </a:prstGeom>
          <a:noFill/>
        </p:spPr>
        <p:txBody>
          <a:bodyPr wrap="square" rtlCol="0">
            <a:noAutofit/>
          </a:bodyPr>
          <a:lstStyle/>
          <a:p>
            <a:pPr marL="342900" indent="-342900">
              <a:buFont typeface="Arial" panose="020B0604020202090204" pitchFamily="34" charset="0"/>
              <a:buChar char="•"/>
            </a:pPr>
            <a:r>
              <a:rPr lang="en-US" altLang="zh-CN" b="1">
                <a:latin typeface="Verdana Bold" panose="020B0804030504040204" charset="0"/>
                <a:cs typeface="Verdana Bold" panose="020B0804030504040204" charset="0"/>
              </a:rPr>
              <a:t>Direct Impact (n=1):</a:t>
            </a:r>
            <a:r>
              <a:rPr lang="en-US" altLang="zh-CN"/>
              <a:t> IRF(1)=A</a:t>
            </a:r>
            <a:r>
              <a:rPr lang="en-US" altLang="zh-CN" baseline="-25000"/>
              <a:t>1</a:t>
            </a:r>
            <a:r>
              <a:rPr lang="en-US" altLang="zh-CN"/>
              <a:t>e quantifies the immediate effect of the shock in the next period.</a:t>
            </a:r>
          </a:p>
          <a:p>
            <a:pPr marL="342900" indent="-342900">
              <a:buFont typeface="Arial" panose="020B0604020202090204" pitchFamily="34" charset="0"/>
              <a:buChar char="•"/>
            </a:pPr>
            <a:r>
              <a:rPr lang="en-US" altLang="zh-CN" b="1">
                <a:latin typeface="Verdana Bold" panose="020B0804030504040204" charset="0"/>
                <a:cs typeface="Verdana Bold" panose="020B0804030504040204" charset="0"/>
              </a:rPr>
              <a:t>Cumulative Transmission (n&gt;1):</a:t>
            </a:r>
            <a:r>
              <a:rPr lang="en-US" altLang="zh-CN"/>
              <a:t> Each subsequent response is a weighted sum of past responses via A</a:t>
            </a:r>
            <a:r>
              <a:rPr lang="en-US" altLang="zh-CN" baseline="-25000"/>
              <a:t>1</a:t>
            </a:r>
            <a:r>
              <a:rPr lang="en-US" altLang="zh-CN"/>
              <a:t>,...,A</a:t>
            </a:r>
            <a:r>
              <a:rPr lang="en-US" altLang="zh-CN" baseline="-25000"/>
              <a:t>p</a:t>
            </a:r>
            <a:r>
              <a:rPr lang="en-US" altLang="zh-CN"/>
              <a:t>, reflecting the shock’s propagation through multiple dynamic channels.</a:t>
            </a:r>
          </a:p>
          <a:p>
            <a:pPr marL="342900" indent="-342900">
              <a:buFont typeface="Arial" panose="020B0604020202090204" pitchFamily="34" charset="0"/>
              <a:buChar char="•"/>
            </a:pPr>
            <a:r>
              <a:rPr lang="en-US" altLang="zh-CN" b="1">
                <a:latin typeface="Verdana Bold" panose="020B0804030504040204" charset="0"/>
                <a:cs typeface="Verdana Bold" panose="020B0804030504040204" charset="0"/>
              </a:rPr>
              <a:t>Decay &amp; Persistence:</a:t>
            </a:r>
            <a:r>
              <a:rPr lang="en-US" altLang="zh-CN"/>
              <a:t> In a stationary VAR, IRF(n) typically decays toward zero as n increases—indicating transitory effects. Slower decay or non‐zero long‐run values suggest more persistent or permanent impacts.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Interpretation of the IRF</a:t>
            </a:r>
          </a:p>
        </p:txBody>
      </p:sp>
      <p:sp>
        <p:nvSpPr>
          <p:cNvPr id="3" name="Content Placeholder 2"/>
          <p:cNvSpPr>
            <a:spLocks noGrp="1"/>
          </p:cNvSpPr>
          <p:nvPr>
            <p:ph idx="1"/>
          </p:nvPr>
        </p:nvSpPr>
        <p:spPr/>
        <p:txBody>
          <a:bodyPr/>
          <a:lstStyle/>
          <a:p>
            <a:r>
              <a:rPr lang="en-US" altLang="zh-CN" sz="2400" dirty="0"/>
              <a:t>Duration of the Effect</a:t>
            </a:r>
          </a:p>
          <a:p>
            <a:endParaRPr lang="en-US" altLang="zh-CN" sz="2400" dirty="0"/>
          </a:p>
          <a:p>
            <a:endParaRPr lang="en-US" altLang="zh-CN" sz="2400" dirty="0"/>
          </a:p>
          <a:p>
            <a:endParaRPr lang="en-US" altLang="zh-CN" sz="2400" dirty="0"/>
          </a:p>
          <a:p>
            <a:pPr marL="0" indent="0">
              <a:buNone/>
            </a:pPr>
            <a:endParaRPr lang="en-US" altLang="zh-CN" sz="2400" dirty="0"/>
          </a:p>
          <a:p>
            <a:endParaRPr lang="en-US" altLang="zh-CN" sz="2400" dirty="0"/>
          </a:p>
          <a:p>
            <a:pPr marL="0" indent="0">
              <a:buNone/>
            </a:pPr>
            <a:endParaRPr lang="en-US" altLang="zh-CN" sz="2400" dirty="0"/>
          </a:p>
        </p:txBody>
      </p:sp>
      <p:sp>
        <p:nvSpPr>
          <p:cNvPr id="4" name="文本框 3"/>
          <p:cNvSpPr txBox="1"/>
          <p:nvPr/>
        </p:nvSpPr>
        <p:spPr>
          <a:xfrm>
            <a:off x="501015" y="1772920"/>
            <a:ext cx="8463915" cy="1241425"/>
          </a:xfrm>
          <a:prstGeom prst="rect">
            <a:avLst/>
          </a:prstGeom>
          <a:noFill/>
        </p:spPr>
        <p:txBody>
          <a:bodyPr wrap="square" rtlCol="0">
            <a:noAutofit/>
          </a:bodyPr>
          <a:lstStyle/>
          <a:p>
            <a:r>
              <a:rPr lang="en-US" altLang="zh-CN" sz="1600" dirty="0"/>
              <a:t>The IRF shows how long the effect lasts. A short-lived response indicates that the shock has a transitory effect on the economy, while a longer response might indicate that the shock has a more lasting or permanent effect. The decay of the IRF over time shows whether the system returns to equilibrium or whether the shock has long-lasting consequences.</a:t>
            </a:r>
          </a:p>
        </p:txBody>
      </p:sp>
      <p:sp>
        <p:nvSpPr>
          <p:cNvPr id="5" name="文本框 4"/>
          <p:cNvSpPr txBox="1"/>
          <p:nvPr/>
        </p:nvSpPr>
        <p:spPr>
          <a:xfrm>
            <a:off x="501015" y="3213100"/>
            <a:ext cx="8041640" cy="3570605"/>
          </a:xfrm>
          <a:prstGeom prst="rect">
            <a:avLst/>
          </a:prstGeom>
          <a:noFill/>
        </p:spPr>
        <p:txBody>
          <a:bodyPr wrap="square" rtlCol="0">
            <a:noAutofit/>
          </a:bodyPr>
          <a:lstStyle/>
          <a:p>
            <a:r>
              <a:rPr lang="en-US" altLang="zh-CN" sz="1600" b="1">
                <a:latin typeface="Verdana Bold" panose="020B0804030504040204" charset="0"/>
                <a:cs typeface="Verdana Bold" panose="020B0804030504040204" charset="0"/>
              </a:rPr>
              <a:t>Conclusion:</a:t>
            </a:r>
            <a:r>
              <a:rPr lang="en-US" altLang="zh-CN" sz="1600"/>
              <a:t> IRFs are indispensable tools in macroeconomics, especially for forecasting and policy analysis. They help:</a:t>
            </a:r>
          </a:p>
          <a:p>
            <a:endParaRPr lang="en-US" altLang="zh-CN" sz="1600"/>
          </a:p>
          <a:p>
            <a:r>
              <a:rPr lang="en-US" altLang="zh-CN" sz="1600"/>
              <a:t>Quantify the dynamic effects of shocks.</a:t>
            </a:r>
          </a:p>
          <a:p>
            <a:endParaRPr lang="en-US" altLang="zh-CN" sz="1600"/>
          </a:p>
          <a:p>
            <a:r>
              <a:rPr lang="en-US" altLang="zh-CN" sz="1600"/>
              <a:t>Explain the transmission mechanisms of shocks across the economy.</a:t>
            </a:r>
          </a:p>
          <a:p>
            <a:endParaRPr lang="en-US" altLang="zh-CN" sz="1600"/>
          </a:p>
          <a:p>
            <a:r>
              <a:rPr lang="en-US" altLang="zh-CN" sz="1600"/>
              <a:t>Allow policymakers to predict how policy interventions (e.g., changes in    interest rates) will affect economic variables over time.</a:t>
            </a:r>
          </a:p>
          <a:p>
            <a:endParaRPr lang="en-US" altLang="zh-CN" sz="1600"/>
          </a:p>
          <a:p>
            <a:r>
              <a:rPr lang="en-US" altLang="zh-CN" sz="1600"/>
              <a:t>IRFs provide a clear, interpretable view of how variables in an economy respond to external shocks, making them far more useful than autoregressive coefficients for answering policy-relevant questions like the effects of demand shocks on GDP or inflation over time.</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Interpretation of the IRF</a:t>
            </a:r>
            <a:endParaRPr lang="en-US" dirty="0"/>
          </a:p>
        </p:txBody>
      </p:sp>
      <p:sp>
        <p:nvSpPr>
          <p:cNvPr id="3" name="Content Placeholder 2"/>
          <p:cNvSpPr>
            <a:spLocks noGrp="1"/>
          </p:cNvSpPr>
          <p:nvPr>
            <p:ph idx="1"/>
          </p:nvPr>
        </p:nvSpPr>
        <p:spPr/>
        <p:txBody>
          <a:bodyPr/>
          <a:lstStyle/>
          <a:p>
            <a:pPr marL="0" indent="0">
              <a:buNone/>
            </a:pPr>
            <a:r>
              <a:rPr lang="en-US" altLang="zh-CN" sz="1800" dirty="0">
                <a:cs typeface="+mn-lt"/>
              </a:rPr>
              <a:t>An Impulse Response Function (IRF) analyses the relationship between time series variables and is particularly derived from a vector autoregressive model (VAR) (</a:t>
            </a:r>
            <a:r>
              <a:rPr lang="en-US" altLang="zh-CN" sz="1800" dirty="0" err="1">
                <a:cs typeface="+mn-lt"/>
              </a:rPr>
              <a:t>L</a:t>
            </a:r>
            <a:r>
              <a:rPr lang="en-US" altLang="en-US" sz="1800" dirty="0" err="1">
                <a:cs typeface="+mn-lt"/>
              </a:rPr>
              <a:t>ü</a:t>
            </a:r>
            <a:r>
              <a:rPr lang="en-US" altLang="zh-CN" sz="1800" dirty="0" err="1">
                <a:cs typeface="+mn-lt"/>
              </a:rPr>
              <a:t>tkepohl</a:t>
            </a:r>
            <a:r>
              <a:rPr lang="en-US" altLang="zh-CN" sz="1800" dirty="0">
                <a:cs typeface="+mn-lt"/>
              </a:rPr>
              <a:t>, H. 2010). The vector autoregressive model is used to understand the linear interdependencies between the variables and assumes the variables depend on the past values of the variables in a system. </a:t>
            </a:r>
          </a:p>
        </p:txBody>
      </p:sp>
      <p:pic>
        <p:nvPicPr>
          <p:cNvPr id="4" name="图片 3"/>
          <p:cNvPicPr>
            <a:picLocks noChangeAspect="1"/>
          </p:cNvPicPr>
          <p:nvPr/>
        </p:nvPicPr>
        <p:blipFill>
          <a:blip r:embed="rId3"/>
          <a:stretch>
            <a:fillRect/>
          </a:stretch>
        </p:blipFill>
        <p:spPr>
          <a:xfrm>
            <a:off x="1259632" y="3543333"/>
            <a:ext cx="5638303" cy="2885968"/>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7803D1-07E4-508D-BDDB-AAC860741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A03F5-3925-D91F-0B1B-3A1F087462E2}"/>
              </a:ext>
            </a:extLst>
          </p:cNvPr>
          <p:cNvSpPr>
            <a:spLocks noGrp="1"/>
          </p:cNvSpPr>
          <p:nvPr>
            <p:ph type="title"/>
          </p:nvPr>
        </p:nvSpPr>
        <p:spPr/>
        <p:txBody>
          <a:bodyPr/>
          <a:lstStyle/>
          <a:p>
            <a:r>
              <a:rPr lang="en-US" altLang="zh-CN" dirty="0"/>
              <a:t>Interpretation of the IRF</a:t>
            </a:r>
            <a:endParaRPr lang="en-US" dirty="0"/>
          </a:p>
        </p:txBody>
      </p:sp>
      <p:sp>
        <p:nvSpPr>
          <p:cNvPr id="3" name="Content Placeholder 2">
            <a:extLst>
              <a:ext uri="{FF2B5EF4-FFF2-40B4-BE49-F238E27FC236}">
                <a16:creationId xmlns:a16="http://schemas.microsoft.com/office/drawing/2014/main" id="{1D8B14EB-C662-54D0-3874-5493EB296542}"/>
              </a:ext>
            </a:extLst>
          </p:cNvPr>
          <p:cNvSpPr>
            <a:spLocks noGrp="1"/>
          </p:cNvSpPr>
          <p:nvPr>
            <p:ph idx="1"/>
          </p:nvPr>
        </p:nvSpPr>
        <p:spPr/>
        <p:txBody>
          <a:bodyPr/>
          <a:lstStyle/>
          <a:p>
            <a:pPr marL="0" indent="0">
              <a:buNone/>
            </a:pPr>
            <a:r>
              <a:rPr lang="en-US" altLang="zh-CN" sz="1800" dirty="0">
                <a:cs typeface="+mn-lt"/>
              </a:rPr>
              <a:t>The function not only shows the reactions of the variables to a shock, but also quantifies the effect of the shock in terms of both magnitude and direction in a system. In this macroeconomic context, the IRF shows how a shock to the stock price growth affects the GDP growth over subsequent quarters.  </a:t>
            </a:r>
          </a:p>
          <a:p>
            <a:pPr marL="0" indent="0">
              <a:buNone/>
            </a:pPr>
            <a:endParaRPr lang="en-US" altLang="zh-CN" sz="1400" dirty="0">
              <a:cs typeface="+mn-lt"/>
            </a:endParaRPr>
          </a:p>
        </p:txBody>
      </p:sp>
      <p:pic>
        <p:nvPicPr>
          <p:cNvPr id="4" name="图片 3">
            <a:extLst>
              <a:ext uri="{FF2B5EF4-FFF2-40B4-BE49-F238E27FC236}">
                <a16:creationId xmlns:a16="http://schemas.microsoft.com/office/drawing/2014/main" id="{20AAAEB5-C4E3-49C7-035A-E18BB379D165}"/>
              </a:ext>
            </a:extLst>
          </p:cNvPr>
          <p:cNvPicPr>
            <a:picLocks noChangeAspect="1"/>
          </p:cNvPicPr>
          <p:nvPr/>
        </p:nvPicPr>
        <p:blipFill>
          <a:blip r:embed="rId3"/>
          <a:stretch>
            <a:fillRect/>
          </a:stretch>
        </p:blipFill>
        <p:spPr>
          <a:xfrm>
            <a:off x="1259632" y="3543333"/>
            <a:ext cx="5638303" cy="2885968"/>
          </a:xfrm>
          <a:prstGeom prst="rect">
            <a:avLst/>
          </a:prstGeom>
        </p:spPr>
      </p:pic>
    </p:spTree>
    <p:extLst>
      <p:ext uri="{BB962C8B-B14F-4D97-AF65-F5344CB8AC3E}">
        <p14:creationId xmlns:p14="http://schemas.microsoft.com/office/powerpoint/2010/main" val="253520524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Interpretation of the IRF</a:t>
            </a:r>
            <a:endParaRPr lang="en-US" dirty="0"/>
          </a:p>
        </p:txBody>
      </p:sp>
      <p:sp>
        <p:nvSpPr>
          <p:cNvPr id="3" name="Content Placeholder 2"/>
          <p:cNvSpPr>
            <a:spLocks noGrp="1"/>
          </p:cNvSpPr>
          <p:nvPr>
            <p:ph idx="1"/>
          </p:nvPr>
        </p:nvSpPr>
        <p:spPr>
          <a:xfrm>
            <a:off x="107315" y="1545590"/>
            <a:ext cx="8856980" cy="5054600"/>
          </a:xfrm>
        </p:spPr>
        <p:txBody>
          <a:bodyPr/>
          <a:lstStyle/>
          <a:p>
            <a:pPr lvl="0"/>
            <a:r>
              <a:rPr lang="en-US" altLang="zh-CN" sz="2000" dirty="0"/>
              <a:t>The above equation will give a series of shock coefficients by variable coefficients. In our case, the VAR model will have the two variables, namely, GDP Growth and Stock Price Growth, and the IRF will show the expected changes in the GDP Growth following the shock at various quarters. The IRF will either be positive or negative; a positive IRF implies that the response variable increases after a shock in the shock variable. On the other hand, a negative IRF shows that the response variable decreases after the shock on the shock variable.</a:t>
            </a:r>
          </a:p>
          <a:p>
            <a:pPr lvl="0"/>
            <a:r>
              <a:rPr lang="en-US" altLang="zh-CN" sz="2000" dirty="0"/>
              <a:t>To implement the Impulse Response Function in Stata, the following commands were used to create the IRF from a VAR model and call the IRF. (Attached in the .do file)</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Stata implementation</a:t>
            </a:r>
            <a:endParaRPr lang="zh-CN" altLang="en-US"/>
          </a:p>
        </p:txBody>
      </p:sp>
      <p:pic>
        <p:nvPicPr>
          <p:cNvPr id="4" name="内容占位符 3"/>
          <p:cNvPicPr>
            <a:picLocks noGrp="1" noChangeAspect="1"/>
          </p:cNvPicPr>
          <p:nvPr>
            <p:ph idx="1"/>
          </p:nvPr>
        </p:nvPicPr>
        <p:blipFill>
          <a:blip r:embed="rId2"/>
          <a:stretch>
            <a:fillRect/>
          </a:stretch>
        </p:blipFill>
        <p:spPr>
          <a:xfrm>
            <a:off x="260985" y="1340485"/>
            <a:ext cx="8549005" cy="51123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836930"/>
            <a:ext cx="8868444" cy="992187"/>
          </a:xfrm>
        </p:spPr>
        <p:txBody>
          <a:bodyPr/>
          <a:lstStyle/>
          <a:p>
            <a:r>
              <a:rPr dirty="0">
                <a:sym typeface="+mn-ea"/>
              </a:rPr>
              <a:t>Step 1: Calculating GDP Growth Rate and Stock Price Growth Rate</a:t>
            </a:r>
            <a:r>
              <a:rPr lang="en-US" dirty="0">
                <a:sym typeface="+mn-ea"/>
              </a:rPr>
              <a:t>:</a:t>
            </a:r>
          </a:p>
        </p:txBody>
      </p:sp>
      <p:sp>
        <p:nvSpPr>
          <p:cNvPr id="3" name="Content Placeholder 2"/>
          <p:cNvSpPr>
            <a:spLocks noGrp="1"/>
          </p:cNvSpPr>
          <p:nvPr>
            <p:ph idx="1"/>
          </p:nvPr>
        </p:nvSpPr>
        <p:spPr>
          <a:xfrm>
            <a:off x="107315" y="1855470"/>
            <a:ext cx="8856980" cy="4525645"/>
          </a:xfrm>
        </p:spPr>
        <p:txBody>
          <a:bodyPr/>
          <a:lstStyle/>
          <a:p>
            <a:r>
              <a:rPr dirty="0">
                <a:sym typeface="+mn-ea"/>
              </a:rPr>
              <a:t>Stata Code:</a:t>
            </a:r>
          </a:p>
          <a:p>
            <a:r>
              <a:rPr dirty="0">
                <a:sym typeface="+mn-ea"/>
              </a:rPr>
              <a:t>gen </a:t>
            </a:r>
            <a:r>
              <a:rPr dirty="0" err="1">
                <a:sym typeface="+mn-ea"/>
              </a:rPr>
              <a:t>gdpgr</a:t>
            </a:r>
            <a:r>
              <a:rPr dirty="0">
                <a:sym typeface="+mn-ea"/>
              </a:rPr>
              <a:t> = (ln(gdpc1) - ln(L.gdpc1)) * 400</a:t>
            </a:r>
          </a:p>
          <a:p>
            <a:r>
              <a:rPr dirty="0">
                <a:sym typeface="+mn-ea"/>
              </a:rPr>
              <a:t>gen </a:t>
            </a:r>
            <a:r>
              <a:rPr dirty="0" err="1">
                <a:sym typeface="+mn-ea"/>
              </a:rPr>
              <a:t>shagr</a:t>
            </a:r>
            <a:r>
              <a:rPr dirty="0">
                <a:sym typeface="+mn-ea"/>
              </a:rPr>
              <a:t> = (ln(share) - ln(</a:t>
            </a:r>
            <a:r>
              <a:rPr dirty="0" err="1">
                <a:sym typeface="+mn-ea"/>
              </a:rPr>
              <a:t>L.share</a:t>
            </a:r>
            <a:r>
              <a:rPr dirty="0">
                <a:sym typeface="+mn-ea"/>
              </a:rPr>
              <a:t>)) * 400</a:t>
            </a:r>
          </a:p>
          <a:p>
            <a:endParaRPr lang="en-US" dirty="0"/>
          </a:p>
          <a:p>
            <a:r>
              <a:rPr dirty="0">
                <a:sym typeface="+mn-ea"/>
              </a:rPr>
              <a:t>Explanation:</a:t>
            </a:r>
          </a:p>
          <a:p>
            <a:r>
              <a:rPr dirty="0">
                <a:sym typeface="+mn-ea"/>
              </a:rPr>
              <a:t>1.GDP growth rate calculated as the difference between the natural logs of current and previous period GDP, multiplied by 400 to annualize the growth rate.</a:t>
            </a:r>
          </a:p>
          <a:p>
            <a:r>
              <a:rPr dirty="0">
                <a:sym typeface="+mn-ea"/>
              </a:rPr>
              <a:t>2.Stock price growth rate calculated similarly for the stock prices.</a:t>
            </a:r>
            <a:endParaRPr lang="en-US" sz="2400" dirty="0"/>
          </a:p>
        </p:txBody>
      </p:sp>
      <p:sp>
        <p:nvSpPr>
          <p:cNvPr id="4" name="文本框 3"/>
          <p:cNvSpPr txBox="1"/>
          <p:nvPr/>
        </p:nvSpPr>
        <p:spPr>
          <a:xfrm>
            <a:off x="131088" y="317882"/>
            <a:ext cx="3048000" cy="1076325"/>
          </a:xfrm>
          <a:prstGeom prst="rect">
            <a:avLst/>
          </a:prstGeom>
          <a:noFill/>
        </p:spPr>
        <p:txBody>
          <a:bodyPr wrap="square" rtlCol="0">
            <a:spAutoFit/>
          </a:bodyPr>
          <a:lstStyle/>
          <a:p>
            <a:r>
              <a:rPr lang="en-US" altLang="zh-CN" sz="3200" b="1" dirty="0">
                <a:latin typeface="Verdana Bold" panose="020B0804030504040204" charset="0"/>
                <a:cs typeface="Verdana Bold" panose="020B0804030504040204" charset="0"/>
                <a:sym typeface="+mn-ea"/>
              </a:rPr>
              <a:t>Q(b) part1:</a:t>
            </a:r>
            <a:endParaRPr lang="en-US" altLang="zh-CN" sz="3200" b="1" dirty="0">
              <a:latin typeface="Verdana Bold" panose="020B0804030504040204" charset="0"/>
              <a:cs typeface="Verdana Bold" panose="020B0804030504040204" charset="0"/>
            </a:endParaRPr>
          </a:p>
          <a:p>
            <a:endParaRPr lang="zh-CN" altLang="en-US" sz="3200" b="1" dirty="0">
              <a:latin typeface="Verdana Bold" panose="020B0804030504040204" charset="0"/>
              <a:cs typeface="Verdana Bold" panose="020B080403050404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ym typeface="+mn-ea"/>
              </a:rPr>
              <a:t>Step 2: Estimating VAR(1) Model</a:t>
            </a:r>
            <a:endParaRPr lang="en-US" dirty="0"/>
          </a:p>
        </p:txBody>
      </p:sp>
      <p:sp>
        <p:nvSpPr>
          <p:cNvPr id="3" name="Content Placeholder 2"/>
          <p:cNvSpPr>
            <a:spLocks noGrp="1"/>
          </p:cNvSpPr>
          <p:nvPr>
            <p:ph idx="1"/>
          </p:nvPr>
        </p:nvSpPr>
        <p:spPr/>
        <p:txBody>
          <a:bodyPr/>
          <a:lstStyle/>
          <a:p>
            <a:pPr marL="0" indent="0">
              <a:buNone/>
            </a:pPr>
            <a:r>
              <a:rPr>
                <a:sym typeface="+mn-ea"/>
              </a:rPr>
              <a:t>Stata Code:</a:t>
            </a:r>
          </a:p>
          <a:p>
            <a:pPr marL="0" indent="0">
              <a:buNone/>
            </a:pPr>
            <a:r>
              <a:rPr>
                <a:sym typeface="+mn-ea"/>
              </a:rPr>
              <a:t>var gdpgr shagr</a:t>
            </a:r>
            <a:r>
              <a:rPr lang="en-US">
                <a:sym typeface="+mn-ea"/>
              </a:rPr>
              <a:t> if tin(1970q1,2024q4)</a:t>
            </a:r>
            <a:r>
              <a:rPr>
                <a:sym typeface="+mn-ea"/>
              </a:rPr>
              <a:t>, lags(1)</a:t>
            </a:r>
          </a:p>
          <a:p>
            <a:pPr marL="0" indent="0">
              <a:buNone/>
            </a:pPr>
            <a:endParaRPr lang="en-US" dirty="0"/>
          </a:p>
          <a:p>
            <a:pPr marL="0" indent="0">
              <a:buNone/>
            </a:pPr>
            <a:r>
              <a:rPr>
                <a:sym typeface="+mn-ea"/>
              </a:rPr>
              <a:t>Explanation:</a:t>
            </a:r>
          </a:p>
          <a:p>
            <a:pPr marL="0" indent="0">
              <a:buNone/>
            </a:pPr>
            <a:r>
              <a:rPr>
                <a:sym typeface="+mn-ea"/>
              </a:rPr>
              <a:t>1. Command used to estimate the Vector Autoregressive model with 1 lag.</a:t>
            </a:r>
          </a:p>
          <a:p>
            <a:pPr marL="0" indent="0">
              <a:buNone/>
            </a:pPr>
            <a:r>
              <a:rPr>
                <a:sym typeface="+mn-ea"/>
              </a:rPr>
              <a:t>2. The model includes two variables: gdpgr (GDP growth rate) and shagr (Stock price growth rate).</a:t>
            </a:r>
          </a:p>
          <a:p>
            <a:pPr marL="0" indent="0">
              <a:buNone/>
            </a:pPr>
            <a:r>
              <a:rPr>
                <a:sym typeface="+mn-ea"/>
              </a:rPr>
              <a:t>3. Specifies a lag length of 1, meaning the model uses one previous period’s data to predict the current period.</a:t>
            </a:r>
          </a:p>
          <a:p>
            <a:pPr marL="0" indent="0">
              <a:buNone/>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ym typeface="+mn-ea"/>
              </a:rPr>
              <a:t>Step 3: Generating the Impulse Response Function (IRF)</a:t>
            </a:r>
            <a:endParaRPr lang="en-US" dirty="0"/>
          </a:p>
        </p:txBody>
      </p:sp>
      <p:sp>
        <p:nvSpPr>
          <p:cNvPr id="3" name="Content Placeholder 2"/>
          <p:cNvSpPr>
            <a:spLocks noGrp="1"/>
          </p:cNvSpPr>
          <p:nvPr>
            <p:ph idx="1"/>
          </p:nvPr>
        </p:nvSpPr>
        <p:spPr/>
        <p:txBody>
          <a:bodyPr/>
          <a:lstStyle/>
          <a:p>
            <a:pPr marL="0" indent="0">
              <a:buNone/>
            </a:pPr>
            <a:r>
              <a:rPr sz="2400">
                <a:sym typeface="+mn-ea"/>
              </a:rPr>
              <a:t>Stata Code:</a:t>
            </a:r>
          </a:p>
          <a:p>
            <a:pPr marL="0" indent="0">
              <a:buNone/>
            </a:pPr>
            <a:r>
              <a:rPr sz="2400">
                <a:sym typeface="+mn-ea"/>
              </a:rPr>
              <a:t>irf create model_irf, replace</a:t>
            </a:r>
          </a:p>
          <a:p>
            <a:pPr marL="0" indent="0">
              <a:buNone/>
            </a:pPr>
            <a:r>
              <a:rPr sz="2400">
                <a:sym typeface="+mn-ea"/>
              </a:rPr>
              <a:t>irf graph oirf, impulse(shagr) response(gdpgr)</a:t>
            </a:r>
          </a:p>
          <a:p>
            <a:pPr marL="0" indent="0">
              <a:buNone/>
            </a:pPr>
            <a:endParaRPr sz="2400"/>
          </a:p>
          <a:p>
            <a:pPr marL="0" indent="0">
              <a:buNone/>
            </a:pPr>
            <a:r>
              <a:rPr sz="2400">
                <a:sym typeface="+mn-ea"/>
              </a:rPr>
              <a:t>Explanation:</a:t>
            </a:r>
          </a:p>
          <a:p>
            <a:pPr marL="0" indent="0">
              <a:buNone/>
            </a:pPr>
            <a:r>
              <a:rPr sz="2400">
                <a:solidFill>
                  <a:schemeClr val="tx1"/>
                </a:solidFill>
                <a:sym typeface="+mn-ea"/>
              </a:rPr>
              <a:t>1.Creates an IRF object named "model_irf" to store the IRF results.</a:t>
            </a:r>
          </a:p>
          <a:p>
            <a:pPr marL="0" indent="0">
              <a:buNone/>
            </a:pPr>
            <a:r>
              <a:rPr sz="2400">
                <a:solidFill>
                  <a:schemeClr val="tx1"/>
                </a:solidFill>
                <a:sym typeface="+mn-ea"/>
              </a:rPr>
              <a:t>2.Generates the IRF graph, with shagr as the impulse variable and gdpgr as the response variable.</a:t>
            </a:r>
            <a:endParaRPr sz="2400">
              <a:solidFill>
                <a:srgbClr val="FF0000"/>
              </a:solidFill>
              <a:sym typeface="+mn-ea"/>
            </a:endParaRPr>
          </a:p>
          <a:p>
            <a:pPr marL="0" indent="0">
              <a:buNone/>
            </a:pPr>
            <a:endParaRPr sz="2400">
              <a:solidFill>
                <a:srgbClr val="FF0000"/>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Table:</a:t>
            </a:r>
          </a:p>
        </p:txBody>
      </p:sp>
      <p:pic>
        <p:nvPicPr>
          <p:cNvPr id="4" name="内容占位符 3"/>
          <p:cNvPicPr>
            <a:picLocks noGrp="1" noChangeAspect="1"/>
          </p:cNvPicPr>
          <p:nvPr>
            <p:ph idx="1"/>
          </p:nvPr>
        </p:nvPicPr>
        <p:blipFill>
          <a:blip r:embed="rId2"/>
          <a:stretch>
            <a:fillRect/>
          </a:stretch>
        </p:blipFill>
        <p:spPr>
          <a:xfrm>
            <a:off x="949325" y="1220470"/>
            <a:ext cx="6786880" cy="54267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0"/>
            <a:ext cx="8868444" cy="992187"/>
          </a:xfrm>
        </p:spPr>
        <p:txBody>
          <a:bodyPr/>
          <a:lstStyle/>
          <a:p>
            <a:r>
              <a:rPr lang="en-US" altLang="zh-CN" dirty="0"/>
              <a:t>Final function</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7315" y="908685"/>
                <a:ext cx="8689975" cy="2157095"/>
              </a:xfrm>
            </p:spPr>
            <p:txBody>
              <a:bodyPr/>
              <a:lstStyle/>
              <a:p>
                <a:r>
                  <a:rPr lang="en-US" altLang="zh-CN" dirty="0">
                    <a:latin typeface="PingFang SC" panose="020B0400000000000000" charset="-122"/>
                    <a:ea typeface="PingFang SC" panose="020B0400000000000000" charset="-122"/>
                    <a:cs typeface="DejaVu Math TeX Gyre" panose="02000503000000000000" charset="0"/>
                    <a:sym typeface="+mn-ea"/>
                  </a:rPr>
                  <a:t>[</a:t>
                </a:r>
                <a14:m>
                  <m:oMath xmlns:m="http://schemas.openxmlformats.org/officeDocument/2006/math">
                    <m:m>
                      <m:mPr>
                        <m:mcs>
                          <m:mc>
                            <m:mcPr>
                              <m:count m:val="1"/>
                              <m:mcJc m:val="center"/>
                            </m:mcPr>
                          </m:mc>
                        </m:mcs>
                        <m:ctrlPr>
                          <a:rPr lang="en-US" altLang="zh-CN" i="1">
                            <a:latin typeface="Cambria Math" panose="02040503050406030204" pitchFamily="18" charset="0"/>
                            <a:ea typeface="PingFang SC" panose="020B0400000000000000" charset="-122"/>
                            <a:cs typeface="DejaVu Math TeX Gyre" panose="02000503000000000000" charset="0"/>
                          </a:rPr>
                        </m:ctrlPr>
                      </m:mPr>
                      <m:mr>
                        <m:e>
                          <m:r>
                            <m:rPr>
                              <m:sty m:val="p"/>
                            </m:rPr>
                            <a:rPr lang="en-US" altLang="zh-CN" i="0">
                              <a:latin typeface="Cambria Math" panose="02040503050406030204" pitchFamily="18" charset="0"/>
                              <a:ea typeface="PingFang SC" panose="020B0400000000000000" charset="-122"/>
                              <a:cs typeface="DejaVu Math TeX Gyre" panose="02000503000000000000" charset="0"/>
                            </a:rPr>
                            <m:t>gdpgr</m:t>
                          </m:r>
                          <m:r>
                            <m:rPr>
                              <m:sty m:val="p"/>
                            </m:rPr>
                            <a:rPr lang="en-US" altLang="zh-CN" i="0" baseline="-25000">
                              <a:latin typeface="Cambria Math" panose="02040503050406030204" pitchFamily="18" charset="0"/>
                              <a:ea typeface="PingFang SC" panose="020B0400000000000000" charset="-122"/>
                              <a:cs typeface="DejaVu Math TeX Gyre" panose="02000503000000000000" charset="0"/>
                            </a:rPr>
                            <m:t>t</m:t>
                          </m:r>
                        </m:e>
                      </m:mr>
                      <m:mr>
                        <m:e>
                          <m:r>
                            <m:rPr>
                              <m:sty m:val="p"/>
                            </m:rPr>
                            <a:rPr lang="en-US" altLang="zh-CN" i="0">
                              <a:latin typeface="Cambria Math" panose="02040503050406030204" pitchFamily="18" charset="0"/>
                              <a:ea typeface="PingFang SC" panose="020B0400000000000000" charset="-122"/>
                              <a:cs typeface="DejaVu Math TeX Gyre" panose="02000503000000000000" charset="0"/>
                            </a:rPr>
                            <m:t>shagr</m:t>
                          </m:r>
                          <m:r>
                            <m:rPr>
                              <m:sty m:val="p"/>
                            </m:rPr>
                            <a:rPr lang="en-US" altLang="zh-CN" i="0" baseline="-25000">
                              <a:latin typeface="Cambria Math" panose="02040503050406030204" pitchFamily="18" charset="0"/>
                              <a:ea typeface="PingFang SC" panose="020B0400000000000000" charset="-122"/>
                              <a:cs typeface="DejaVu Math TeX Gyre" panose="02000503000000000000" charset="0"/>
                            </a:rPr>
                            <m:t>t</m:t>
                          </m:r>
                        </m:e>
                      </m:mr>
                    </m:m>
                  </m:oMath>
                </a14:m>
                <a:r>
                  <a:rPr lang="en-US" altLang="zh-CN" dirty="0">
                    <a:latin typeface="PingFang SC" panose="020B0400000000000000" charset="-122"/>
                    <a:ea typeface="PingFang SC" panose="020B0400000000000000" charset="-122"/>
                    <a:cs typeface="DejaVu Math TeX Gyre" panose="02000503000000000000" charset="0"/>
                  </a:rPr>
                  <a:t>]=[</a:t>
                </a:r>
                <a14:m>
                  <m:oMath xmlns:m="http://schemas.openxmlformats.org/officeDocument/2006/math">
                    <m:m>
                      <m:mPr>
                        <m:mcs>
                          <m:mc>
                            <m:mcPr>
                              <m:count m:val="2"/>
                              <m:mcJc m:val="center"/>
                            </m:mcPr>
                          </m:mc>
                        </m:mcs>
                        <m:ctrlPr>
                          <a:rPr lang="en-US" altLang="zh-CN" i="1">
                            <a:latin typeface="Cambria Math" panose="02040503050406030204" pitchFamily="18" charset="0"/>
                            <a:ea typeface="PingFang SC" panose="020B0400000000000000" charset="-122"/>
                            <a:cs typeface="DejaVu Math TeX Gyre" panose="02000503000000000000" charset="0"/>
                          </a:rPr>
                        </m:ctrlPr>
                      </m:mPr>
                      <m:mr>
                        <m:e>
                          <m:r>
                            <a:rPr lang="en-US" altLang="zh-CN" i="0">
                              <a:latin typeface="Cambria Math" panose="02040503050406030204" pitchFamily="18" charset="0"/>
                              <a:ea typeface="PingFang SC" panose="020B0400000000000000" charset="-122"/>
                              <a:cs typeface="DejaVu Math TeX Gyre" panose="02000503000000000000" charset="0"/>
                            </a:rPr>
                            <m:t>−0.0868</m:t>
                          </m:r>
                        </m:e>
                        <m:e>
                          <m:r>
                            <a:rPr lang="en-US" altLang="zh-CN" i="0">
                              <a:latin typeface="Cambria Math" panose="02040503050406030204" pitchFamily="18" charset="0"/>
                              <a:ea typeface="PingFang SC" panose="020B0400000000000000" charset="-122"/>
                              <a:cs typeface="DejaVu Math TeX Gyre" panose="02000503000000000000" charset="0"/>
                            </a:rPr>
                            <m:t>0.0420</m:t>
                          </m:r>
                        </m:e>
                      </m:mr>
                      <m:mr>
                        <m:e>
                          <m:r>
                            <a:rPr lang="en-US" altLang="zh-CN" i="0">
                              <a:latin typeface="Cambria Math" panose="02040503050406030204" pitchFamily="18" charset="0"/>
                              <a:ea typeface="PingFang SC" panose="020B0400000000000000" charset="-122"/>
                              <a:cs typeface="DejaVu Math TeX Gyre" panose="02000503000000000000" charset="0"/>
                            </a:rPr>
                            <m:t>−0.4692</m:t>
                          </m:r>
                        </m:e>
                        <m:e>
                          <m:r>
                            <a:rPr lang="en-US" altLang="zh-CN" i="0">
                              <a:latin typeface="Cambria Math" panose="02040503050406030204" pitchFamily="18" charset="0"/>
                              <a:ea typeface="PingFang SC" panose="020B0400000000000000" charset="-122"/>
                              <a:cs typeface="DejaVu Math TeX Gyre" panose="02000503000000000000" charset="0"/>
                            </a:rPr>
                            <m:t>0.3333</m:t>
                          </m:r>
                        </m:e>
                      </m:mr>
                    </m:m>
                  </m:oMath>
                </a14:m>
                <a:r>
                  <a:rPr lang="en-US" altLang="zh-CN" dirty="0">
                    <a:latin typeface="PingFang SC" panose="020B0400000000000000" charset="-122"/>
                    <a:ea typeface="PingFang SC" panose="020B0400000000000000" charset="-122"/>
                    <a:cs typeface="DejaVu Math TeX Gyre" panose="02000503000000000000" charset="0"/>
                  </a:rPr>
                  <a:t>]</a:t>
                </a:r>
                <a:r>
                  <a:rPr lang="en-US" altLang="zh-CN" dirty="0">
                    <a:latin typeface="PingFang SC" panose="020B0400000000000000" charset="-122"/>
                    <a:ea typeface="PingFang SC" panose="020B0400000000000000" charset="-122"/>
                    <a:cs typeface="DejaVu Math TeX Gyre" panose="02000503000000000000" charset="0"/>
                    <a:sym typeface="+mn-ea"/>
                  </a:rPr>
                  <a:t>[</a:t>
                </a:r>
                <a14:m>
                  <m:oMath xmlns:m="http://schemas.openxmlformats.org/officeDocument/2006/math">
                    <m:m>
                      <m:mPr>
                        <m:mcs>
                          <m:mc>
                            <m:mcPr>
                              <m:count m:val="1"/>
                              <m:mcJc m:val="center"/>
                            </m:mcPr>
                          </m:mc>
                        </m:mcs>
                        <m:ctrlPr>
                          <a:rPr lang="en-US" altLang="zh-CN" i="1" smtClean="0">
                            <a:latin typeface="Cambria Math" panose="02040503050406030204" pitchFamily="18" charset="0"/>
                            <a:ea typeface="PingFang SC" panose="020B0400000000000000" charset="-122"/>
                            <a:cs typeface="DejaVu Math TeX Gyre" panose="02000503000000000000" charset="0"/>
                          </a:rPr>
                        </m:ctrlPr>
                      </m:mPr>
                      <m:mr>
                        <m:e>
                          <m:sSub>
                            <m:sSubPr>
                              <m:ctrlPr>
                                <a:rPr lang="en-US" altLang="zh-CN" i="1" smtClean="0">
                                  <a:latin typeface="Cambria Math" panose="02040503050406030204" pitchFamily="18" charset="0"/>
                                  <a:ea typeface="PingFang SC" panose="020B0400000000000000" charset="-122"/>
                                </a:rPr>
                              </m:ctrlPr>
                            </m:sSubPr>
                            <m:e>
                              <m:r>
                                <m:rPr>
                                  <m:sty m:val="p"/>
                                </m:rPr>
                                <a:rPr lang="en-US" altLang="zh-CN">
                                  <a:latin typeface="Cambria Math" panose="02040503050406030204" pitchFamily="18" charset="0"/>
                                  <a:ea typeface="PingFang SC" panose="020B0400000000000000" charset="-122"/>
                                  <a:cs typeface="DejaVu Math TeX Gyre" panose="02000503000000000000" charset="0"/>
                                </a:rPr>
                                <m:t>gdpgr</m:t>
                              </m:r>
                            </m:e>
                            <m:sub>
                              <m:r>
                                <a:rPr lang="en-US" altLang="zh-CN" b="0" i="1" smtClean="0">
                                  <a:latin typeface="Cambria Math" panose="02040503050406030204" pitchFamily="18" charset="0"/>
                                  <a:ea typeface="PingFang SC" panose="020B0400000000000000" charset="-122"/>
                                </a:rPr>
                                <m:t>𝑡</m:t>
                              </m:r>
                              <m:r>
                                <a:rPr lang="en-US" altLang="zh-CN" b="0" i="1" smtClean="0">
                                  <a:latin typeface="Cambria Math" panose="02040503050406030204" pitchFamily="18" charset="0"/>
                                  <a:ea typeface="PingFang SC" panose="020B0400000000000000" charset="-122"/>
                                </a:rPr>
                                <m:t>−1</m:t>
                              </m:r>
                            </m:sub>
                          </m:sSub>
                        </m:e>
                      </m:mr>
                      <m:mr>
                        <m:e>
                          <m:sSub>
                            <m:sSubPr>
                              <m:ctrlPr>
                                <a:rPr lang="en-US" altLang="zh-CN" i="1">
                                  <a:latin typeface="Cambria Math" panose="02040503050406030204" pitchFamily="18" charset="0"/>
                                  <a:ea typeface="PingFang SC" panose="020B0400000000000000" charset="-122"/>
                                </a:rPr>
                              </m:ctrlPr>
                            </m:sSubPr>
                            <m:e>
                              <m:r>
                                <m:rPr>
                                  <m:sty m:val="p"/>
                                </m:rPr>
                                <a:rPr lang="en-US" altLang="zh-CN" b="0" i="0" smtClean="0">
                                  <a:latin typeface="Cambria Math" panose="02040503050406030204" pitchFamily="18" charset="0"/>
                                  <a:ea typeface="PingFang SC" panose="020B0400000000000000" charset="-122"/>
                                  <a:cs typeface="DejaVu Math TeX Gyre" panose="02000503000000000000" charset="0"/>
                                </a:rPr>
                                <m:t>shagr</m:t>
                              </m:r>
                            </m:e>
                            <m:sub>
                              <m:r>
                                <a:rPr lang="en-US" altLang="zh-CN" i="1">
                                  <a:latin typeface="Cambria Math" panose="02040503050406030204" pitchFamily="18" charset="0"/>
                                  <a:ea typeface="PingFang SC" panose="020B0400000000000000" charset="-122"/>
                                </a:rPr>
                                <m:t>𝑡</m:t>
                              </m:r>
                              <m:r>
                                <a:rPr lang="en-US" altLang="zh-CN" i="1">
                                  <a:latin typeface="Cambria Math" panose="02040503050406030204" pitchFamily="18" charset="0"/>
                                  <a:ea typeface="PingFang SC" panose="020B0400000000000000" charset="-122"/>
                                </a:rPr>
                                <m:t>−1</m:t>
                              </m:r>
                            </m:sub>
                          </m:sSub>
                        </m:e>
                      </m:mr>
                    </m:m>
                  </m:oMath>
                </a14:m>
                <a:r>
                  <a:rPr lang="en-US" altLang="zh-CN" dirty="0">
                    <a:latin typeface="PingFang SC" panose="020B0400000000000000" charset="-122"/>
                    <a:ea typeface="PingFang SC" panose="020B0400000000000000" charset="-122"/>
                    <a:cs typeface="DejaVu Math TeX Gyre" panose="02000503000000000000" charset="0"/>
                    <a:sym typeface="+mn-ea"/>
                  </a:rPr>
                  <a:t>]</a:t>
                </a:r>
                <a:r>
                  <a:rPr lang="en-US" altLang="zh-CN" dirty="0">
                    <a:latin typeface="PingFang SC" panose="020B0400000000000000" charset="-122"/>
                    <a:ea typeface="PingFang SC" panose="020B0400000000000000" charset="-122"/>
                    <a:cs typeface="DejaVu Math TeX Gyre" panose="02000503000000000000" charset="0"/>
                  </a:rPr>
                  <a:t>+[</a:t>
                </a:r>
                <a14:m>
                  <m:oMath xmlns:m="http://schemas.openxmlformats.org/officeDocument/2006/math">
                    <m:m>
                      <m:mPr>
                        <m:mcs>
                          <m:mc>
                            <m:mcPr>
                              <m:count m:val="1"/>
                              <m:mcJc m:val="center"/>
                            </m:mcPr>
                          </m:mc>
                        </m:mcs>
                        <m:ctrlPr>
                          <a:rPr lang="en-US" altLang="zh-CN" i="1">
                            <a:latin typeface="Cambria Math" panose="02040503050406030204" pitchFamily="18" charset="0"/>
                            <a:ea typeface="PingFang SC" panose="020B0400000000000000" charset="-122"/>
                            <a:cs typeface="DejaVu Math TeX Gyre" panose="02000503000000000000" charset="0"/>
                          </a:rPr>
                        </m:ctrlPr>
                      </m:mPr>
                      <m:mr>
                        <m:e>
                          <m:r>
                            <a:rPr lang="en-US" altLang="zh-CN" i="0">
                              <a:latin typeface="Cambria Math" panose="02040503050406030204" pitchFamily="18" charset="0"/>
                              <a:ea typeface="PingFang SC" panose="020B0400000000000000" charset="-122"/>
                              <a:cs typeface="DejaVu Math TeX Gyre" panose="02000503000000000000" charset="0"/>
                            </a:rPr>
                            <m:t>2.6717</m:t>
                          </m:r>
                        </m:e>
                      </m:mr>
                      <m:mr>
                        <m:e>
                          <m:r>
                            <a:rPr lang="en-US" altLang="zh-CN" i="0">
                              <a:latin typeface="Cambria Math" panose="02040503050406030204" pitchFamily="18" charset="0"/>
                              <a:ea typeface="PingFang SC" panose="020B0400000000000000" charset="-122"/>
                              <a:cs typeface="DejaVu Math TeX Gyre" panose="02000503000000000000" charset="0"/>
                            </a:rPr>
                            <m:t>5.6083</m:t>
                          </m:r>
                        </m:e>
                      </m:mr>
                    </m:m>
                  </m:oMath>
                </a14:m>
                <a:r>
                  <a:rPr lang="en-US" altLang="zh-CN" dirty="0">
                    <a:latin typeface="PingFang SC" panose="020B0400000000000000" charset="-122"/>
                    <a:ea typeface="PingFang SC" panose="020B0400000000000000" charset="-122"/>
                    <a:cs typeface="DejaVu Math TeX Gyre" panose="02000503000000000000" charset="0"/>
                  </a:rPr>
                  <a:t>]+ [</a:t>
                </a:r>
                <a14:m>
                  <m:oMath xmlns:m="http://schemas.openxmlformats.org/officeDocument/2006/math">
                    <m:m>
                      <m:mPr>
                        <m:mcs>
                          <m:mc>
                            <m:mcPr>
                              <m:count m:val="1"/>
                              <m:mcJc m:val="center"/>
                            </m:mcPr>
                          </m:mc>
                        </m:mcs>
                        <m:ctrlPr>
                          <a:rPr lang="en-US" altLang="zh-CN" i="1">
                            <a:latin typeface="Cambria Math" panose="02040503050406030204" pitchFamily="18" charset="0"/>
                            <a:ea typeface="PingFang SC" panose="020B0400000000000000" charset="-122"/>
                            <a:cs typeface="DejaVu Math TeX Gyre" panose="02000503000000000000" charset="0"/>
                          </a:rPr>
                        </m:ctrlPr>
                      </m:mPr>
                      <m:mr>
                        <m:e>
                          <m:r>
                            <m:rPr>
                              <m:sty m:val="p"/>
                            </m:rPr>
                            <a:rPr lang="en-US" altLang="zh-CN" i="0">
                              <a:latin typeface="Cambria Math" panose="02040503050406030204" pitchFamily="18" charset="0"/>
                              <a:ea typeface="PingFang SC" panose="020B0400000000000000" charset="-122"/>
                              <a:cs typeface="DejaVu Math TeX Gyre" panose="02000503000000000000" charset="0"/>
                            </a:rPr>
                            <m:t>ε</m:t>
                          </m:r>
                          <m:r>
                            <m:rPr>
                              <m:sty m:val="p"/>
                            </m:rPr>
                            <a:rPr lang="en-US" altLang="zh-CN" i="0" baseline="-25000">
                              <a:latin typeface="Cambria Math" panose="02040503050406030204" pitchFamily="18" charset="0"/>
                              <a:ea typeface="PingFang SC" panose="020B0400000000000000" charset="-122"/>
                              <a:cs typeface="DejaVu Math TeX Gyre" panose="02000503000000000000" charset="0"/>
                            </a:rPr>
                            <m:t>gdpgrt</m:t>
                          </m:r>
                        </m:e>
                      </m:mr>
                      <m:mr>
                        <m:e>
                          <m:r>
                            <m:rPr>
                              <m:sty m:val="p"/>
                            </m:rPr>
                            <a:rPr lang="en-US" altLang="zh-CN" i="0">
                              <a:latin typeface="Cambria Math" panose="02040503050406030204" pitchFamily="18" charset="0"/>
                              <a:ea typeface="PingFang SC" panose="020B0400000000000000" charset="-122"/>
                              <a:cs typeface="DejaVu Math TeX Gyre" panose="02000503000000000000" charset="0"/>
                            </a:rPr>
                            <m:t>ε</m:t>
                          </m:r>
                          <m:r>
                            <m:rPr>
                              <m:sty m:val="p"/>
                            </m:rPr>
                            <a:rPr lang="en-US" altLang="zh-CN" i="0" baseline="-25000">
                              <a:latin typeface="Cambria Math" panose="02040503050406030204" pitchFamily="18" charset="0"/>
                              <a:ea typeface="PingFang SC" panose="020B0400000000000000" charset="-122"/>
                              <a:cs typeface="DejaVu Math TeX Gyre" panose="02000503000000000000" charset="0"/>
                            </a:rPr>
                            <m:t>shagrt</m:t>
                          </m:r>
                        </m:e>
                      </m:mr>
                    </m:m>
                  </m:oMath>
                </a14:m>
                <a:r>
                  <a:rPr lang="en-US" altLang="zh-CN" dirty="0">
                    <a:latin typeface="PingFang SC" panose="020B0400000000000000" charset="-122"/>
                    <a:ea typeface="PingFang SC" panose="020B0400000000000000" charset="-122"/>
                    <a:cs typeface="DejaVu Math TeX Gyre" panose="02000503000000000000" charset="0"/>
                  </a:rPr>
                  <a:t>]</a:t>
                </a:r>
              </a:p>
              <a:p>
                <a:pPr marL="0" indent="0">
                  <a:buNone/>
                </a:pPr>
                <a:endParaRPr lang="en-US" altLang="zh-CN" i="1" dirty="0">
                  <a:latin typeface="PingFang SC" panose="020B0400000000000000" charset="-122"/>
                  <a:ea typeface="PingFang SC" panose="020B0400000000000000" charset="-122"/>
                  <a:cs typeface="DejaVu Math TeX Gyre" panose="02000503000000000000"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07315" y="908685"/>
                <a:ext cx="8689975" cy="2157095"/>
              </a:xfrm>
              <a:blipFill>
                <a:blip r:embed="rId2"/>
                <a:stretch>
                  <a:fillRect l="-1333"/>
                </a:stretch>
              </a:blipFill>
            </p:spPr>
            <p:txBody>
              <a:bodyPr/>
              <a:lstStyle/>
              <a:p>
                <a:r>
                  <a:rPr lang="zh-CN" altLang="en-US">
                    <a:noFill/>
                  </a:rPr>
                  <a:t> </a:t>
                </a:r>
              </a:p>
            </p:txBody>
          </p:sp>
        </mc:Fallback>
      </mc:AlternateContent>
      <p:sp>
        <p:nvSpPr>
          <p:cNvPr id="4" name="文本框 3"/>
          <p:cNvSpPr txBox="1"/>
          <p:nvPr/>
        </p:nvSpPr>
        <p:spPr>
          <a:xfrm>
            <a:off x="179705" y="2564765"/>
            <a:ext cx="4572000" cy="398780"/>
          </a:xfrm>
          <a:prstGeom prst="rect">
            <a:avLst/>
          </a:prstGeom>
          <a:noFill/>
        </p:spPr>
        <p:txBody>
          <a:bodyPr wrap="square" rtlCol="0" anchor="t">
            <a:spAutoFit/>
          </a:bodyPr>
          <a:lstStyle/>
          <a:p>
            <a:r>
              <a:rPr lang="en-US" altLang="zh-CN" b="1" dirty="0">
                <a:sym typeface="+mn-ea"/>
              </a:rPr>
              <a:t>Meaning of coefficient：</a:t>
            </a:r>
          </a:p>
        </p:txBody>
      </p:sp>
      <p:sp>
        <p:nvSpPr>
          <p:cNvPr id="5" name="文本框 4"/>
          <p:cNvSpPr txBox="1"/>
          <p:nvPr/>
        </p:nvSpPr>
        <p:spPr>
          <a:xfrm>
            <a:off x="205105" y="3356610"/>
            <a:ext cx="8591550" cy="2553335"/>
          </a:xfrm>
          <a:prstGeom prst="rect">
            <a:avLst/>
          </a:prstGeom>
          <a:noFill/>
        </p:spPr>
        <p:txBody>
          <a:bodyPr wrap="square" rtlCol="0" anchor="t">
            <a:spAutoFit/>
          </a:bodyPr>
          <a:lstStyle/>
          <a:p>
            <a:pPr marL="342900" indent="-342900" algn="just">
              <a:buFont typeface="Arial" panose="020B0604020202090204" pitchFamily="34" charset="0"/>
              <a:buChar char="•"/>
            </a:pPr>
            <a:r>
              <a:rPr lang="en-US" altLang="zh-CN" dirty="0">
                <a:sym typeface="+mn-ea"/>
              </a:rPr>
              <a:t>-0.086816 represents the impact of </a:t>
            </a:r>
            <a:r>
              <a:rPr lang="en-US" altLang="zh-CN" dirty="0" err="1">
                <a:sym typeface="+mn-ea"/>
              </a:rPr>
              <a:t>gdpgr</a:t>
            </a:r>
            <a:r>
              <a:rPr lang="en-US" altLang="zh-CN" dirty="0">
                <a:sym typeface="+mn-ea"/>
              </a:rPr>
              <a:t> at time t-1 on </a:t>
            </a:r>
            <a:r>
              <a:rPr lang="en-US" altLang="zh-CN" dirty="0" err="1">
                <a:sym typeface="+mn-ea"/>
              </a:rPr>
              <a:t>gdpgr</a:t>
            </a:r>
            <a:r>
              <a:rPr lang="en-US" altLang="zh-CN" dirty="0">
                <a:sym typeface="+mn-ea"/>
              </a:rPr>
              <a:t> at time t, indicating that changes in </a:t>
            </a:r>
            <a:r>
              <a:rPr lang="en-US" altLang="zh-CN" dirty="0" err="1">
                <a:sym typeface="+mn-ea"/>
              </a:rPr>
              <a:t>gdpgr</a:t>
            </a:r>
            <a:r>
              <a:rPr lang="en-US" altLang="zh-CN" dirty="0">
                <a:sym typeface="+mn-ea"/>
              </a:rPr>
              <a:t> from the previous period have a negative effect on the current period's </a:t>
            </a:r>
            <a:r>
              <a:rPr lang="en-US" altLang="zh-CN" dirty="0" err="1">
                <a:sym typeface="+mn-ea"/>
              </a:rPr>
              <a:t>gdpgr</a:t>
            </a:r>
            <a:r>
              <a:rPr lang="en-US" altLang="zh-CN" dirty="0">
                <a:sym typeface="+mn-ea"/>
              </a:rPr>
              <a:t>.</a:t>
            </a:r>
            <a:endParaRPr lang="en-US" altLang="zh-CN" dirty="0"/>
          </a:p>
          <a:p>
            <a:pPr algn="just"/>
            <a:endParaRPr lang="en-US" altLang="zh-CN" dirty="0"/>
          </a:p>
          <a:p>
            <a:pPr marL="342900" indent="-342900" algn="just">
              <a:buFont typeface="Arial" panose="020B0604020202090204" pitchFamily="34" charset="0"/>
              <a:buChar char="•"/>
            </a:pPr>
            <a:r>
              <a:rPr lang="en-US" altLang="zh-CN" dirty="0">
                <a:sym typeface="+mn-ea"/>
              </a:rPr>
              <a:t>0.0419911 represents the impact of </a:t>
            </a:r>
            <a:r>
              <a:rPr lang="en-US" altLang="zh-CN" dirty="0" err="1">
                <a:sym typeface="+mn-ea"/>
              </a:rPr>
              <a:t>shagr</a:t>
            </a:r>
            <a:r>
              <a:rPr lang="en-US" altLang="zh-CN" dirty="0">
                <a:sym typeface="+mn-ea"/>
              </a:rPr>
              <a:t> at time t-1 on </a:t>
            </a:r>
            <a:r>
              <a:rPr lang="en-US" altLang="zh-CN" dirty="0" err="1">
                <a:sym typeface="+mn-ea"/>
              </a:rPr>
              <a:t>gdpgr</a:t>
            </a:r>
            <a:r>
              <a:rPr lang="en-US" altLang="zh-CN" dirty="0">
                <a:sym typeface="+mn-ea"/>
              </a:rPr>
              <a:t> at time t, indicating that changes in stock prices positively influence the economic growth rate.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Final function</a:t>
            </a:r>
            <a:endParaRPr lang="zh-CN" altLang="en-US" dirty="0"/>
          </a:p>
        </p:txBody>
      </p:sp>
      <p:sp>
        <p:nvSpPr>
          <p:cNvPr id="3" name="内容占位符 2"/>
          <p:cNvSpPr>
            <a:spLocks noGrp="1"/>
          </p:cNvSpPr>
          <p:nvPr>
            <p:ph idx="1"/>
          </p:nvPr>
        </p:nvSpPr>
        <p:spPr>
          <a:xfrm>
            <a:off x="107504" y="1229387"/>
            <a:ext cx="8413115" cy="5112385"/>
          </a:xfrm>
        </p:spPr>
        <p:txBody>
          <a:bodyPr/>
          <a:lstStyle/>
          <a:p>
            <a:pPr algn="just"/>
            <a:endParaRPr lang="en-US" altLang="zh-CN" sz="2000" kern="1200" dirty="0">
              <a:latin typeface="Verdana" panose="020B0804030504040204" pitchFamily="34" charset="0"/>
              <a:cs typeface="+mn-cs"/>
              <a:sym typeface="+mn-ea"/>
            </a:endParaRPr>
          </a:p>
          <a:p>
            <a:pPr marL="0" indent="0" algn="just">
              <a:buNone/>
            </a:pPr>
            <a:r>
              <a:rPr lang="en-US" altLang="zh-CN" sz="2000" b="1" kern="1200" dirty="0">
                <a:latin typeface="Verdana" panose="020B0804030504040204" pitchFamily="34" charset="0"/>
                <a:cs typeface="+mn-cs"/>
                <a:sym typeface="+mn-ea"/>
              </a:rPr>
              <a:t>   </a:t>
            </a:r>
          </a:p>
          <a:p>
            <a:pPr marL="0" indent="0" algn="just">
              <a:buNone/>
            </a:pPr>
            <a:endParaRPr lang="en-US" altLang="zh-CN" sz="2000" b="1" kern="1200" dirty="0">
              <a:latin typeface="Verdana" panose="020B0804030504040204" pitchFamily="34" charset="0"/>
              <a:cs typeface="+mn-cs"/>
              <a:sym typeface="+mn-ea"/>
            </a:endParaRPr>
          </a:p>
          <a:p>
            <a:pPr marL="0" indent="0" algn="just">
              <a:buNone/>
            </a:pPr>
            <a:endParaRPr lang="en-US" altLang="zh-CN" sz="2000" b="1" kern="1200" dirty="0">
              <a:latin typeface="Verdana" panose="020B0804030504040204" pitchFamily="34" charset="0"/>
              <a:cs typeface="+mn-cs"/>
              <a:sym typeface="+mn-ea"/>
            </a:endParaRPr>
          </a:p>
          <a:p>
            <a:pPr marL="0" indent="0" algn="just">
              <a:buNone/>
            </a:pPr>
            <a:r>
              <a:rPr lang="en-US" altLang="zh-CN" sz="2000" b="1" kern="1200" dirty="0">
                <a:latin typeface="Verdana" panose="020B0804030504040204" pitchFamily="34" charset="0"/>
                <a:cs typeface="+mn-cs"/>
                <a:sym typeface="+mn-ea"/>
              </a:rPr>
              <a:t>Meaning of coefficient：</a:t>
            </a:r>
          </a:p>
          <a:p>
            <a:pPr marL="0" indent="0" algn="just">
              <a:buNone/>
            </a:pPr>
            <a:endParaRPr lang="en-US" altLang="zh-CN" sz="2000" kern="1200" dirty="0">
              <a:latin typeface="Verdana" panose="020B0804030504040204" pitchFamily="34" charset="0"/>
              <a:cs typeface="+mn-cs"/>
              <a:sym typeface="+mn-ea"/>
            </a:endParaRPr>
          </a:p>
          <a:p>
            <a:pPr algn="just"/>
            <a:r>
              <a:rPr lang="en-US" altLang="zh-CN" sz="2000" kern="1200" dirty="0">
                <a:latin typeface="Verdana" panose="020B0804030504040204" pitchFamily="34" charset="0"/>
                <a:cs typeface="+mn-cs"/>
                <a:sym typeface="+mn-ea"/>
              </a:rPr>
              <a:t>-0.4691641 represents the impact of </a:t>
            </a:r>
            <a:r>
              <a:rPr lang="en-US" altLang="zh-CN" sz="2000" kern="1200" dirty="0" err="1">
                <a:latin typeface="Verdana" panose="020B0804030504040204" pitchFamily="34" charset="0"/>
                <a:cs typeface="+mn-cs"/>
                <a:sym typeface="+mn-ea"/>
              </a:rPr>
              <a:t>gdpgr</a:t>
            </a:r>
            <a:r>
              <a:rPr lang="en-US" altLang="zh-CN" sz="2000" kern="1200" dirty="0">
                <a:latin typeface="Verdana" panose="020B0804030504040204" pitchFamily="34" charset="0"/>
                <a:cs typeface="+mn-cs"/>
                <a:sym typeface="+mn-ea"/>
              </a:rPr>
              <a:t> at time t-1 on </a:t>
            </a:r>
            <a:r>
              <a:rPr lang="en-US" altLang="zh-CN" sz="2000" kern="1200" dirty="0" err="1">
                <a:latin typeface="Verdana" panose="020B0804030504040204" pitchFamily="34" charset="0"/>
                <a:cs typeface="+mn-cs"/>
                <a:sym typeface="+mn-ea"/>
              </a:rPr>
              <a:t>shagr</a:t>
            </a:r>
            <a:r>
              <a:rPr lang="en-US" altLang="zh-CN" sz="2000" kern="1200" dirty="0">
                <a:latin typeface="Verdana" panose="020B0804030504040204" pitchFamily="34" charset="0"/>
                <a:cs typeface="+mn-cs"/>
                <a:sym typeface="+mn-ea"/>
              </a:rPr>
              <a:t> at time t, indicating that changes in the economic growth rate negatively affect stock price changes.</a:t>
            </a:r>
            <a:endParaRPr lang="en-US" altLang="zh-CN" sz="2000" kern="1200" dirty="0">
              <a:latin typeface="Verdana" panose="020B0804030504040204" pitchFamily="34" charset="0"/>
              <a:cs typeface="+mn-cs"/>
            </a:endParaRPr>
          </a:p>
          <a:p>
            <a:pPr algn="just"/>
            <a:endParaRPr lang="en-US" altLang="zh-CN" sz="2000" kern="1200" dirty="0">
              <a:latin typeface="Verdana" panose="020B0804030504040204" pitchFamily="34" charset="0"/>
              <a:cs typeface="+mn-cs"/>
            </a:endParaRPr>
          </a:p>
          <a:p>
            <a:pPr algn="just"/>
            <a:r>
              <a:rPr lang="en-US" altLang="zh-CN" sz="2000" kern="1200" dirty="0">
                <a:latin typeface="Verdana" panose="020B0804030504040204" pitchFamily="34" charset="0"/>
                <a:cs typeface="+mn-cs"/>
                <a:sym typeface="+mn-ea"/>
              </a:rPr>
              <a:t>0.3332946 represents the impact of </a:t>
            </a:r>
            <a:r>
              <a:rPr lang="en-US" altLang="zh-CN" sz="2000" kern="1200" dirty="0" err="1">
                <a:latin typeface="Verdana" panose="020B0804030504040204" pitchFamily="34" charset="0"/>
                <a:cs typeface="+mn-cs"/>
                <a:sym typeface="+mn-ea"/>
              </a:rPr>
              <a:t>shagr</a:t>
            </a:r>
            <a:r>
              <a:rPr lang="en-US" altLang="zh-CN" sz="2000" kern="1200" dirty="0">
                <a:latin typeface="Verdana" panose="020B0804030504040204" pitchFamily="34" charset="0"/>
                <a:cs typeface="+mn-cs"/>
                <a:sym typeface="+mn-ea"/>
              </a:rPr>
              <a:t> at time t-1 on </a:t>
            </a:r>
            <a:r>
              <a:rPr lang="en-US" altLang="zh-CN" sz="2000" kern="1200" dirty="0" err="1">
                <a:latin typeface="Verdana" panose="020B0804030504040204" pitchFamily="34" charset="0"/>
                <a:cs typeface="+mn-cs"/>
                <a:sym typeface="+mn-ea"/>
              </a:rPr>
              <a:t>shagr</a:t>
            </a:r>
            <a:r>
              <a:rPr lang="en-US" altLang="zh-CN" sz="2000" kern="1200" dirty="0">
                <a:latin typeface="Verdana" panose="020B0804030504040204" pitchFamily="34" charset="0"/>
                <a:cs typeface="+mn-cs"/>
                <a:sym typeface="+mn-ea"/>
              </a:rPr>
              <a:t> at time t, indicating that changes in stock prices positively affect the current period's stock price.</a:t>
            </a:r>
            <a:endParaRPr lang="en-US" altLang="zh-CN" sz="2000" kern="1200" dirty="0">
              <a:latin typeface="Verdana" panose="020B0804030504040204" pitchFamily="34" charset="0"/>
              <a:cs typeface="+mn-cs"/>
            </a:endParaRPr>
          </a:p>
          <a:p>
            <a:pPr algn="just"/>
            <a:endParaRPr lang="zh-CN" altLang="en-US" dirty="0"/>
          </a:p>
        </p:txBody>
      </p:sp>
      <mc:AlternateContent xmlns:mc="http://schemas.openxmlformats.org/markup-compatibility/2006">
        <mc:Choice xmlns:a14="http://schemas.microsoft.com/office/drawing/2010/main" Requires="a14">
          <p:sp>
            <p:nvSpPr>
              <p:cNvPr id="5" name="内容占位符 2">
                <a:extLst>
                  <a:ext uri="{FF2B5EF4-FFF2-40B4-BE49-F238E27FC236}">
                    <a16:creationId xmlns:a16="http://schemas.microsoft.com/office/drawing/2014/main" id="{08A1D20C-D29C-548B-5A02-96770C37FA4C}"/>
                  </a:ext>
                </a:extLst>
              </p:cNvPr>
              <p:cNvSpPr txBox="1">
                <a:spLocks/>
              </p:cNvSpPr>
              <p:nvPr/>
            </p:nvSpPr>
            <p:spPr bwMode="auto">
              <a:xfrm>
                <a:off x="104908" y="1229387"/>
                <a:ext cx="8689975" cy="2157095"/>
              </a:xfrm>
              <a:prstGeom prst="rect">
                <a:avLst/>
              </a:prstGeom>
              <a:noFill/>
              <a:ln w="9525">
                <a:noFill/>
                <a:miter lim="800000"/>
              </a:ln>
            </p:spPr>
            <p:txBody>
              <a:bodyPr vert="horz" wrap="square" lIns="91440" tIns="45720" rIns="0" bIns="45720" numCol="1" anchor="t" anchorCtr="0" compatLnSpc="1"/>
              <a:lstStyle>
                <a:lvl1pPr marL="342900" indent="-342900" algn="l" rtl="0" eaLnBrk="0" fontAlgn="base" hangingPunct="0">
                  <a:spcBef>
                    <a:spcPts val="600"/>
                  </a:spcBef>
                  <a:spcAft>
                    <a:spcPct val="0"/>
                  </a:spcAft>
                  <a:buChar char="•"/>
                  <a:defRPr sz="24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ts val="600"/>
                  </a:spcBef>
                  <a:spcAft>
                    <a:spcPct val="0"/>
                  </a:spcAft>
                  <a:buChar char="–"/>
                  <a:defRPr sz="22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16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a:solidFill>
                      <a:schemeClr val="tx1"/>
                    </a:solidFill>
                    <a:latin typeface="+mn-lt"/>
                    <a:ea typeface="MS PGothic" panose="020B0600070205080204" pitchFamily="34" charset="-128"/>
                  </a:defRPr>
                </a:lvl6pPr>
                <a:lvl7pPr marL="2971800" indent="-228600" algn="l" rtl="0" fontAlgn="base">
                  <a:spcBef>
                    <a:spcPct val="20000"/>
                  </a:spcBef>
                  <a:spcAft>
                    <a:spcPct val="0"/>
                  </a:spcAft>
                  <a:buChar char="»"/>
                  <a:defRPr>
                    <a:solidFill>
                      <a:schemeClr val="tx1"/>
                    </a:solidFill>
                    <a:latin typeface="+mn-lt"/>
                    <a:ea typeface="MS PGothic" panose="020B0600070205080204" pitchFamily="34" charset="-128"/>
                  </a:defRPr>
                </a:lvl7pPr>
                <a:lvl8pPr marL="3429000" indent="-228600" algn="l" rtl="0" fontAlgn="base">
                  <a:spcBef>
                    <a:spcPct val="20000"/>
                  </a:spcBef>
                  <a:spcAft>
                    <a:spcPct val="0"/>
                  </a:spcAft>
                  <a:buChar char="»"/>
                  <a:defRPr>
                    <a:solidFill>
                      <a:schemeClr val="tx1"/>
                    </a:solidFill>
                    <a:latin typeface="+mn-lt"/>
                    <a:ea typeface="MS PGothic" panose="020B0600070205080204" pitchFamily="34" charset="-128"/>
                  </a:defRPr>
                </a:lvl8pPr>
                <a:lvl9pPr marL="3886200" indent="-228600" algn="l" rtl="0" fontAlgn="base">
                  <a:spcBef>
                    <a:spcPct val="20000"/>
                  </a:spcBef>
                  <a:spcAft>
                    <a:spcPct val="0"/>
                  </a:spcAft>
                  <a:buChar char="»"/>
                  <a:defRPr>
                    <a:solidFill>
                      <a:schemeClr val="tx1"/>
                    </a:solidFill>
                    <a:latin typeface="+mn-lt"/>
                    <a:ea typeface="MS PGothic" panose="020B0600070205080204" pitchFamily="34" charset="-128"/>
                  </a:defRPr>
                </a:lvl9pPr>
              </a:lstStyle>
              <a:p>
                <a:r>
                  <a:rPr lang="en-US" altLang="zh-CN" kern="0" dirty="0">
                    <a:latin typeface="PingFang SC" panose="020B0400000000000000" charset="-122"/>
                    <a:ea typeface="PingFang SC" panose="020B0400000000000000" charset="-122"/>
                    <a:cs typeface="DejaVu Math TeX Gyre" panose="02000503000000000000" charset="0"/>
                    <a:sym typeface="+mn-ea"/>
                  </a:rPr>
                  <a:t>[</a:t>
                </a:r>
                <a14:m>
                  <m:oMath xmlns:m="http://schemas.openxmlformats.org/officeDocument/2006/math">
                    <m:m>
                      <m:mPr>
                        <m:mcs>
                          <m:mc>
                            <m:mcPr>
                              <m:count m:val="1"/>
                              <m:mcJc m:val="center"/>
                            </m:mcPr>
                          </m:mc>
                        </m:mcs>
                        <m:ctrlPr>
                          <a:rPr lang="en-US" altLang="zh-CN" i="1" kern="0">
                            <a:latin typeface="Cambria Math" panose="02040503050406030204" pitchFamily="18" charset="0"/>
                            <a:ea typeface="PingFang SC" panose="020B0400000000000000" charset="-122"/>
                            <a:cs typeface="DejaVu Math TeX Gyre" panose="02000503000000000000" charset="0"/>
                          </a:rPr>
                        </m:ctrlPr>
                      </m:mPr>
                      <m:mr>
                        <m:e>
                          <m:r>
                            <m:rPr>
                              <m:sty m:val="p"/>
                            </m:rPr>
                            <a:rPr lang="en-US" altLang="zh-CN" kern="0">
                              <a:latin typeface="Cambria Math" panose="02040503050406030204" pitchFamily="18" charset="0"/>
                              <a:ea typeface="PingFang SC" panose="020B0400000000000000" charset="-122"/>
                              <a:cs typeface="DejaVu Math TeX Gyre" panose="02000503000000000000" charset="0"/>
                            </a:rPr>
                            <m:t>gdpgr</m:t>
                          </m:r>
                          <m:r>
                            <m:rPr>
                              <m:sty m:val="p"/>
                            </m:rPr>
                            <a:rPr lang="en-US" altLang="zh-CN" kern="0" baseline="-25000">
                              <a:latin typeface="Cambria Math" panose="02040503050406030204" pitchFamily="18" charset="0"/>
                              <a:ea typeface="PingFang SC" panose="020B0400000000000000" charset="-122"/>
                              <a:cs typeface="DejaVu Math TeX Gyre" panose="02000503000000000000" charset="0"/>
                            </a:rPr>
                            <m:t>t</m:t>
                          </m:r>
                        </m:e>
                      </m:mr>
                      <m:mr>
                        <m:e>
                          <m:r>
                            <m:rPr>
                              <m:sty m:val="p"/>
                            </m:rPr>
                            <a:rPr lang="en-US" altLang="zh-CN" kern="0">
                              <a:latin typeface="Cambria Math" panose="02040503050406030204" pitchFamily="18" charset="0"/>
                              <a:ea typeface="PingFang SC" panose="020B0400000000000000" charset="-122"/>
                              <a:cs typeface="DejaVu Math TeX Gyre" panose="02000503000000000000" charset="0"/>
                            </a:rPr>
                            <m:t>shagr</m:t>
                          </m:r>
                          <m:r>
                            <m:rPr>
                              <m:sty m:val="p"/>
                            </m:rPr>
                            <a:rPr lang="en-US" altLang="zh-CN" kern="0" baseline="-25000">
                              <a:latin typeface="Cambria Math" panose="02040503050406030204" pitchFamily="18" charset="0"/>
                              <a:ea typeface="PingFang SC" panose="020B0400000000000000" charset="-122"/>
                              <a:cs typeface="DejaVu Math TeX Gyre" panose="02000503000000000000" charset="0"/>
                            </a:rPr>
                            <m:t>t</m:t>
                          </m:r>
                        </m:e>
                      </m:mr>
                    </m:m>
                  </m:oMath>
                </a14:m>
                <a:r>
                  <a:rPr lang="en-US" altLang="zh-CN" kern="0" dirty="0">
                    <a:latin typeface="PingFang SC" panose="020B0400000000000000" charset="-122"/>
                    <a:ea typeface="PingFang SC" panose="020B0400000000000000" charset="-122"/>
                    <a:cs typeface="DejaVu Math TeX Gyre" panose="02000503000000000000" charset="0"/>
                  </a:rPr>
                  <a:t>]=[</a:t>
                </a:r>
                <a14:m>
                  <m:oMath xmlns:m="http://schemas.openxmlformats.org/officeDocument/2006/math">
                    <m:m>
                      <m:mPr>
                        <m:mcs>
                          <m:mc>
                            <m:mcPr>
                              <m:count m:val="2"/>
                              <m:mcJc m:val="center"/>
                            </m:mcPr>
                          </m:mc>
                        </m:mcs>
                        <m:ctrlPr>
                          <a:rPr lang="en-US" altLang="zh-CN" i="1" kern="0">
                            <a:latin typeface="Cambria Math" panose="02040503050406030204" pitchFamily="18" charset="0"/>
                            <a:ea typeface="PingFang SC" panose="020B0400000000000000" charset="-122"/>
                            <a:cs typeface="DejaVu Math TeX Gyre" panose="02000503000000000000" charset="0"/>
                          </a:rPr>
                        </m:ctrlPr>
                      </m:mPr>
                      <m:mr>
                        <m:e>
                          <m:r>
                            <a:rPr lang="en-US" altLang="zh-CN" kern="0">
                              <a:latin typeface="Cambria Math" panose="02040503050406030204" pitchFamily="18" charset="0"/>
                              <a:ea typeface="PingFang SC" panose="020B0400000000000000" charset="-122"/>
                              <a:cs typeface="DejaVu Math TeX Gyre" panose="02000503000000000000" charset="0"/>
                            </a:rPr>
                            <m:t>−0.0868</m:t>
                          </m:r>
                        </m:e>
                        <m:e>
                          <m:r>
                            <a:rPr lang="en-US" altLang="zh-CN" kern="0">
                              <a:latin typeface="Cambria Math" panose="02040503050406030204" pitchFamily="18" charset="0"/>
                              <a:ea typeface="PingFang SC" panose="020B0400000000000000" charset="-122"/>
                              <a:cs typeface="DejaVu Math TeX Gyre" panose="02000503000000000000" charset="0"/>
                            </a:rPr>
                            <m:t>0.0420</m:t>
                          </m:r>
                        </m:e>
                      </m:mr>
                      <m:mr>
                        <m:e>
                          <m:r>
                            <a:rPr lang="en-US" altLang="zh-CN" kern="0">
                              <a:latin typeface="Cambria Math" panose="02040503050406030204" pitchFamily="18" charset="0"/>
                              <a:ea typeface="PingFang SC" panose="020B0400000000000000" charset="-122"/>
                              <a:cs typeface="DejaVu Math TeX Gyre" panose="02000503000000000000" charset="0"/>
                            </a:rPr>
                            <m:t>−0.4692</m:t>
                          </m:r>
                        </m:e>
                        <m:e>
                          <m:r>
                            <a:rPr lang="en-US" altLang="zh-CN" kern="0">
                              <a:latin typeface="Cambria Math" panose="02040503050406030204" pitchFamily="18" charset="0"/>
                              <a:ea typeface="PingFang SC" panose="020B0400000000000000" charset="-122"/>
                              <a:cs typeface="DejaVu Math TeX Gyre" panose="02000503000000000000" charset="0"/>
                            </a:rPr>
                            <m:t>0.3333</m:t>
                          </m:r>
                        </m:e>
                      </m:mr>
                    </m:m>
                  </m:oMath>
                </a14:m>
                <a:r>
                  <a:rPr lang="en-US" altLang="zh-CN" kern="0" dirty="0">
                    <a:latin typeface="PingFang SC" panose="020B0400000000000000" charset="-122"/>
                    <a:ea typeface="PingFang SC" panose="020B0400000000000000" charset="-122"/>
                    <a:cs typeface="DejaVu Math TeX Gyre" panose="02000503000000000000" charset="0"/>
                  </a:rPr>
                  <a:t>]</a:t>
                </a:r>
                <a:r>
                  <a:rPr lang="en-US" altLang="zh-CN" kern="0" dirty="0">
                    <a:latin typeface="PingFang SC" panose="020B0400000000000000" charset="-122"/>
                    <a:ea typeface="PingFang SC" panose="020B0400000000000000" charset="-122"/>
                    <a:cs typeface="DejaVu Math TeX Gyre" panose="02000503000000000000" charset="0"/>
                    <a:sym typeface="+mn-ea"/>
                  </a:rPr>
                  <a:t>[</a:t>
                </a:r>
                <a14:m>
                  <m:oMath xmlns:m="http://schemas.openxmlformats.org/officeDocument/2006/math">
                    <m:m>
                      <m:mPr>
                        <m:mcs>
                          <m:mc>
                            <m:mcPr>
                              <m:count m:val="1"/>
                              <m:mcJc m:val="center"/>
                            </m:mcPr>
                          </m:mc>
                        </m:mcs>
                        <m:ctrlPr>
                          <a:rPr lang="en-US" altLang="zh-CN" i="1" kern="0" smtClean="0">
                            <a:latin typeface="Cambria Math" panose="02040503050406030204" pitchFamily="18" charset="0"/>
                            <a:ea typeface="PingFang SC" panose="020B0400000000000000" charset="-122"/>
                            <a:cs typeface="DejaVu Math TeX Gyre" panose="02000503000000000000" charset="0"/>
                          </a:rPr>
                        </m:ctrlPr>
                      </m:mPr>
                      <m:mr>
                        <m:e>
                          <m:sSub>
                            <m:sSubPr>
                              <m:ctrlPr>
                                <a:rPr lang="en-US" altLang="zh-CN" i="1" kern="0" smtClean="0">
                                  <a:latin typeface="Cambria Math" panose="02040503050406030204" pitchFamily="18" charset="0"/>
                                  <a:ea typeface="PingFang SC" panose="020B0400000000000000" charset="-122"/>
                                </a:rPr>
                              </m:ctrlPr>
                            </m:sSubPr>
                            <m:e>
                              <m:r>
                                <m:rPr>
                                  <m:sty m:val="p"/>
                                </m:rPr>
                                <a:rPr lang="en-US" altLang="zh-CN" kern="0">
                                  <a:latin typeface="Cambria Math" panose="02040503050406030204" pitchFamily="18" charset="0"/>
                                  <a:ea typeface="PingFang SC" panose="020B0400000000000000" charset="-122"/>
                                  <a:cs typeface="DejaVu Math TeX Gyre" panose="02000503000000000000" charset="0"/>
                                </a:rPr>
                                <m:t>gdpgr</m:t>
                              </m:r>
                            </m:e>
                            <m:sub>
                              <m:r>
                                <a:rPr lang="en-US" altLang="zh-CN" i="1" kern="0" smtClean="0">
                                  <a:latin typeface="Cambria Math" panose="02040503050406030204" pitchFamily="18" charset="0"/>
                                  <a:ea typeface="PingFang SC" panose="020B0400000000000000" charset="-122"/>
                                </a:rPr>
                                <m:t>𝑡</m:t>
                              </m:r>
                              <m:r>
                                <a:rPr lang="en-US" altLang="zh-CN" i="1" kern="0" smtClean="0">
                                  <a:latin typeface="Cambria Math" panose="02040503050406030204" pitchFamily="18" charset="0"/>
                                  <a:ea typeface="PingFang SC" panose="020B0400000000000000" charset="-122"/>
                                </a:rPr>
                                <m:t>−1</m:t>
                              </m:r>
                            </m:sub>
                          </m:sSub>
                        </m:e>
                      </m:mr>
                      <m:mr>
                        <m:e>
                          <m:sSub>
                            <m:sSubPr>
                              <m:ctrlPr>
                                <a:rPr lang="en-US" altLang="zh-CN" i="1" kern="0">
                                  <a:latin typeface="Cambria Math" panose="02040503050406030204" pitchFamily="18" charset="0"/>
                                  <a:ea typeface="PingFang SC" panose="020B0400000000000000" charset="-122"/>
                                </a:rPr>
                              </m:ctrlPr>
                            </m:sSubPr>
                            <m:e>
                              <m:r>
                                <m:rPr>
                                  <m:sty m:val="p"/>
                                </m:rPr>
                                <a:rPr lang="en-US" altLang="zh-CN" kern="0" smtClean="0">
                                  <a:latin typeface="Cambria Math" panose="02040503050406030204" pitchFamily="18" charset="0"/>
                                  <a:ea typeface="PingFang SC" panose="020B0400000000000000" charset="-122"/>
                                  <a:cs typeface="DejaVu Math TeX Gyre" panose="02000503000000000000" charset="0"/>
                                </a:rPr>
                                <m:t>shagr</m:t>
                              </m:r>
                            </m:e>
                            <m:sub>
                              <m:r>
                                <a:rPr lang="en-US" altLang="zh-CN" i="1" kern="0">
                                  <a:latin typeface="Cambria Math" panose="02040503050406030204" pitchFamily="18" charset="0"/>
                                  <a:ea typeface="PingFang SC" panose="020B0400000000000000" charset="-122"/>
                                </a:rPr>
                                <m:t>𝑡</m:t>
                              </m:r>
                              <m:r>
                                <a:rPr lang="en-US" altLang="zh-CN" i="1" kern="0">
                                  <a:latin typeface="Cambria Math" panose="02040503050406030204" pitchFamily="18" charset="0"/>
                                  <a:ea typeface="PingFang SC" panose="020B0400000000000000" charset="-122"/>
                                </a:rPr>
                                <m:t>−1</m:t>
                              </m:r>
                            </m:sub>
                          </m:sSub>
                        </m:e>
                      </m:mr>
                    </m:m>
                  </m:oMath>
                </a14:m>
                <a:r>
                  <a:rPr lang="en-US" altLang="zh-CN" kern="0" dirty="0">
                    <a:latin typeface="PingFang SC" panose="020B0400000000000000" charset="-122"/>
                    <a:ea typeface="PingFang SC" panose="020B0400000000000000" charset="-122"/>
                    <a:cs typeface="DejaVu Math TeX Gyre" panose="02000503000000000000" charset="0"/>
                    <a:sym typeface="+mn-ea"/>
                  </a:rPr>
                  <a:t>]</a:t>
                </a:r>
                <a:r>
                  <a:rPr lang="en-US" altLang="zh-CN" kern="0" dirty="0">
                    <a:latin typeface="PingFang SC" panose="020B0400000000000000" charset="-122"/>
                    <a:ea typeface="PingFang SC" panose="020B0400000000000000" charset="-122"/>
                    <a:cs typeface="DejaVu Math TeX Gyre" panose="02000503000000000000" charset="0"/>
                  </a:rPr>
                  <a:t>+[</a:t>
                </a:r>
                <a14:m>
                  <m:oMath xmlns:m="http://schemas.openxmlformats.org/officeDocument/2006/math">
                    <m:m>
                      <m:mPr>
                        <m:mcs>
                          <m:mc>
                            <m:mcPr>
                              <m:count m:val="1"/>
                              <m:mcJc m:val="center"/>
                            </m:mcPr>
                          </m:mc>
                        </m:mcs>
                        <m:ctrlPr>
                          <a:rPr lang="en-US" altLang="zh-CN" i="1" kern="0">
                            <a:latin typeface="Cambria Math" panose="02040503050406030204" pitchFamily="18" charset="0"/>
                            <a:ea typeface="PingFang SC" panose="020B0400000000000000" charset="-122"/>
                            <a:cs typeface="DejaVu Math TeX Gyre" panose="02000503000000000000" charset="0"/>
                          </a:rPr>
                        </m:ctrlPr>
                      </m:mPr>
                      <m:mr>
                        <m:e>
                          <m:r>
                            <a:rPr lang="en-US" altLang="zh-CN" kern="0">
                              <a:latin typeface="Cambria Math" panose="02040503050406030204" pitchFamily="18" charset="0"/>
                              <a:ea typeface="PingFang SC" panose="020B0400000000000000" charset="-122"/>
                              <a:cs typeface="DejaVu Math TeX Gyre" panose="02000503000000000000" charset="0"/>
                            </a:rPr>
                            <m:t>2.6717</m:t>
                          </m:r>
                        </m:e>
                      </m:mr>
                      <m:mr>
                        <m:e>
                          <m:r>
                            <a:rPr lang="en-US" altLang="zh-CN" kern="0">
                              <a:latin typeface="Cambria Math" panose="02040503050406030204" pitchFamily="18" charset="0"/>
                              <a:ea typeface="PingFang SC" panose="020B0400000000000000" charset="-122"/>
                              <a:cs typeface="DejaVu Math TeX Gyre" panose="02000503000000000000" charset="0"/>
                            </a:rPr>
                            <m:t>5.6083</m:t>
                          </m:r>
                        </m:e>
                      </m:mr>
                    </m:m>
                  </m:oMath>
                </a14:m>
                <a:r>
                  <a:rPr lang="en-US" altLang="zh-CN" kern="0" dirty="0">
                    <a:latin typeface="PingFang SC" panose="020B0400000000000000" charset="-122"/>
                    <a:ea typeface="PingFang SC" panose="020B0400000000000000" charset="-122"/>
                    <a:cs typeface="DejaVu Math TeX Gyre" panose="02000503000000000000" charset="0"/>
                  </a:rPr>
                  <a:t>]+ [</a:t>
                </a:r>
                <a14:m>
                  <m:oMath xmlns:m="http://schemas.openxmlformats.org/officeDocument/2006/math">
                    <m:m>
                      <m:mPr>
                        <m:mcs>
                          <m:mc>
                            <m:mcPr>
                              <m:count m:val="1"/>
                              <m:mcJc m:val="center"/>
                            </m:mcPr>
                          </m:mc>
                        </m:mcs>
                        <m:ctrlPr>
                          <a:rPr lang="en-US" altLang="zh-CN" i="1" kern="0">
                            <a:latin typeface="Cambria Math" panose="02040503050406030204" pitchFamily="18" charset="0"/>
                            <a:ea typeface="PingFang SC" panose="020B0400000000000000" charset="-122"/>
                            <a:cs typeface="DejaVu Math TeX Gyre" panose="02000503000000000000" charset="0"/>
                          </a:rPr>
                        </m:ctrlPr>
                      </m:mPr>
                      <m:mr>
                        <m:e>
                          <m:r>
                            <m:rPr>
                              <m:sty m:val="p"/>
                            </m:rPr>
                            <a:rPr lang="en-US" altLang="zh-CN" kern="0">
                              <a:latin typeface="Cambria Math" panose="02040503050406030204" pitchFamily="18" charset="0"/>
                              <a:ea typeface="PingFang SC" panose="020B0400000000000000" charset="-122"/>
                              <a:cs typeface="DejaVu Math TeX Gyre" panose="02000503000000000000" charset="0"/>
                            </a:rPr>
                            <m:t>ε</m:t>
                          </m:r>
                          <m:r>
                            <m:rPr>
                              <m:sty m:val="p"/>
                            </m:rPr>
                            <a:rPr lang="en-US" altLang="zh-CN" kern="0" baseline="-25000">
                              <a:latin typeface="Cambria Math" panose="02040503050406030204" pitchFamily="18" charset="0"/>
                              <a:ea typeface="PingFang SC" panose="020B0400000000000000" charset="-122"/>
                              <a:cs typeface="DejaVu Math TeX Gyre" panose="02000503000000000000" charset="0"/>
                            </a:rPr>
                            <m:t>gdpgrt</m:t>
                          </m:r>
                        </m:e>
                      </m:mr>
                      <m:mr>
                        <m:e>
                          <m:r>
                            <m:rPr>
                              <m:sty m:val="p"/>
                            </m:rPr>
                            <a:rPr lang="en-US" altLang="zh-CN" kern="0">
                              <a:latin typeface="Cambria Math" panose="02040503050406030204" pitchFamily="18" charset="0"/>
                              <a:ea typeface="PingFang SC" panose="020B0400000000000000" charset="-122"/>
                              <a:cs typeface="DejaVu Math TeX Gyre" panose="02000503000000000000" charset="0"/>
                            </a:rPr>
                            <m:t>ε</m:t>
                          </m:r>
                          <m:r>
                            <m:rPr>
                              <m:sty m:val="p"/>
                            </m:rPr>
                            <a:rPr lang="en-US" altLang="zh-CN" kern="0" baseline="-25000">
                              <a:latin typeface="Cambria Math" panose="02040503050406030204" pitchFamily="18" charset="0"/>
                              <a:ea typeface="PingFang SC" panose="020B0400000000000000" charset="-122"/>
                              <a:cs typeface="DejaVu Math TeX Gyre" panose="02000503000000000000" charset="0"/>
                            </a:rPr>
                            <m:t>shagrt</m:t>
                          </m:r>
                        </m:e>
                      </m:mr>
                    </m:m>
                  </m:oMath>
                </a14:m>
                <a:r>
                  <a:rPr lang="en-US" altLang="zh-CN" kern="0" dirty="0">
                    <a:latin typeface="PingFang SC" panose="020B0400000000000000" charset="-122"/>
                    <a:ea typeface="PingFang SC" panose="020B0400000000000000" charset="-122"/>
                    <a:cs typeface="DejaVu Math TeX Gyre" panose="02000503000000000000" charset="0"/>
                  </a:rPr>
                  <a:t>]</a:t>
                </a:r>
              </a:p>
              <a:p>
                <a:pPr marL="0" indent="0">
                  <a:buFontTx/>
                  <a:buNone/>
                </a:pPr>
                <a:endParaRPr lang="en-US" altLang="zh-CN" i="1" kern="0" dirty="0">
                  <a:latin typeface="PingFang SC" panose="020B0400000000000000" charset="-122"/>
                  <a:ea typeface="PingFang SC" panose="020B0400000000000000" charset="-122"/>
                  <a:cs typeface="DejaVu Math TeX Gyre" panose="02000503000000000000" charset="0"/>
                </a:endParaRPr>
              </a:p>
            </p:txBody>
          </p:sp>
        </mc:Choice>
        <mc:Fallback>
          <p:sp>
            <p:nvSpPr>
              <p:cNvPr id="5" name="内容占位符 2">
                <a:extLst>
                  <a:ext uri="{FF2B5EF4-FFF2-40B4-BE49-F238E27FC236}">
                    <a16:creationId xmlns:a16="http://schemas.microsoft.com/office/drawing/2014/main" id="{08A1D20C-D29C-548B-5A02-96770C37FA4C}"/>
                  </a:ext>
                </a:extLst>
              </p:cNvPr>
              <p:cNvSpPr txBox="1">
                <a:spLocks noRot="1" noChangeAspect="1" noMove="1" noResize="1" noEditPoints="1" noAdjustHandles="1" noChangeArrowheads="1" noChangeShapeType="1" noTextEdit="1"/>
              </p:cNvSpPr>
              <p:nvPr/>
            </p:nvSpPr>
            <p:spPr bwMode="auto">
              <a:xfrm>
                <a:off x="104908" y="1229387"/>
                <a:ext cx="8689975" cy="2157095"/>
              </a:xfrm>
              <a:prstGeom prst="rect">
                <a:avLst/>
              </a:prstGeom>
              <a:blipFill>
                <a:blip r:embed="rId2"/>
                <a:stretch>
                  <a:fillRect l="-1262"/>
                </a:stretch>
              </a:blipFill>
              <a:ln w="9525">
                <a:noFill/>
                <a:miter lim="800000"/>
              </a:ln>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Plot the IRF function</a:t>
            </a:r>
            <a:endParaRPr lang="en-US" dirty="0"/>
          </a:p>
        </p:txBody>
      </p:sp>
      <p:sp>
        <p:nvSpPr>
          <p:cNvPr id="10" name="内容占位符 9"/>
          <p:cNvSpPr>
            <a:spLocks noGrp="1"/>
          </p:cNvSpPr>
          <p:nvPr>
            <p:ph idx="1"/>
          </p:nvPr>
        </p:nvSpPr>
        <p:spPr>
          <a:xfrm>
            <a:off x="72413" y="1220787"/>
            <a:ext cx="8856984" cy="5112568"/>
          </a:xfrm>
        </p:spPr>
        <p:txBody>
          <a:bodyPr/>
          <a:lstStyle/>
          <a:p>
            <a:pPr marL="0" indent="0">
              <a:buNone/>
            </a:pPr>
            <a:r>
              <a:rPr lang="en-US" altLang="zh-CN" dirty="0"/>
              <a:t>Plot the IRF function for 4 steps, with </a:t>
            </a:r>
            <a:r>
              <a:rPr lang="zh-CN" altLang="en-US" dirty="0"/>
              <a:t>𝑠</a:t>
            </a:r>
            <a:r>
              <a:rPr lang="en-US" altLang="zh-CN" dirty="0"/>
              <a:t>ℎ</a:t>
            </a:r>
            <a:r>
              <a:rPr lang="zh-CN" altLang="en-US" dirty="0"/>
              <a:t>𝑎𝑔𝑟𝑡 </a:t>
            </a:r>
            <a:r>
              <a:rPr lang="en-US" altLang="zh-CN" dirty="0"/>
              <a:t>as the impulse and </a:t>
            </a:r>
            <a:r>
              <a:rPr lang="zh-CN" altLang="en-US" dirty="0"/>
              <a:t>𝑔𝑑𝑝𝑔𝑟𝑡 </a:t>
            </a:r>
            <a:r>
              <a:rPr lang="en-US" altLang="zh-CN" dirty="0"/>
              <a:t>as the response. </a:t>
            </a:r>
          </a:p>
          <a:p>
            <a:endParaRPr lang="en-US" altLang="zh-CN" dirty="0"/>
          </a:p>
          <a:p>
            <a:r>
              <a:rPr lang="en-US" altLang="zh-CN" sz="2000" dirty="0"/>
              <a:t>//Generate the IRF for 4 steps (steps = 4 periods)</a:t>
            </a:r>
          </a:p>
          <a:p>
            <a:r>
              <a:rPr lang="en-US" altLang="zh-CN" sz="2000" dirty="0" err="1"/>
              <a:t>irf</a:t>
            </a:r>
            <a:r>
              <a:rPr lang="en-US" altLang="zh-CN" sz="2000" dirty="0"/>
              <a:t> set </a:t>
            </a:r>
            <a:r>
              <a:rPr lang="en-US" altLang="zh-CN" sz="2000" dirty="0" err="1"/>
              <a:t>myirf</a:t>
            </a:r>
            <a:r>
              <a:rPr lang="en-US" altLang="zh-CN" sz="2000" dirty="0"/>
              <a:t>, replace</a:t>
            </a:r>
          </a:p>
          <a:p>
            <a:r>
              <a:rPr lang="en-US" altLang="zh-CN" sz="2000" dirty="0" err="1"/>
              <a:t>irf</a:t>
            </a:r>
            <a:r>
              <a:rPr lang="en-US" altLang="zh-CN" sz="2000" dirty="0"/>
              <a:t> create </a:t>
            </a:r>
            <a:r>
              <a:rPr lang="en-US" altLang="zh-CN" sz="2000" dirty="0" err="1"/>
              <a:t>model_irf</a:t>
            </a:r>
            <a:r>
              <a:rPr lang="en-US" altLang="zh-CN" sz="2000" dirty="0"/>
              <a:t>, replace step(4) </a:t>
            </a:r>
          </a:p>
          <a:p>
            <a:endParaRPr lang="en-US" altLang="zh-CN" sz="2000" dirty="0"/>
          </a:p>
          <a:p>
            <a:pPr marL="0" indent="0" algn="just">
              <a:buNone/>
            </a:pPr>
            <a:r>
              <a:rPr lang="en-US" altLang="zh-CN" sz="2000" dirty="0"/>
              <a:t>Set up an impulse response function (IRF) file named </a:t>
            </a:r>
            <a:r>
              <a:rPr lang="en-US" altLang="zh-CN" sz="2000" dirty="0" err="1"/>
              <a:t>myirf</a:t>
            </a:r>
            <a:r>
              <a:rPr lang="en-US" altLang="zh-CN" sz="2000" dirty="0"/>
              <a:t>. Then, create an IRF set named </a:t>
            </a:r>
            <a:r>
              <a:rPr lang="en-US" altLang="zh-CN" sz="2000" dirty="0" err="1"/>
              <a:t>model_irf</a:t>
            </a:r>
            <a:r>
              <a:rPr lang="en-US" altLang="zh-CN" sz="2000" dirty="0"/>
              <a:t> and calculate the impulse responses for 4 periods. If there are existing files or function sets with the same names, they will be replaced with the new content</a:t>
            </a:r>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Plot the IRF function</a:t>
            </a:r>
            <a:endParaRPr lang="en-US" dirty="0"/>
          </a:p>
        </p:txBody>
      </p:sp>
      <p:sp>
        <p:nvSpPr>
          <p:cNvPr id="10" name="内容占位符 9"/>
          <p:cNvSpPr>
            <a:spLocks noGrp="1"/>
          </p:cNvSpPr>
          <p:nvPr>
            <p:ph idx="1"/>
          </p:nvPr>
        </p:nvSpPr>
        <p:spPr>
          <a:xfrm>
            <a:off x="-17038" y="1220787"/>
            <a:ext cx="8856984" cy="5112568"/>
          </a:xfrm>
        </p:spPr>
        <p:txBody>
          <a:bodyPr/>
          <a:lstStyle/>
          <a:p>
            <a:pPr marL="0" indent="0">
              <a:buNone/>
            </a:pPr>
            <a:r>
              <a:rPr lang="en-US" altLang="zh-CN" dirty="0"/>
              <a:t>Plot the IRF function for 4 steps, with </a:t>
            </a:r>
            <a:r>
              <a:rPr lang="zh-CN" altLang="en-US" dirty="0"/>
              <a:t>𝑠</a:t>
            </a:r>
            <a:r>
              <a:rPr lang="en-US" altLang="zh-CN" dirty="0"/>
              <a:t>ℎ</a:t>
            </a:r>
            <a:r>
              <a:rPr lang="zh-CN" altLang="en-US" dirty="0"/>
              <a:t>𝑎𝑔𝑟𝑡 </a:t>
            </a:r>
            <a:r>
              <a:rPr lang="en-US" altLang="zh-CN" dirty="0"/>
              <a:t>as the     impulse and </a:t>
            </a:r>
            <a:r>
              <a:rPr lang="zh-CN" altLang="en-US" dirty="0"/>
              <a:t>𝑔𝑑𝑝𝑔𝑟𝑡 </a:t>
            </a:r>
            <a:r>
              <a:rPr lang="en-US" altLang="zh-CN" dirty="0"/>
              <a:t>as the response. </a:t>
            </a:r>
          </a:p>
          <a:p>
            <a:endParaRPr lang="en-US" altLang="zh-CN" sz="2000" dirty="0"/>
          </a:p>
          <a:p>
            <a:r>
              <a:rPr lang="en-US" altLang="zh-CN" sz="2000" dirty="0"/>
              <a:t>//Draw the Impulse Response Function</a:t>
            </a:r>
          </a:p>
          <a:p>
            <a:r>
              <a:rPr lang="en-US" altLang="zh-CN" sz="2000" dirty="0"/>
              <a:t> </a:t>
            </a:r>
            <a:r>
              <a:rPr lang="en-US" altLang="zh-CN" sz="2000" dirty="0" err="1"/>
              <a:t>irf</a:t>
            </a:r>
            <a:r>
              <a:rPr lang="en-US" altLang="zh-CN" sz="2000" dirty="0"/>
              <a:t> graph </a:t>
            </a:r>
            <a:r>
              <a:rPr lang="en-US" altLang="zh-CN" sz="2000" dirty="0" err="1"/>
              <a:t>irf</a:t>
            </a:r>
            <a:r>
              <a:rPr lang="en-US" altLang="zh-CN" sz="2000" dirty="0"/>
              <a:t>, impulse(</a:t>
            </a:r>
            <a:r>
              <a:rPr lang="en-US" altLang="zh-CN" sz="2000" dirty="0" err="1"/>
              <a:t>shagr</a:t>
            </a:r>
            <a:r>
              <a:rPr lang="en-US" altLang="zh-CN" sz="2000" dirty="0"/>
              <a:t>) response(</a:t>
            </a:r>
            <a:r>
              <a:rPr lang="en-US" altLang="zh-CN" sz="2000" dirty="0" err="1"/>
              <a:t>gdpgr</a:t>
            </a:r>
            <a:r>
              <a:rPr lang="en-US" altLang="zh-CN" sz="2000" dirty="0"/>
              <a:t>)</a:t>
            </a:r>
          </a:p>
          <a:p>
            <a:pPr algn="just"/>
            <a:endParaRPr lang="en-US" altLang="zh-CN" sz="2000" dirty="0"/>
          </a:p>
          <a:p>
            <a:pPr algn="just"/>
            <a:r>
              <a:rPr lang="en-US" altLang="zh-CN" sz="2000" dirty="0"/>
              <a:t>Use this command to draw the Impulse Response Function (IRF) graph. The impulse response (</a:t>
            </a:r>
            <a:r>
              <a:rPr lang="en-US" altLang="zh-CN" sz="2000" dirty="0" err="1"/>
              <a:t>shagr</a:t>
            </a:r>
            <a:r>
              <a:rPr lang="en-US" altLang="zh-CN" sz="2000" dirty="0"/>
              <a:t>) is used to demonstrate the response of </a:t>
            </a:r>
            <a:r>
              <a:rPr lang="en-US" altLang="zh-CN" sz="2000" dirty="0" err="1"/>
              <a:t>gdpgr</a:t>
            </a:r>
            <a:r>
              <a:rPr lang="en-US" altLang="zh-CN" sz="2000" dirty="0"/>
              <a:t> in the system at different time points when an endogenous variable is subjected to a unit impulse (impact) in a vector autoregressive (VAR) model.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Plot the IRF function</a:t>
            </a:r>
            <a:endParaRPr lang="zh-CN" altLang="en-US" dirty="0"/>
          </a:p>
        </p:txBody>
      </p:sp>
      <p:sp>
        <p:nvSpPr>
          <p:cNvPr id="3" name="内容占位符 2"/>
          <p:cNvSpPr>
            <a:spLocks noGrp="1"/>
          </p:cNvSpPr>
          <p:nvPr>
            <p:ph idx="1"/>
          </p:nvPr>
        </p:nvSpPr>
        <p:spPr>
          <a:xfrm>
            <a:off x="103854" y="1052736"/>
            <a:ext cx="8748465" cy="8640960"/>
          </a:xfrm>
        </p:spPr>
        <p:txBody>
          <a:bodyPr/>
          <a:lstStyle/>
          <a:p>
            <a:pPr marL="0" indent="0">
              <a:buNone/>
            </a:pPr>
            <a:r>
              <a:rPr lang="en-US" altLang="zh-CN" sz="2000" dirty="0"/>
              <a:t>   </a:t>
            </a:r>
            <a:r>
              <a:rPr lang="en-US" altLang="zh-CN" sz="2000" dirty="0" err="1"/>
              <a:t>irf</a:t>
            </a:r>
            <a:r>
              <a:rPr lang="en-US" altLang="zh-CN" sz="2000" dirty="0"/>
              <a:t> graph </a:t>
            </a:r>
            <a:r>
              <a:rPr lang="en-US" altLang="zh-CN" sz="2000" dirty="0" err="1"/>
              <a:t>irf</a:t>
            </a:r>
            <a:r>
              <a:rPr lang="en-US" altLang="zh-CN" sz="2000" dirty="0"/>
              <a:t>, impulse(</a:t>
            </a:r>
            <a:r>
              <a:rPr lang="en-US" altLang="zh-CN" sz="2000" dirty="0" err="1"/>
              <a:t>shagr</a:t>
            </a:r>
            <a:r>
              <a:rPr lang="en-US" altLang="zh-CN" sz="2000" dirty="0"/>
              <a:t>) response(</a:t>
            </a:r>
            <a:r>
              <a:rPr lang="en-US" altLang="zh-CN" sz="2000" dirty="0" err="1"/>
              <a:t>gdpgr</a:t>
            </a:r>
            <a:r>
              <a:rPr lang="en-US" altLang="zh-CN" sz="2000" dirty="0"/>
              <a:t>)</a:t>
            </a:r>
          </a:p>
          <a:p>
            <a:endParaRPr lang="en-US" altLang="zh-CN" sz="2000" dirty="0"/>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pPr marL="0" indent="0">
              <a:buNone/>
            </a:pPr>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pPr>
              <a:lnSpc>
                <a:spcPts val="2100"/>
              </a:lnSpc>
            </a:pPr>
            <a:r>
              <a:rPr lang="en-US" altLang="zh-CN" sz="1800" kern="100" dirty="0">
                <a:latin typeface="Calibri" panose="020F0502020204030204" pitchFamily="34" charset="0"/>
                <a:cs typeface="Times New Roman" panose="02020503050405090304" pitchFamily="18" charset="0"/>
              </a:rPr>
              <a:t>The blue solid line represents the impulse - response function, which is the response                                                                                 degree of the response variable at 4 step lengths after receiving a unit impulse(</a:t>
            </a:r>
            <a:r>
              <a:rPr lang="en-US" altLang="zh-CN" sz="1800" kern="100" dirty="0" err="1">
                <a:latin typeface="Calibri" panose="020F0502020204030204" pitchFamily="34" charset="0"/>
                <a:cs typeface="Times New Roman" panose="02020503050405090304" pitchFamily="18" charset="0"/>
              </a:rPr>
              <a:t>shagr</a:t>
            </a:r>
            <a:r>
              <a:rPr lang="en-US" altLang="zh-CN" sz="1800" kern="100" dirty="0">
                <a:latin typeface="Calibri" panose="020F0502020204030204" pitchFamily="34" charset="0"/>
                <a:cs typeface="Times New Roman" panose="02020503050405090304" pitchFamily="18" charset="0"/>
              </a:rPr>
              <a:t>).</a:t>
            </a:r>
          </a:p>
          <a:p>
            <a:pPr>
              <a:lnSpc>
                <a:spcPts val="2100"/>
              </a:lnSpc>
            </a:pPr>
            <a:r>
              <a:rPr lang="en-US" altLang="zh-CN" sz="1800" kern="100" dirty="0">
                <a:latin typeface="Calibri" panose="020F0502020204030204" pitchFamily="34" charset="0"/>
                <a:cs typeface="Times New Roman" panose="02020503050405090304" pitchFamily="18" charset="0"/>
              </a:rPr>
              <a:t>The gray shaded area represents the 95% confidence interval, which is used to measure the uncertain range of the impulse - response estimation.</a:t>
            </a:r>
          </a:p>
          <a:p>
            <a:endParaRPr lang="zh-CN" altLang="en-US" dirty="0"/>
          </a:p>
        </p:txBody>
      </p:sp>
      <p:pic>
        <p:nvPicPr>
          <p:cNvPr id="5" name="内容占位符 4"/>
          <p:cNvPicPr>
            <a:picLocks noChangeAspect="1"/>
          </p:cNvPicPr>
          <p:nvPr/>
        </p:nvPicPr>
        <p:blipFill>
          <a:blip r:embed="rId2"/>
          <a:stretch>
            <a:fillRect/>
          </a:stretch>
        </p:blipFill>
        <p:spPr bwMode="auto">
          <a:xfrm>
            <a:off x="1808823" y="1556792"/>
            <a:ext cx="5239337" cy="318739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Plot the IRF function</a:t>
            </a:r>
            <a:endParaRPr lang="zh-CN" altLang="en-US" dirty="0"/>
          </a:p>
        </p:txBody>
      </p:sp>
      <p:sp>
        <p:nvSpPr>
          <p:cNvPr id="3" name="内容占位符 2"/>
          <p:cNvSpPr>
            <a:spLocks noGrp="1"/>
          </p:cNvSpPr>
          <p:nvPr>
            <p:ph idx="1"/>
          </p:nvPr>
        </p:nvSpPr>
        <p:spPr>
          <a:xfrm>
            <a:off x="-1" y="1052736"/>
            <a:ext cx="8856984" cy="8640960"/>
          </a:xfrm>
        </p:spPr>
        <p:txBody>
          <a:bodyPr/>
          <a:lstStyle/>
          <a:p>
            <a:pPr marL="0" indent="0">
              <a:buNone/>
            </a:pPr>
            <a:r>
              <a:rPr lang="en-US" altLang="zh-CN" sz="1800" kern="100" dirty="0">
                <a:latin typeface="Calibri" panose="020F0502020204030204" pitchFamily="34" charset="0"/>
                <a:cs typeface="Times New Roman" panose="02020503050405090304" pitchFamily="18" charset="0"/>
              </a:rPr>
              <a:t>   </a:t>
            </a:r>
            <a:r>
              <a:rPr lang="en-US" altLang="zh-CN" sz="2000" dirty="0" err="1"/>
              <a:t>irf</a:t>
            </a:r>
            <a:r>
              <a:rPr lang="en-US" altLang="zh-CN" sz="2000" dirty="0"/>
              <a:t> graph </a:t>
            </a:r>
            <a:r>
              <a:rPr lang="en-US" altLang="zh-CN" sz="2000" dirty="0" err="1"/>
              <a:t>irf</a:t>
            </a:r>
            <a:r>
              <a:rPr lang="en-US" altLang="zh-CN" sz="2000" dirty="0"/>
              <a:t>, impulse(</a:t>
            </a:r>
            <a:r>
              <a:rPr lang="en-US" altLang="zh-CN" sz="2000" dirty="0" err="1"/>
              <a:t>shagr</a:t>
            </a:r>
            <a:r>
              <a:rPr lang="en-US" altLang="zh-CN" sz="2000" dirty="0"/>
              <a:t>) response(</a:t>
            </a:r>
            <a:r>
              <a:rPr lang="en-US" altLang="zh-CN" sz="2000" dirty="0" err="1"/>
              <a:t>gdpgr</a:t>
            </a:r>
            <a:r>
              <a:rPr lang="en-US" altLang="zh-CN" sz="2000" dirty="0"/>
              <a:t>)</a:t>
            </a:r>
          </a:p>
          <a:p>
            <a:endParaRPr lang="en-US" altLang="zh-CN" sz="2000" dirty="0"/>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pPr marL="0" indent="0">
              <a:buNone/>
            </a:pPr>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r>
              <a:rPr lang="zh-CN"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 </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From the plot above, the immediate impact is when the step is 0. As seen on step 0, there is no immediate impact of a share price shock on the GDP growth</a:t>
            </a:r>
            <a:r>
              <a:rPr lang="en-US" altLang="zh-CN" sz="1800" kern="100" dirty="0">
                <a:latin typeface="Calibri" panose="020F0502020204030204" pitchFamily="34" charset="0"/>
                <a:ea typeface="Times New Roman" panose="02020503050405090304" pitchFamily="18" charset="0"/>
                <a:cs typeface="Times New Roman" panose="02020503050405090304" pitchFamily="18" charset="0"/>
              </a:rPr>
              <a:t>, because </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the response of GDP growth in the same period as the shock is </a:t>
            </a:r>
            <a:r>
              <a:rPr lang="en-US" altLang="zh-CN" sz="1800" b="1" kern="100" dirty="0">
                <a:effectLst/>
                <a:latin typeface="Calibri" panose="020F0502020204030204" pitchFamily="34" charset="0"/>
                <a:ea typeface="Times New Roman" panose="02020503050405090304" pitchFamily="18" charset="0"/>
                <a:cs typeface="Times New Roman" panose="02020503050405090304" pitchFamily="18" charset="0"/>
              </a:rPr>
              <a:t>zero</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a:t>
            </a:r>
            <a:r>
              <a:rPr lang="en-US" altLang="zh-CN" sz="1800" kern="100" dirty="0">
                <a:latin typeface="Calibri" panose="020F0502020204030204" pitchFamily="34" charset="0"/>
                <a:ea typeface="Times New Roman" panose="02020503050405090304" pitchFamily="18" charset="0"/>
                <a:cs typeface="Times New Roman" panose="02020503050405090304" pitchFamily="18" charset="0"/>
              </a:rPr>
              <a:t> </a:t>
            </a:r>
          </a:p>
          <a:p>
            <a:r>
              <a:rPr lang="en-US" altLang="zh-CN" sz="1800" kern="100" dirty="0">
                <a:latin typeface="Calibri" panose="020F0502020204030204" pitchFamily="34" charset="0"/>
                <a:cs typeface="Times New Roman" panose="02020503050405090304" pitchFamily="18" charset="0"/>
              </a:rPr>
              <a:t>In step 1, known as the short-run response, the real GDP has a significant growth of approximately 0.042. </a:t>
            </a:r>
            <a:endParaRPr lang="zh-CN" altLang="en-US" sz="1800" kern="100" dirty="0">
              <a:latin typeface="Calibri" panose="020F0502020204030204" pitchFamily="34" charset="0"/>
              <a:cs typeface="Times New Roman" panose="02020503050405090304" pitchFamily="18" charset="0"/>
            </a:endParaRPr>
          </a:p>
          <a:p>
            <a:endParaRPr lang="zh-CN" altLang="en-US" dirty="0"/>
          </a:p>
        </p:txBody>
      </p:sp>
      <p:pic>
        <p:nvPicPr>
          <p:cNvPr id="5" name="内容占位符 4"/>
          <p:cNvPicPr>
            <a:picLocks noChangeAspect="1"/>
          </p:cNvPicPr>
          <p:nvPr/>
        </p:nvPicPr>
        <p:blipFill>
          <a:blip r:embed="rId2"/>
          <a:stretch>
            <a:fillRect/>
          </a:stretch>
        </p:blipFill>
        <p:spPr bwMode="auto">
          <a:xfrm>
            <a:off x="1808823" y="1556792"/>
            <a:ext cx="5239337" cy="3187394"/>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Plot the IRF function</a:t>
            </a:r>
            <a:endParaRPr lang="zh-CN" altLang="en-US" dirty="0"/>
          </a:p>
        </p:txBody>
      </p:sp>
      <p:sp>
        <p:nvSpPr>
          <p:cNvPr id="3" name="内容占位符 2"/>
          <p:cNvSpPr>
            <a:spLocks noGrp="1"/>
          </p:cNvSpPr>
          <p:nvPr>
            <p:ph idx="1"/>
          </p:nvPr>
        </p:nvSpPr>
        <p:spPr>
          <a:xfrm>
            <a:off x="-1" y="1052736"/>
            <a:ext cx="8856984" cy="8640960"/>
          </a:xfrm>
        </p:spPr>
        <p:txBody>
          <a:bodyPr/>
          <a:lstStyle/>
          <a:p>
            <a:pPr marL="0" indent="0">
              <a:buNone/>
            </a:pP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   </a:t>
            </a:r>
            <a:r>
              <a:rPr lang="en-US" altLang="zh-CN" sz="1800" kern="100" dirty="0" err="1">
                <a:effectLst/>
                <a:latin typeface="Calibri" panose="020F0502020204030204" pitchFamily="34" charset="0"/>
                <a:ea typeface="Times New Roman" panose="02020503050405090304" pitchFamily="18" charset="0"/>
                <a:cs typeface="Times New Roman" panose="02020503050405090304" pitchFamily="18" charset="0"/>
              </a:rPr>
              <a:t>irf</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 graph </a:t>
            </a:r>
            <a:r>
              <a:rPr lang="en-US" altLang="zh-CN" sz="1800" kern="100" dirty="0" err="1">
                <a:effectLst/>
                <a:latin typeface="Calibri" panose="020F0502020204030204" pitchFamily="34" charset="0"/>
                <a:ea typeface="Times New Roman" panose="02020503050405090304" pitchFamily="18" charset="0"/>
                <a:cs typeface="Times New Roman" panose="02020503050405090304" pitchFamily="18" charset="0"/>
              </a:rPr>
              <a:t>irf</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 impulse(</a:t>
            </a:r>
            <a:r>
              <a:rPr lang="en-US" altLang="zh-CN" sz="1800" kern="100" dirty="0" err="1">
                <a:effectLst/>
                <a:latin typeface="Calibri" panose="020F0502020204030204" pitchFamily="34" charset="0"/>
                <a:ea typeface="Times New Roman" panose="02020503050405090304" pitchFamily="18" charset="0"/>
                <a:cs typeface="Times New Roman" panose="02020503050405090304" pitchFamily="18" charset="0"/>
              </a:rPr>
              <a:t>shagr</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 response(</a:t>
            </a:r>
            <a:r>
              <a:rPr lang="en-US" altLang="zh-CN" sz="1800" kern="100" dirty="0" err="1">
                <a:effectLst/>
                <a:latin typeface="Calibri" panose="020F0502020204030204" pitchFamily="34" charset="0"/>
                <a:ea typeface="Times New Roman" panose="02020503050405090304" pitchFamily="18" charset="0"/>
                <a:cs typeface="Times New Roman" panose="02020503050405090304" pitchFamily="18" charset="0"/>
              </a:rPr>
              <a:t>gdpgr</a:t>
            </a:r>
            <a:r>
              <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rPr>
              <a:t>)</a:t>
            </a: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endParaRPr lang="en-US" altLang="zh-CN" sz="1800" kern="100" dirty="0">
              <a:effectLst/>
              <a:latin typeface="Calibri" panose="020F0502020204030204" pitchFamily="34" charset="0"/>
              <a:ea typeface="Times New Roman" panose="02020503050405090304" pitchFamily="18" charset="0"/>
              <a:cs typeface="Times New Roman" panose="02020503050405090304" pitchFamily="18" charset="0"/>
            </a:endParaRPr>
          </a:p>
          <a:p>
            <a:pPr marL="0" indent="0">
              <a:buNone/>
            </a:pPr>
            <a:endParaRPr lang="en-US" altLang="zh-CN" sz="1800" kern="100" dirty="0">
              <a:latin typeface="Calibri" panose="020F0502020204030204" pitchFamily="34" charset="0"/>
              <a:ea typeface="Times New Roman" panose="02020503050405090304" pitchFamily="18" charset="0"/>
              <a:cs typeface="Times New Roman" panose="02020503050405090304" pitchFamily="18" charset="0"/>
            </a:endParaRPr>
          </a:p>
          <a:p>
            <a:r>
              <a:rPr lang="en-US" altLang="zh-CN" sz="1800" kern="100" dirty="0">
                <a:latin typeface="Calibri" panose="020F0502020204030204" pitchFamily="34" charset="0"/>
                <a:cs typeface="Times New Roman" panose="02020503050405090304" pitchFamily="18" charset="0"/>
              </a:rPr>
              <a:t>At the 2-4 steps, there are diminishing effects, this is because the shock effect diminishes over time.  </a:t>
            </a:r>
          </a:p>
          <a:p>
            <a:r>
              <a:rPr lang="en-US" altLang="zh-CN" sz="1800" kern="100" dirty="0">
                <a:latin typeface="Calibri" panose="020F0502020204030204" pitchFamily="34" charset="0"/>
                <a:cs typeface="Times New Roman" panose="02020503050405090304" pitchFamily="18" charset="0"/>
              </a:rPr>
              <a:t>At step 2, the effect drops to 0.0098, at step 3, the response is approximately 0.0026, and at step 4, the response further declines to 0.00068. This implies that the positive effect of the share price shocks on the GDP has short-run effects and diminishing with time. </a:t>
            </a:r>
            <a:endParaRPr lang="zh-CN" altLang="zh-CN" sz="1800" kern="100" dirty="0">
              <a:latin typeface="Calibri" panose="020F0502020204030204" pitchFamily="34" charset="0"/>
              <a:cs typeface="Times New Roman" panose="02020503050405090304" pitchFamily="18" charset="0"/>
            </a:endParaRPr>
          </a:p>
          <a:p>
            <a:endParaRPr lang="zh-CN" altLang="en-US" dirty="0"/>
          </a:p>
        </p:txBody>
      </p:sp>
      <p:pic>
        <p:nvPicPr>
          <p:cNvPr id="5" name="内容占位符 4"/>
          <p:cNvPicPr>
            <a:picLocks noChangeAspect="1"/>
          </p:cNvPicPr>
          <p:nvPr/>
        </p:nvPicPr>
        <p:blipFill>
          <a:blip r:embed="rId2"/>
          <a:stretch>
            <a:fillRect/>
          </a:stretch>
        </p:blipFill>
        <p:spPr bwMode="auto">
          <a:xfrm>
            <a:off x="1808823" y="1556792"/>
            <a:ext cx="5239337" cy="3187394"/>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en-US" altLang="zh-CN" dirty="0"/>
            </a:br>
            <a:r>
              <a:rPr lang="en-US" altLang="zh-CN" dirty="0"/>
              <a:t>The Numeric Values of the IRF Function</a:t>
            </a:r>
            <a:br>
              <a:rPr lang="zh-CN" altLang="zh-CN" dirty="0"/>
            </a:br>
            <a:endParaRPr lang="zh-CN" altLang="en-US" dirty="0"/>
          </a:p>
        </p:txBody>
      </p:sp>
      <p:sp>
        <p:nvSpPr>
          <p:cNvPr id="9" name="文本框 8"/>
          <p:cNvSpPr txBox="1"/>
          <p:nvPr/>
        </p:nvSpPr>
        <p:spPr>
          <a:xfrm>
            <a:off x="719570" y="4581128"/>
            <a:ext cx="7704856" cy="1711366"/>
          </a:xfrm>
          <a:prstGeom prst="rect">
            <a:avLst/>
          </a:prstGeom>
          <a:noFill/>
        </p:spPr>
        <p:txBody>
          <a:bodyPr wrap="square">
            <a:spAutoFit/>
          </a:bodyPr>
          <a:lstStyle/>
          <a:p>
            <a:pPr marL="285750" indent="-285750" algn="just">
              <a:lnSpc>
                <a:spcPct val="150000"/>
              </a:lnSpc>
              <a:buFont typeface="Wingdings" panose="05000000000000000000" pitchFamily="2" charset="2"/>
              <a:buChar char="l"/>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In step 1, the value of IRF is 0.041991, and the confidence interval does not include 0. The real GDP growth is statistically significant. </a:t>
            </a:r>
          </a:p>
          <a:p>
            <a:pPr marL="285750" indent="-285750" algn="just">
              <a:lnSpc>
                <a:spcPct val="150000"/>
              </a:lnSpc>
              <a:buFont typeface="Wingdings" panose="05000000000000000000" pitchFamily="2" charset="2"/>
              <a:buChar char="l"/>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The IRF value in step 2 is 0.01035, and the effect is slightly significant as the lower number of the confidence interval is 0.001014, which is near 0.</a:t>
            </a:r>
            <a:endParaRPr lang="zh-CN" altLang="zh-CN" sz="1800" kern="100" dirty="0">
              <a:latin typeface="Calibri" panose="020F0502020204030204" pitchFamily="34" charset="0"/>
              <a:ea typeface="MS PGothic" panose="020B0600070205080204" pitchFamily="34" charset="-128"/>
              <a:cs typeface="Times New Roman" panose="02020503050405090304" pitchFamily="18" charset="0"/>
            </a:endParaRPr>
          </a:p>
        </p:txBody>
      </p:sp>
      <p:pic>
        <p:nvPicPr>
          <p:cNvPr id="4" name="图片 3"/>
          <p:cNvPicPr>
            <a:picLocks noChangeAspect="1"/>
          </p:cNvPicPr>
          <p:nvPr/>
        </p:nvPicPr>
        <p:blipFill>
          <a:blip r:embed="rId2"/>
          <a:stretch>
            <a:fillRect/>
          </a:stretch>
        </p:blipFill>
        <p:spPr>
          <a:xfrm>
            <a:off x="1691680" y="1219570"/>
            <a:ext cx="5688632" cy="32871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en-US" altLang="zh-CN" dirty="0"/>
            </a:br>
            <a:r>
              <a:rPr lang="en-US" altLang="zh-CN" dirty="0"/>
              <a:t>The Numeric Values of the IRF Function</a:t>
            </a:r>
            <a:br>
              <a:rPr lang="zh-CN" altLang="zh-CN" dirty="0"/>
            </a:br>
            <a:endParaRPr lang="zh-CN" altLang="en-US" dirty="0"/>
          </a:p>
        </p:txBody>
      </p:sp>
      <p:sp>
        <p:nvSpPr>
          <p:cNvPr id="9" name="文本框 8"/>
          <p:cNvSpPr txBox="1"/>
          <p:nvPr/>
        </p:nvSpPr>
        <p:spPr>
          <a:xfrm>
            <a:off x="611560" y="4636863"/>
            <a:ext cx="7812866" cy="1295868"/>
          </a:xfrm>
          <a:prstGeom prst="rect">
            <a:avLst/>
          </a:prstGeom>
          <a:noFill/>
        </p:spPr>
        <p:txBody>
          <a:bodyPr wrap="square">
            <a:spAutoFit/>
          </a:bodyPr>
          <a:lstStyle/>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On the other hand, the numeric value of IRF in step 3 is 0.02939, The numeric value of IRF in step 4 is 0.00082, and these two values are not statistically significant because the confidence interval includes 0. </a:t>
            </a:r>
            <a:endParaRPr lang="zh-CN" altLang="zh-CN" sz="1800" kern="100" dirty="0">
              <a:latin typeface="Calibri" panose="020F0502020204030204" pitchFamily="34" charset="0"/>
              <a:ea typeface="MS PGothic" panose="020B0600070205080204" pitchFamily="34" charset="-128"/>
              <a:cs typeface="Times New Roman" panose="02020503050405090304" pitchFamily="18" charset="0"/>
            </a:endParaRPr>
          </a:p>
        </p:txBody>
      </p:sp>
      <p:pic>
        <p:nvPicPr>
          <p:cNvPr id="4" name="图片 3"/>
          <p:cNvPicPr>
            <a:picLocks noChangeAspect="1"/>
          </p:cNvPicPr>
          <p:nvPr/>
        </p:nvPicPr>
        <p:blipFill>
          <a:blip r:embed="rId2"/>
          <a:stretch>
            <a:fillRect/>
          </a:stretch>
        </p:blipFill>
        <p:spPr>
          <a:xfrm>
            <a:off x="1691680" y="1219570"/>
            <a:ext cx="5688632" cy="328712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en-US" altLang="zh-CN" dirty="0"/>
            </a:br>
            <a:r>
              <a:rPr lang="en-US" altLang="zh-CN" dirty="0"/>
              <a:t>Use the model to reproduce the numeric values</a:t>
            </a:r>
            <a:br>
              <a:rPr lang="zh-CN" altLang="zh-CN" dirty="0"/>
            </a:br>
            <a:endParaRPr lang="zh-CN" altLang="en-US" dirty="0"/>
          </a:p>
        </p:txBody>
      </p:sp>
      <p:sp>
        <p:nvSpPr>
          <p:cNvPr id="9" name="文本框 8"/>
          <p:cNvSpPr txBox="1"/>
          <p:nvPr/>
        </p:nvSpPr>
        <p:spPr>
          <a:xfrm>
            <a:off x="971600" y="4165999"/>
            <a:ext cx="7812866" cy="2542363"/>
          </a:xfrm>
          <a:prstGeom prst="rect">
            <a:avLst/>
          </a:prstGeom>
          <a:noFill/>
        </p:spPr>
        <p:txBody>
          <a:bodyPr wrap="square">
            <a:spAutoFit/>
          </a:bodyPr>
          <a:lstStyle/>
          <a:p>
            <a:pPr indent="457200" algn="l">
              <a:lnSpc>
                <a:spcPct val="150000"/>
              </a:lnSpc>
            </a:pPr>
            <a:endParaRPr lang="en-US" altLang="zh-CN" sz="1800" kern="100" dirty="0">
              <a:latin typeface="Calibri" panose="020F0502020204030204" pitchFamily="34" charset="0"/>
              <a:ea typeface="MS PGothic" panose="020B0600070205080204" pitchFamily="34" charset="-128"/>
              <a:cs typeface="Times New Roman" panose="02020503050405090304" pitchFamily="18" charset="0"/>
            </a:endParaRPr>
          </a:p>
          <a:p>
            <a:pPr indent="457200" algn="l">
              <a:lnSpc>
                <a:spcPct val="150000"/>
              </a:lnSpc>
            </a:pPr>
            <a:endParaRPr lang="en-US" altLang="zh-CN" sz="1800" kern="100" dirty="0">
              <a:latin typeface="Calibri" panose="020F0502020204030204" pitchFamily="34" charset="0"/>
              <a:ea typeface="MS PGothic" panose="020B0600070205080204" pitchFamily="34" charset="-128"/>
              <a:cs typeface="Times New Roman" panose="02020503050405090304" pitchFamily="18" charset="0"/>
            </a:endParaRP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//Generate matrix A1 and e</a:t>
            </a:r>
          </a:p>
          <a:p>
            <a:pPr indent="457200" algn="l">
              <a:lnSpc>
                <a:spcPct val="150000"/>
              </a:lnSpc>
            </a:pPr>
            <a:r>
              <a:rPr lang="pt-BR" altLang="zh-CN" sz="1800" kern="100" dirty="0">
                <a:latin typeface="Calibri" panose="020F0502020204030204" pitchFamily="34" charset="0"/>
                <a:ea typeface="MS PGothic" panose="020B0600070205080204" pitchFamily="34" charset="-128"/>
                <a:cs typeface="Times New Roman" panose="02020503050405090304" pitchFamily="18" charset="0"/>
              </a:rPr>
              <a:t>matrix A = e(b)</a:t>
            </a:r>
          </a:p>
          <a:p>
            <a:pPr indent="457200" algn="l">
              <a:lnSpc>
                <a:spcPct val="150000"/>
              </a:lnSpc>
            </a:pPr>
            <a:r>
              <a:rPr lang="pt-BR" altLang="zh-CN" sz="1800" kern="100" dirty="0">
                <a:latin typeface="Calibri" panose="020F0502020204030204" pitchFamily="34" charset="0"/>
                <a:ea typeface="MS PGothic" panose="020B0600070205080204" pitchFamily="34" charset="-128"/>
                <a:cs typeface="Times New Roman" panose="02020503050405090304" pitchFamily="18" charset="0"/>
              </a:rPr>
              <a:t>matrix A1 =(A[1,1], A[1,2] \ A[1,4],A[1,5])</a:t>
            </a:r>
          </a:p>
          <a:p>
            <a:pPr indent="457200" algn="l">
              <a:lnSpc>
                <a:spcPct val="150000"/>
              </a:lnSpc>
            </a:pPr>
            <a:r>
              <a:rPr lang="pt-BR" altLang="zh-CN" sz="1800" kern="100" dirty="0">
                <a:latin typeface="Calibri" panose="020F0502020204030204" pitchFamily="34" charset="0"/>
                <a:ea typeface="MS PGothic" panose="020B0600070205080204" pitchFamily="34" charset="-128"/>
                <a:cs typeface="Times New Roman" panose="02020503050405090304" pitchFamily="18" charset="0"/>
              </a:rPr>
              <a:t>matrix e = (0, 1)'</a:t>
            </a:r>
          </a:p>
        </p:txBody>
      </p:sp>
      <p:pic>
        <p:nvPicPr>
          <p:cNvPr id="5" name="图片 4"/>
          <p:cNvPicPr>
            <a:picLocks noChangeAspect="1"/>
          </p:cNvPicPr>
          <p:nvPr/>
        </p:nvPicPr>
        <p:blipFill>
          <a:blip r:embed="rId2"/>
          <a:stretch>
            <a:fillRect/>
          </a:stretch>
        </p:blipFill>
        <p:spPr>
          <a:xfrm>
            <a:off x="3203848" y="1420819"/>
            <a:ext cx="2088232" cy="687740"/>
          </a:xfrm>
          <a:prstGeom prst="rect">
            <a:avLst/>
          </a:prstGeom>
        </p:spPr>
      </p:pic>
      <p:pic>
        <p:nvPicPr>
          <p:cNvPr id="12" name="图片 11"/>
          <p:cNvPicPr>
            <a:picLocks noChangeAspect="1"/>
          </p:cNvPicPr>
          <p:nvPr/>
        </p:nvPicPr>
        <p:blipFill>
          <a:blip r:embed="rId3"/>
          <a:srcRect t="39136"/>
          <a:stretch>
            <a:fillRect/>
          </a:stretch>
        </p:blipFill>
        <p:spPr>
          <a:xfrm>
            <a:off x="1547664" y="1988840"/>
            <a:ext cx="5601185" cy="3024336"/>
          </a:xfrm>
          <a:prstGeom prst="rect">
            <a:avLst/>
          </a:prstGeom>
        </p:spPr>
      </p:pic>
      <p:pic>
        <p:nvPicPr>
          <p:cNvPr id="4" name="图片 3"/>
          <p:cNvPicPr>
            <a:picLocks noChangeAspect="1"/>
          </p:cNvPicPr>
          <p:nvPr/>
        </p:nvPicPr>
        <p:blipFill>
          <a:blip r:embed="rId4"/>
          <a:stretch>
            <a:fillRect/>
          </a:stretch>
        </p:blipFill>
        <p:spPr>
          <a:xfrm>
            <a:off x="1756374" y="813081"/>
            <a:ext cx="5570703" cy="81541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67544" y="1556792"/>
            <a:ext cx="7920880" cy="3000821"/>
          </a:xfrm>
          <a:prstGeom prst="rect">
            <a:avLst/>
          </a:prstGeom>
          <a:noFill/>
        </p:spPr>
        <p:txBody>
          <a:bodyPr wrap="square" numCol="2">
            <a:spAutoFit/>
          </a:bodyPr>
          <a:lstStyle/>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//Obtain the values of IRF</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matrix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A_power</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 A1</a:t>
            </a:r>
          </a:p>
          <a:p>
            <a:pPr indent="457200" algn="l">
              <a:lnSpc>
                <a:spcPct val="150000"/>
              </a:lnSpc>
            </a:pP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forval</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t = 1/4 {</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matrix IRF =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A_power</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 e</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matrix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IRF_all</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[`t', 1] = IRF[1,1]</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matrix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A_power</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A_power</a:t>
            </a: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 * A1  </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a:t>
            </a:r>
          </a:p>
          <a:p>
            <a:pPr indent="457200" algn="l">
              <a:lnSpc>
                <a:spcPct val="150000"/>
              </a:lnSpc>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matrix list </a:t>
            </a:r>
            <a:r>
              <a:rPr lang="en-US" altLang="zh-CN" sz="1800" kern="100" dirty="0" err="1">
                <a:latin typeface="Calibri" panose="020F0502020204030204" pitchFamily="34" charset="0"/>
                <a:ea typeface="MS PGothic" panose="020B0600070205080204" pitchFamily="34" charset="-128"/>
                <a:cs typeface="Times New Roman" panose="02020503050405090304" pitchFamily="18" charset="0"/>
              </a:rPr>
              <a:t>IRF_all</a:t>
            </a:r>
            <a:endParaRPr lang="en-US" altLang="zh-CN" sz="1800" kern="100" dirty="0">
              <a:latin typeface="Calibri" panose="020F0502020204030204" pitchFamily="34" charset="0"/>
              <a:ea typeface="MS PGothic" panose="020B0600070205080204" pitchFamily="34" charset="-128"/>
              <a:cs typeface="Times New Roman" panose="02020503050405090304" pitchFamily="18" charset="0"/>
            </a:endParaRPr>
          </a:p>
        </p:txBody>
      </p:sp>
      <p:sp>
        <p:nvSpPr>
          <p:cNvPr id="2" name="标题 1"/>
          <p:cNvSpPr>
            <a:spLocks noGrp="1"/>
          </p:cNvSpPr>
          <p:nvPr>
            <p:ph type="title"/>
          </p:nvPr>
        </p:nvSpPr>
        <p:spPr/>
        <p:txBody>
          <a:bodyPr/>
          <a:lstStyle/>
          <a:p>
            <a:br>
              <a:rPr lang="en-US" altLang="zh-CN" dirty="0"/>
            </a:br>
            <a:r>
              <a:rPr lang="en-US" altLang="zh-CN" dirty="0"/>
              <a:t>Use the model to reproduce the numeric values</a:t>
            </a:r>
            <a:br>
              <a:rPr lang="zh-CN" altLang="zh-CN" dirty="0"/>
            </a:br>
            <a:endParaRPr lang="zh-CN" altLang="en-US" dirty="0"/>
          </a:p>
        </p:txBody>
      </p:sp>
      <p:pic>
        <p:nvPicPr>
          <p:cNvPr id="5" name="图片 4"/>
          <p:cNvPicPr>
            <a:picLocks noChangeAspect="1"/>
          </p:cNvPicPr>
          <p:nvPr/>
        </p:nvPicPr>
        <p:blipFill>
          <a:blip r:embed="rId2"/>
          <a:stretch>
            <a:fillRect/>
          </a:stretch>
        </p:blipFill>
        <p:spPr>
          <a:xfrm>
            <a:off x="3059832" y="764704"/>
            <a:ext cx="2088232" cy="687740"/>
          </a:xfrm>
          <a:prstGeom prst="rect">
            <a:avLst/>
          </a:prstGeom>
        </p:spPr>
      </p:pic>
      <p:sp>
        <p:nvSpPr>
          <p:cNvPr id="4" name="文本框 3"/>
          <p:cNvSpPr txBox="1"/>
          <p:nvPr/>
        </p:nvSpPr>
        <p:spPr>
          <a:xfrm>
            <a:off x="863588" y="5085184"/>
            <a:ext cx="7416824" cy="707886"/>
          </a:xfrm>
          <a:prstGeom prst="rect">
            <a:avLst/>
          </a:prstGeom>
          <a:noFill/>
        </p:spPr>
        <p:txBody>
          <a:bodyPr wrap="square" rtlCol="0">
            <a:spAutoFit/>
          </a:bodyPr>
          <a:lstStyle/>
          <a:p>
            <a:r>
              <a:rPr lang="en-US" altLang="zh-CN" dirty="0"/>
              <a:t>Through these </a:t>
            </a:r>
            <a:r>
              <a:rPr lang="en-US" altLang="zh-CN" dirty="0" err="1"/>
              <a:t>stata</a:t>
            </a:r>
            <a:r>
              <a:rPr lang="en-US" altLang="zh-CN" dirty="0"/>
              <a:t> codes, the four-period values of IRF are obtained</a:t>
            </a:r>
            <a:endParaRPr lang="zh-CN" altLang="en-US" dirty="0"/>
          </a:p>
        </p:txBody>
      </p:sp>
      <p:pic>
        <p:nvPicPr>
          <p:cNvPr id="3" name="图片 2"/>
          <p:cNvPicPr>
            <a:picLocks noChangeAspect="1"/>
          </p:cNvPicPr>
          <p:nvPr/>
        </p:nvPicPr>
        <p:blipFill>
          <a:blip r:embed="rId3"/>
          <a:stretch>
            <a:fillRect/>
          </a:stretch>
        </p:blipFill>
        <p:spPr>
          <a:xfrm>
            <a:off x="5004048" y="1897873"/>
            <a:ext cx="2088232" cy="231865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315" y="228600"/>
            <a:ext cx="8401685" cy="991870"/>
          </a:xfrm>
        </p:spPr>
        <p:txBody>
          <a:bodyPr/>
          <a:lstStyle/>
          <a:p>
            <a:br>
              <a:rPr lang="en-US" altLang="zh-CN" dirty="0"/>
            </a:br>
            <a:r>
              <a:rPr lang="en-US" altLang="zh-CN" dirty="0"/>
              <a:t>Use the model to reproduce the numeric values</a:t>
            </a:r>
            <a:br>
              <a:rPr lang="zh-CN" altLang="zh-CN" dirty="0"/>
            </a:br>
            <a:endParaRPr lang="zh-CN" altLang="en-US" dirty="0"/>
          </a:p>
        </p:txBody>
      </p:sp>
      <p:sp>
        <p:nvSpPr>
          <p:cNvPr id="9" name="文本框 8"/>
          <p:cNvSpPr txBox="1"/>
          <p:nvPr/>
        </p:nvSpPr>
        <p:spPr>
          <a:xfrm>
            <a:off x="539552" y="4763029"/>
            <a:ext cx="7632848" cy="880369"/>
          </a:xfrm>
          <a:prstGeom prst="rect">
            <a:avLst/>
          </a:prstGeom>
          <a:noFill/>
        </p:spPr>
        <p:txBody>
          <a:bodyPr wrap="square">
            <a:spAutoFit/>
          </a:bodyPr>
          <a:lstStyle/>
          <a:p>
            <a:pPr marL="285750" indent="-285750" algn="l">
              <a:lnSpc>
                <a:spcPct val="150000"/>
              </a:lnSpc>
              <a:buFont typeface="Arial" panose="020B0604020202090204" pitchFamily="34" charset="0"/>
              <a:buChar char="•"/>
            </a:pPr>
            <a:r>
              <a:rPr lang="en-US" altLang="zh-CN" sz="1800" kern="100" dirty="0">
                <a:latin typeface="Calibri" panose="020F0502020204030204" pitchFamily="34" charset="0"/>
                <a:ea typeface="MS PGothic" panose="020B0600070205080204" pitchFamily="34" charset="-128"/>
                <a:cs typeface="Times New Roman" panose="02020503050405090304" pitchFamily="18" charset="0"/>
              </a:rPr>
              <a:t>Compared with the IRF result in question b, the results are the same. Therefore, the values of IRF are successfully reproduced through the model</a:t>
            </a:r>
          </a:p>
        </p:txBody>
      </p:sp>
      <p:pic>
        <p:nvPicPr>
          <p:cNvPr id="5" name="图片 4"/>
          <p:cNvPicPr>
            <a:picLocks noChangeAspect="1"/>
          </p:cNvPicPr>
          <p:nvPr/>
        </p:nvPicPr>
        <p:blipFill>
          <a:blip r:embed="rId2"/>
          <a:stretch>
            <a:fillRect/>
          </a:stretch>
        </p:blipFill>
        <p:spPr>
          <a:xfrm>
            <a:off x="3131587" y="836459"/>
            <a:ext cx="2088232" cy="687740"/>
          </a:xfrm>
          <a:prstGeom prst="rect">
            <a:avLst/>
          </a:prstGeom>
        </p:spPr>
      </p:pic>
      <p:pic>
        <p:nvPicPr>
          <p:cNvPr id="4" name="图片 3"/>
          <p:cNvPicPr>
            <a:picLocks noChangeAspect="1"/>
          </p:cNvPicPr>
          <p:nvPr/>
        </p:nvPicPr>
        <p:blipFill>
          <a:blip r:embed="rId3"/>
          <a:stretch>
            <a:fillRect/>
          </a:stretch>
        </p:blipFill>
        <p:spPr>
          <a:xfrm>
            <a:off x="611689" y="1700555"/>
            <a:ext cx="5022912" cy="2748731"/>
          </a:xfrm>
          <a:prstGeom prst="rect">
            <a:avLst/>
          </a:prstGeom>
        </p:spPr>
      </p:pic>
      <p:pic>
        <p:nvPicPr>
          <p:cNvPr id="7" name="图片 6"/>
          <p:cNvPicPr>
            <a:picLocks noChangeAspect="1"/>
          </p:cNvPicPr>
          <p:nvPr/>
        </p:nvPicPr>
        <p:blipFill>
          <a:blip r:embed="rId4"/>
          <a:stretch>
            <a:fillRect/>
          </a:stretch>
        </p:blipFill>
        <p:spPr>
          <a:xfrm>
            <a:off x="5796136" y="1724010"/>
            <a:ext cx="1831886" cy="203402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Reference List</a:t>
            </a:r>
          </a:p>
        </p:txBody>
      </p:sp>
      <p:sp>
        <p:nvSpPr>
          <p:cNvPr id="3" name="Content Placeholder 2"/>
          <p:cNvSpPr>
            <a:spLocks noGrp="1"/>
          </p:cNvSpPr>
          <p:nvPr>
            <p:ph idx="1"/>
          </p:nvPr>
        </p:nvSpPr>
        <p:spPr/>
        <p:txBody>
          <a:bodyPr/>
          <a:lstStyle/>
          <a:p>
            <a:pPr marL="0" indent="0" latinLnBrk="1">
              <a:buNone/>
            </a:pPr>
            <a:r>
              <a:rPr lang="en-US" altLang="zh-CN" sz="1800" dirty="0"/>
              <a:t>Stock, J.H. and Watson, M.W. (2001) ‘Vector Autoregressions’, </a:t>
            </a:r>
            <a:r>
              <a:rPr lang="en-US" altLang="zh-CN" sz="1800" i="1" dirty="0">
                <a:latin typeface="Verdana Italic" panose="020B0804030504040204" charset="0"/>
                <a:cs typeface="Verdana Italic" panose="020B0804030504040204" charset="0"/>
              </a:rPr>
              <a:t>The Journal of Economic Perspectives</a:t>
            </a:r>
            <a:r>
              <a:rPr lang="en-US" altLang="zh-CN" sz="1800" dirty="0"/>
              <a:t>, 15(4), pp. 101–115. Available at: https://elink-xjtlu-edu-cn-s.elink.xjtlu.edu.cn:443/go?url=https://search-ebscohost-com-s.elink.xjtlu.edu.cn:443/login.aspx?direct=true&amp;db=edsjsr&amp;AN=edsjsr.2696519&amp;site=eds-live&amp;scope=site.</a:t>
            </a:r>
          </a:p>
          <a:p>
            <a:pPr marL="0" indent="0" latinLnBrk="1">
              <a:buNone/>
            </a:pPr>
            <a:endParaRPr lang="en-US" altLang="zh-CN" sz="1800" dirty="0"/>
          </a:p>
          <a:p>
            <a:pPr marL="0" indent="0" latinLnBrk="1">
              <a:buNone/>
            </a:pPr>
            <a:r>
              <a:rPr lang="en-US" altLang="zh-CN" sz="1800" dirty="0"/>
              <a:t>Kilian, L. (2001) ‘Impulse Response Analysis in vector Autoregressions with Unknown Lag Order’, </a:t>
            </a:r>
            <a:r>
              <a:rPr lang="en-US" altLang="zh-CN" sz="1800" i="1" dirty="0">
                <a:latin typeface="Verdana Italic" panose="020B0804030504040204" charset="0"/>
                <a:cs typeface="Verdana Italic" panose="020B0804030504040204" charset="0"/>
              </a:rPr>
              <a:t>Journal of Forecasting</a:t>
            </a:r>
            <a:r>
              <a:rPr lang="en-US" altLang="zh-CN" sz="1800" dirty="0"/>
              <a:t>, 20(3), pp. 161–179. doi:10.1002/1099-131X(200104)20:3&lt;161::AID-FOR770&gt;3.0.CO;2-X.</a:t>
            </a:r>
          </a:p>
          <a:p>
            <a:pPr marL="0" indent="0" latinLnBrk="1">
              <a:buNone/>
            </a:pPr>
            <a:endParaRPr lang="en-US" altLang="zh-CN" sz="1800" dirty="0"/>
          </a:p>
          <a:p>
            <a:pPr marL="0" indent="0" latinLnBrk="1">
              <a:buNone/>
            </a:pPr>
            <a:r>
              <a:rPr lang="en-US" altLang="zh-CN" sz="1800" dirty="0"/>
              <a:t>Zivot, E. and Wang, J. (2003) </a:t>
            </a:r>
            <a:r>
              <a:rPr lang="en-US" altLang="zh-CN" sz="1800" i="1" dirty="0">
                <a:latin typeface="Verdana Italic" panose="020B0804030504040204" charset="0"/>
                <a:cs typeface="Verdana Italic" panose="020B0804030504040204" charset="0"/>
              </a:rPr>
              <a:t>Vector Autoregressive Models for Multivariate Time Series</a:t>
            </a:r>
            <a:r>
              <a:rPr lang="en-US" altLang="zh-CN" sz="1800" dirty="0"/>
              <a:t>. New York, NY: Springer New York. doi:10.1007/978-0-387-21763-5_11.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Appendix</a:t>
            </a:r>
            <a:endParaRPr lang="zh-CN" altLang="en-US" dirty="0"/>
          </a:p>
        </p:txBody>
      </p:sp>
      <p:pic>
        <p:nvPicPr>
          <p:cNvPr id="9" name="内容占位符 8"/>
          <p:cNvPicPr>
            <a:picLocks noGrp="1" noChangeAspect="1"/>
          </p:cNvPicPr>
          <p:nvPr>
            <p:ph idx="1"/>
          </p:nvPr>
        </p:nvPicPr>
        <p:blipFill>
          <a:blip r:embed="rId2"/>
          <a:srcRect l="909"/>
          <a:stretch>
            <a:fillRect/>
          </a:stretch>
        </p:blipFill>
        <p:spPr>
          <a:xfrm>
            <a:off x="611560" y="1412776"/>
            <a:ext cx="5688632" cy="4536504"/>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6" name="矩形 5"/>
          <p:cNvSpPr/>
          <p:nvPr/>
        </p:nvSpPr>
        <p:spPr>
          <a:xfrm>
            <a:off x="2411760" y="2895304"/>
            <a:ext cx="3723202" cy="923330"/>
          </a:xfrm>
          <a:prstGeom prst="rect">
            <a:avLst/>
          </a:prstGeom>
          <a:noFill/>
        </p:spPr>
        <p:txBody>
          <a:bodyPr wrap="square" lIns="91440" tIns="45720" rIns="91440" bIns="45720">
            <a:spAutoFit/>
          </a:bodyPr>
          <a:lstStyle/>
          <a:p>
            <a:pPr algn="ctr"/>
            <a:r>
              <a:rPr lang="en-US" altLang="zh-CN" sz="5400" b="1" dirty="0">
                <a:ln w="6600">
                  <a:solidFill>
                    <a:schemeClr val="accent2"/>
                  </a:solidFill>
                  <a:prstDash val="solid"/>
                </a:ln>
                <a:solidFill>
                  <a:schemeClr val="accent2"/>
                </a:solidFill>
                <a:effectLst>
                  <a:outerShdw blurRad="50800" dist="38100" dir="13500000" algn="br" rotWithShape="0">
                    <a:schemeClr val="accent2">
                      <a:alpha val="40000"/>
                    </a:schemeClr>
                  </a:outerShdw>
                </a:effectLst>
              </a:rPr>
              <a:t>Thanks</a:t>
            </a:r>
            <a:endParaRPr lang="zh-CN" altLang="en-US" sz="5400" b="1" cap="none" spc="0" dirty="0">
              <a:ln w="6600">
                <a:solidFill>
                  <a:schemeClr val="accent2"/>
                </a:solidFill>
                <a:prstDash val="solid"/>
              </a:ln>
              <a:solidFill>
                <a:schemeClr val="accent2"/>
              </a:solidFill>
              <a:effectLst>
                <a:outerShdw blurRad="50800" dist="38100" dir="13500000" algn="br" rotWithShape="0">
                  <a:schemeClr val="accent2">
                    <a:alpha val="40000"/>
                  </a:schemeClr>
                </a:outerShdw>
              </a:effectLst>
            </a:endParaRPr>
          </a:p>
        </p:txBody>
      </p:sp>
    </p:spTree>
  </p:cSld>
  <p:clrMapOvr>
    <a:masterClrMapping/>
  </p:clrMapOvr>
</p:sld>
</file>

<file path=ppt/theme/theme1.xml><?xml version="1.0" encoding="utf-8"?>
<a:theme xmlns:a="http://schemas.openxmlformats.org/drawingml/2006/main" name="M01_StockWatson123635_03_Econ_C01">
  <a:themeElements>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01_StockWatson123635_03_Econ_C0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8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804030504040204" pitchFamily="34" charset="0"/>
          </a:defRPr>
        </a:defPPr>
      </a:lstStyle>
    </a:lnDef>
  </a:objectDefaults>
  <a:extraClrSchemeLst>
    <a:extraClrScheme>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01_StockWatson123635_03_Econ_C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01_StockWatson123635_03_Econ_C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01_StockWatson123635_03_Econ_C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01_StockWatson123635_03_Econ_C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01_StockWatson123635_03_Econ_C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01_StockWatson123635_03_Econ_C0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01_StockWatson123635_03_Econ_C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01_StockWatson123635_03_Econ_C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01_StockWatson123635_03_Econ_C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01_StockWatson123635_03_Econ_C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01_StockWatson123635_03_Econ_C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M01_StockWatson123635_03_Econ_C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59</TotalTime>
  <Words>2181</Words>
  <Application>Microsoft Office PowerPoint</Application>
  <PresentationFormat>全屏显示(4:3)</PresentationFormat>
  <Paragraphs>190</Paragraphs>
  <Slides>28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PingFang SC</vt:lpstr>
      <vt:lpstr>Arial</vt:lpstr>
      <vt:lpstr>Berlin Sans FB Demi</vt:lpstr>
      <vt:lpstr>Calibri</vt:lpstr>
      <vt:lpstr>Cambria Math</vt:lpstr>
      <vt:lpstr>Garamond</vt:lpstr>
      <vt:lpstr>Verdana</vt:lpstr>
      <vt:lpstr>Verdana Bold</vt:lpstr>
      <vt:lpstr>Verdana Italic</vt:lpstr>
      <vt:lpstr>Wingdings</vt:lpstr>
      <vt:lpstr>M01_StockWatson123635_03_Econ_C01</vt:lpstr>
      <vt:lpstr>PowerPoint 演示文稿</vt:lpstr>
      <vt:lpstr>Presentation Content </vt:lpstr>
      <vt:lpstr>The definition of IRF.</vt:lpstr>
      <vt:lpstr>The definition of IRF.</vt:lpstr>
      <vt:lpstr>Interpretation of the IRF</vt:lpstr>
      <vt:lpstr>Interpretation of the IRF</vt:lpstr>
      <vt:lpstr>Interpretation of the IRF</vt:lpstr>
      <vt:lpstr>Interpretation of the IRF</vt:lpstr>
      <vt:lpstr>Stata implementation</vt:lpstr>
      <vt:lpstr>Step 1: Calculating GDP Growth Rate and Stock Price Growth Rate:</vt:lpstr>
      <vt:lpstr>Step 2: Estimating VAR(1) Model</vt:lpstr>
      <vt:lpstr>Step 3: Generating the Impulse Response Function (IRF)</vt:lpstr>
      <vt:lpstr>Table:</vt:lpstr>
      <vt:lpstr>Final function</vt:lpstr>
      <vt:lpstr>Final function</vt:lpstr>
      <vt:lpstr>Plot the IRF function</vt:lpstr>
      <vt:lpstr>Plot the IRF function</vt:lpstr>
      <vt:lpstr>Plot the IRF function</vt:lpstr>
      <vt:lpstr>Plot the IRF function</vt:lpstr>
      <vt:lpstr>Plot the IRF function</vt:lpstr>
      <vt:lpstr> The Numeric Values of the IRF Function </vt:lpstr>
      <vt:lpstr> The Numeric Values of the IRF Function </vt:lpstr>
      <vt:lpstr> Use the model to reproduce the numeric values </vt:lpstr>
      <vt:lpstr> Use the model to reproduce the numeric values </vt:lpstr>
      <vt:lpstr> Use the model to reproduce the numeric values </vt:lpstr>
      <vt:lpstr>Reference List</vt:lpstr>
      <vt:lpstr>Appendix</vt:lpstr>
      <vt:lpstr>PowerPoint 演示文稿</vt:lpstr>
    </vt:vector>
  </TitlesOfParts>
  <Company>Stephanie Lindsey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Econometrics</dc:title>
  <dc:subject>Multinational Business Finance</dc:subject>
  <dc:creator>Stephanie Lindsey</dc:creator>
  <cp:lastModifiedBy>Swell Cyan</cp:lastModifiedBy>
  <cp:revision>426</cp:revision>
  <cp:lastPrinted>2025-04-27T06:30:48Z</cp:lastPrinted>
  <dcterms:created xsi:type="dcterms:W3CDTF">2025-04-27T06:30:48Z</dcterms:created>
  <dcterms:modified xsi:type="dcterms:W3CDTF">2025-04-27T07:33:41Z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AC2A0553F48AF6967CDC096819666D5F_43</vt:lpwstr>
  </property>
  <property fmtid="{D5CDD505-2E9C-101B-9397-08002B2CF9AE}" pid="3" name="KSOProductBuildVer">
    <vt:lpwstr>2052-7.3.1.8967</vt:lpwstr>
  </property>
</Properties>
</file>